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1.png"/><Relationship Id="rId4" Type="http://schemas.openxmlformats.org/officeDocument/2006/relationships/image" Target="../media/image-16-2.svg"/><Relationship Id="rId5" Type="http://schemas.openxmlformats.org/officeDocument/2006/relationships/image" Target="../media/image-16-1.png"/><Relationship Id="rId6" Type="http://schemas.openxmlformats.org/officeDocument/2006/relationships/image" Target="../media/image-16-2.svg"/><Relationship Id="rId7" Type="http://schemas.openxmlformats.org/officeDocument/2006/relationships/image" Target="../media/image-16-1.png"/><Relationship Id="rId8" Type="http://schemas.openxmlformats.org/officeDocument/2006/relationships/image" Target="../media/image-16-2.sv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jpe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svg"/><Relationship Id="rId4" Type="http://schemas.openxmlformats.org/officeDocument/2006/relationships/image" Target="../media/image-19-4.png"/><Relationship Id="rId5" Type="http://schemas.openxmlformats.org/officeDocument/2006/relationships/image" Target="../media/image-19-5.svg"/><Relationship Id="rId6" Type="http://schemas.openxmlformats.org/officeDocument/2006/relationships/image" Target="../media/image-19-6.png"/><Relationship Id="rId7" Type="http://schemas.openxmlformats.org/officeDocument/2006/relationships/image" Target="../media/image-19-7.svg"/><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1.png"/><Relationship Id="rId6" Type="http://schemas.openxmlformats.org/officeDocument/2006/relationships/image" Target="../media/image-21-2.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image" Target="../media/image-21-1.png"/><Relationship Id="rId10" Type="http://schemas.openxmlformats.org/officeDocument/2006/relationships/image" Target="../media/image-21-2.svg"/><Relationship Id="rId11" Type="http://schemas.openxmlformats.org/officeDocument/2006/relationships/image" Target="../media/image-21-11.png"/><Relationship Id="rId12" Type="http://schemas.openxmlformats.org/officeDocument/2006/relationships/image" Target="../media/image-21-12.svg"/><Relationship Id="rId13" Type="http://schemas.openxmlformats.org/officeDocument/2006/relationships/image" Target="../media/image-21-1.png"/><Relationship Id="rId14" Type="http://schemas.openxmlformats.org/officeDocument/2006/relationships/image" Target="../media/image-21-2.svg"/><Relationship Id="rId15" Type="http://schemas.openxmlformats.org/officeDocument/2006/relationships/image" Target="../media/image-21-15.png"/><Relationship Id="rId16" Type="http://schemas.openxmlformats.org/officeDocument/2006/relationships/image" Target="../media/image-21-16.svg"/><Relationship Id="rId17" Type="http://schemas.openxmlformats.org/officeDocument/2006/relationships/slideLayout" Target="../slideLayouts/slideLayout2.xml"/><Relationship Id="rId18"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13297"/>
            <a:ext cx="6296860" cy="590649"/>
          </a:xfrm>
          <a:prstGeom prst="rect">
            <a:avLst/>
          </a:prstGeom>
          <a:noFill/>
          <a:ln/>
        </p:spPr>
        <p:txBody>
          <a:bodyPr wrap="none" lIns="0" tIns="0" rIns="0" bIns="0" rtlCol="0" anchor="t"/>
          <a:lstStyle/>
          <a:p>
            <a:pPr algn="l" indent="0" marL="0">
              <a:lnSpc>
                <a:spcPct val="104000"/>
              </a:lnSpc>
              <a:buNone/>
            </a:pPr>
            <a:r>
              <a:rPr lang="en-US" sz="3700" b="1" spc="-112" kern="0" dirty="0">
                <a:solidFill>
                  <a:srgbClr val="000000"/>
                </a:solidFill>
                <a:latin typeface="Inter Bold" pitchFamily="34" charset="0"/>
                <a:ea typeface="Inter Bold" pitchFamily="34" charset="-122"/>
                <a:cs typeface="Inter Bold" pitchFamily="34" charset="-120"/>
              </a:rPr>
              <a:t>SHIVI X100+</a:t>
            </a:r>
            <a:endParaRPr lang="en-US" sz="3700" dirty="0"/>
          </a:p>
        </p:txBody>
      </p:sp>
      <p:sp>
        <p:nvSpPr>
          <p:cNvPr id="4" name="Text 1"/>
          <p:cNvSpPr/>
          <p:nvPr/>
        </p:nvSpPr>
        <p:spPr>
          <a:xfrm>
            <a:off x="661475" y="2279551"/>
            <a:ext cx="6296860" cy="590550"/>
          </a:xfrm>
          <a:prstGeom prst="rect">
            <a:avLst/>
          </a:prstGeom>
          <a:noFill/>
          <a:ln/>
        </p:spPr>
        <p:txBody>
          <a:bodyPr wrap="square" lIns="0" tIns="0" rIns="0" bIns="0" rtlCol="0" anchor="t">
            <a:normAutofit/>
          </a:bodyPr>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Research-Grade · Production-Grade · AI-Native Enterprise Operating Platform</a:t>
            </a:r>
            <a:endParaRPr lang="en-US" sz="1850" dirty="0"/>
          </a:p>
        </p:txBody>
      </p:sp>
      <p:sp>
        <p:nvSpPr>
          <p:cNvPr id="5" name="Text 2"/>
          <p:cNvSpPr/>
          <p:nvPr/>
        </p:nvSpPr>
        <p:spPr>
          <a:xfrm>
            <a:off x="661475" y="3153569"/>
            <a:ext cx="6296860" cy="1209675"/>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A unified ecosystem combining a shared kernel and platform fabrics with 100 production and research systems — purpose-built for the autonomous enterprise. Not 100 disconnected applications. One operating platform.</a:t>
            </a:r>
            <a:endParaRPr lang="en-US" sz="1450" dirty="0"/>
          </a:p>
        </p:txBody>
      </p:sp>
      <p:sp>
        <p:nvSpPr>
          <p:cNvPr id="6" name="Shape 3"/>
          <p:cNvSpPr/>
          <p:nvPr/>
        </p:nvSpPr>
        <p:spPr>
          <a:xfrm>
            <a:off x="661475" y="4575870"/>
            <a:ext cx="1946425" cy="287139"/>
          </a:xfrm>
          <a:prstGeom prst="roundRect">
            <a:avLst>
              <a:gd name="adj" fmla="val 22118"/>
            </a:avLst>
          </a:prstGeom>
          <a:noFill/>
          <a:ln w="6350">
            <a:solidFill>
              <a:srgbClr val="4950BC"/>
            </a:solidFill>
            <a:prstDash val="solid"/>
          </a:ln>
        </p:spPr>
      </p:sp>
      <p:sp>
        <p:nvSpPr>
          <p:cNvPr id="7" name="Text 4"/>
          <p:cNvSpPr/>
          <p:nvPr/>
        </p:nvSpPr>
        <p:spPr>
          <a:xfrm>
            <a:off x="774879" y="4632523"/>
            <a:ext cx="2329201" cy="173831"/>
          </a:xfrm>
          <a:prstGeom prst="rect">
            <a:avLst/>
          </a:prstGeom>
          <a:noFill/>
          <a:ln/>
        </p:spPr>
        <p:txBody>
          <a:bodyPr wrap="none" lIns="0" tIns="0" rIns="0" bIns="0" rtlCol="0" anchor="t"/>
          <a:lstStyle/>
          <a:p>
            <a:pPr algn="l" indent="0" marL="0">
              <a:lnSpc>
                <a:spcPct val="96000"/>
              </a:lnSpc>
              <a:buNone/>
            </a:pPr>
            <a:r>
              <a:rPr lang="en-US" sz="1150" spc="-30" kern="0" dirty="0">
                <a:solidFill>
                  <a:srgbClr val="4950BC"/>
                </a:solidFill>
                <a:latin typeface="Inter" pitchFamily="34" charset="0"/>
                <a:ea typeface="Inter" pitchFamily="34" charset="-122"/>
                <a:cs typeface="Inter" pitchFamily="34" charset="-120"/>
              </a:rPr>
              <a:t>TARGET ARCHITECTURE</a:t>
            </a:r>
            <a:endParaRPr lang="en-US" sz="1150" dirty="0"/>
          </a:p>
        </p:txBody>
      </p:sp>
      <p:sp>
        <p:nvSpPr>
          <p:cNvPr id="8" name="Shape 5"/>
          <p:cNvSpPr/>
          <p:nvPr/>
        </p:nvSpPr>
        <p:spPr>
          <a:xfrm>
            <a:off x="2702353" y="4575870"/>
            <a:ext cx="2725471" cy="287139"/>
          </a:xfrm>
          <a:prstGeom prst="roundRect">
            <a:avLst>
              <a:gd name="adj" fmla="val 22118"/>
            </a:avLst>
          </a:prstGeom>
          <a:noFill/>
          <a:ln w="6350">
            <a:solidFill>
              <a:srgbClr val="4950BC"/>
            </a:solidFill>
            <a:prstDash val="solid"/>
          </a:ln>
        </p:spPr>
      </p:sp>
      <p:sp>
        <p:nvSpPr>
          <p:cNvPr id="9" name="Text 6"/>
          <p:cNvSpPr/>
          <p:nvPr/>
        </p:nvSpPr>
        <p:spPr>
          <a:xfrm>
            <a:off x="2815758" y="4632523"/>
            <a:ext cx="3108247" cy="173831"/>
          </a:xfrm>
          <a:prstGeom prst="rect">
            <a:avLst/>
          </a:prstGeom>
          <a:noFill/>
          <a:ln/>
        </p:spPr>
        <p:txBody>
          <a:bodyPr wrap="none" lIns="0" tIns="0" rIns="0" bIns="0" rtlCol="0" anchor="t"/>
          <a:lstStyle/>
          <a:p>
            <a:pPr algn="l" indent="0" marL="0">
              <a:lnSpc>
                <a:spcPct val="96000"/>
              </a:lnSpc>
              <a:buNone/>
            </a:pPr>
            <a:r>
              <a:rPr lang="en-US" sz="1150" spc="-30" kern="0" dirty="0">
                <a:solidFill>
                  <a:srgbClr val="4950BC"/>
                </a:solidFill>
                <a:latin typeface="Inter" pitchFamily="34" charset="0"/>
                <a:ea typeface="Inter" pitchFamily="34" charset="-122"/>
                <a:cs typeface="Inter" pitchFamily="34" charset="-120"/>
              </a:rPr>
              <a:t>EXECUTIVE &amp; TECHNICAL BRIEFING</a:t>
            </a:r>
            <a:endParaRPr lang="en-US" sz="1150" dirty="0"/>
          </a:p>
        </p:txBody>
      </p:sp>
      <p:sp>
        <p:nvSpPr>
          <p:cNvPr id="10" name="Shape 7"/>
          <p:cNvSpPr/>
          <p:nvPr/>
        </p:nvSpPr>
        <p:spPr>
          <a:xfrm>
            <a:off x="661475" y="4957465"/>
            <a:ext cx="2884217" cy="287139"/>
          </a:xfrm>
          <a:prstGeom prst="roundRect">
            <a:avLst>
              <a:gd name="adj" fmla="val 22118"/>
            </a:avLst>
          </a:prstGeom>
          <a:noFill/>
          <a:ln w="6350">
            <a:solidFill>
              <a:srgbClr val="4950BC"/>
            </a:solidFill>
            <a:prstDash val="solid"/>
          </a:ln>
        </p:spPr>
      </p:sp>
      <p:sp>
        <p:nvSpPr>
          <p:cNvPr id="11" name="Text 8"/>
          <p:cNvSpPr/>
          <p:nvPr/>
        </p:nvSpPr>
        <p:spPr>
          <a:xfrm>
            <a:off x="774879" y="5014119"/>
            <a:ext cx="3266993" cy="173831"/>
          </a:xfrm>
          <a:prstGeom prst="rect">
            <a:avLst/>
          </a:prstGeom>
          <a:noFill/>
          <a:ln/>
        </p:spPr>
        <p:txBody>
          <a:bodyPr wrap="none" lIns="0" tIns="0" rIns="0" bIns="0" rtlCol="0" anchor="t"/>
          <a:lstStyle/>
          <a:p>
            <a:pPr algn="l" indent="0" marL="0">
              <a:lnSpc>
                <a:spcPct val="96000"/>
              </a:lnSpc>
              <a:buNone/>
            </a:pPr>
            <a:r>
              <a:rPr lang="en-US" sz="1150" spc="-30" kern="0" dirty="0">
                <a:solidFill>
                  <a:srgbClr val="4950BC"/>
                </a:solidFill>
                <a:latin typeface="Inter" pitchFamily="34" charset="0"/>
                <a:ea typeface="Inter" pitchFamily="34" charset="-122"/>
                <a:cs typeface="Inter" pitchFamily="34" charset="-120"/>
              </a:rPr>
              <a:t>FOUNDERS · ENGINEERS · INVESTORS</a:t>
            </a:r>
            <a:endParaRPr lang="en-US" sz="1150" dirty="0"/>
          </a:p>
        </p:txBody>
      </p:sp>
      <p:sp>
        <p:nvSpPr>
          <p:cNvPr id="12" name="Shape 9"/>
          <p:cNvSpPr/>
          <p:nvPr/>
        </p:nvSpPr>
        <p:spPr>
          <a:xfrm>
            <a:off x="3640146" y="4957465"/>
            <a:ext cx="226808" cy="287139"/>
          </a:xfrm>
          <a:prstGeom prst="roundRect">
            <a:avLst>
              <a:gd name="adj" fmla="val 28002"/>
            </a:avLst>
          </a:prstGeom>
          <a:noFill/>
          <a:ln w="6350">
            <a:solidFill>
              <a:srgbClr val="4950B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802580"/>
            <a:ext cx="10868745" cy="1004094"/>
          </a:xfrm>
          <a:prstGeom prst="rect">
            <a:avLst/>
          </a:prstGeom>
          <a:noFill/>
          <a:ln/>
        </p:spPr>
        <p:txBody>
          <a:bodyPr wrap="square" lIns="0" tIns="0" rIns="0" bIns="0" rtlCol="0" anchor="t">
            <a:normAutofit/>
          </a:bodyPr>
          <a:lstStyle/>
          <a:p>
            <a:pPr algn="l" indent="0" marL="0">
              <a:lnSpc>
                <a:spcPct val="104000"/>
              </a:lnSpc>
              <a:buNone/>
            </a:pPr>
            <a:r>
              <a:rPr lang="en-US" sz="3150" b="1" spc="-95" kern="0" dirty="0">
                <a:solidFill>
                  <a:srgbClr val="000000"/>
                </a:solidFill>
                <a:latin typeface="Inter Bold" pitchFamily="34" charset="0"/>
                <a:ea typeface="Inter Bold" pitchFamily="34" charset="-122"/>
                <a:cs typeface="Inter Bold" pitchFamily="34" charset="-120"/>
              </a:rPr>
              <a:t>The Problem: The Enterprise is Drowning in Disconnected Intelligence</a:t>
            </a:r>
            <a:endParaRPr lang="en-US" sz="3150" dirty="0"/>
          </a:p>
        </p:txBody>
      </p:sp>
      <p:sp>
        <p:nvSpPr>
          <p:cNvPr id="3" name="Text 1"/>
          <p:cNvSpPr/>
          <p:nvPr/>
        </p:nvSpPr>
        <p:spPr>
          <a:xfrm>
            <a:off x="661475" y="2147987"/>
            <a:ext cx="5238421"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000000"/>
                </a:solidFill>
                <a:latin typeface="Inter Bold" pitchFamily="34" charset="0"/>
                <a:ea typeface="Inter Bold" pitchFamily="34" charset="-122"/>
                <a:cs typeface="Inter Bold" pitchFamily="34" charset="-120"/>
              </a:rPr>
              <a:t>The Status Quo Is Broken</a:t>
            </a:r>
            <a:endParaRPr lang="en-US" sz="1550" dirty="0"/>
          </a:p>
        </p:txBody>
      </p:sp>
      <p:sp>
        <p:nvSpPr>
          <p:cNvPr id="4" name="Text 2"/>
          <p:cNvSpPr/>
          <p:nvPr/>
        </p:nvSpPr>
        <p:spPr>
          <a:xfrm>
            <a:off x="661475" y="2535535"/>
            <a:ext cx="5238421" cy="2500114"/>
          </a:xfrm>
          <a:prstGeom prst="rect">
            <a:avLst/>
          </a:prstGeom>
          <a:noFill/>
          <a:ln/>
        </p:spPr>
        <p:txBody>
          <a:bodyPr wrap="square" lIns="0" tIns="0" rIns="0" bIns="0" rtlCol="0" anchor="t">
            <a:normAutofit/>
          </a:bodyPr>
          <a:lstStyle/>
          <a:p>
            <a:pPr algn="l" indent="0" marL="0">
              <a:lnSpc>
                <a:spcPct val="123000"/>
              </a:lnSpc>
              <a:spcAft>
                <a:spcPts val="950"/>
              </a:spcAft>
              <a:buNone/>
            </a:pPr>
            <a:r>
              <a:rPr lang="en-US" sz="1250" spc="-25" kern="0" dirty="0">
                <a:solidFill>
                  <a:srgbClr val="272525"/>
                </a:solidFill>
                <a:latin typeface="Inter" pitchFamily="34" charset="0"/>
                <a:ea typeface="Inter" pitchFamily="34" charset="-122"/>
                <a:cs typeface="Inter" pitchFamily="34" charset="-120"/>
              </a:rPr>
              <a:t>Modern enterprises run on a patchwork of SaaS tools, point solutions, and bespoke integrations — each generating data, each requiring separate identity models, each with its own authorization logic, observability story, and operational overhead. The result is an AI deployment landscape that is fragmented by design.</a:t>
            </a:r>
            <a:endParaRPr lang="en-US" sz="1250" dirty="0"/>
          </a:p>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AI copilots are bolted onto existing applications without shared memory, shared context, or shared policy. Agents cannot trust one another. Tools cannot be governed at runtime. Models propose actions with no platform-level authorization layer to verify intent, validate outputs, or capture evidence.</a:t>
            </a:r>
            <a:endParaRPr lang="en-US" sz="1250" dirty="0"/>
          </a:p>
        </p:txBody>
      </p:sp>
      <p:sp>
        <p:nvSpPr>
          <p:cNvPr id="5" name="Shape 3"/>
          <p:cNvSpPr/>
          <p:nvPr/>
        </p:nvSpPr>
        <p:spPr>
          <a:xfrm>
            <a:off x="6298149" y="2165052"/>
            <a:ext cx="2550949" cy="1434703"/>
          </a:xfrm>
          <a:prstGeom prst="roundRect">
            <a:avLst>
              <a:gd name="adj" fmla="val 4703"/>
            </a:avLst>
          </a:prstGeom>
          <a:solidFill>
            <a:srgbClr val="DADBF1"/>
          </a:solidFill>
          <a:ln w="6350">
            <a:solidFill>
              <a:srgbClr val="C0C1D7"/>
            </a:solidFill>
            <a:prstDash val="solid"/>
          </a:ln>
        </p:spPr>
      </p:sp>
      <p:sp>
        <p:nvSpPr>
          <p:cNvPr id="6" name="Text 4"/>
          <p:cNvSpPr/>
          <p:nvPr/>
        </p:nvSpPr>
        <p:spPr>
          <a:xfrm>
            <a:off x="6465130" y="2332037"/>
            <a:ext cx="2216988"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Identity Fragmentation</a:t>
            </a:r>
            <a:endParaRPr lang="en-US" sz="1550" dirty="0"/>
          </a:p>
        </p:txBody>
      </p:sp>
      <p:sp>
        <p:nvSpPr>
          <p:cNvPr id="7" name="Text 5"/>
          <p:cNvSpPr/>
          <p:nvPr/>
        </p:nvSpPr>
        <p:spPr>
          <a:xfrm>
            <a:off x="6465130" y="2719586"/>
            <a:ext cx="2216988" cy="713184"/>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No unified identity primitive across agents, users, tools, and tenants</a:t>
            </a:r>
            <a:endParaRPr lang="en-US" sz="1250" dirty="0"/>
          </a:p>
        </p:txBody>
      </p:sp>
      <p:sp>
        <p:nvSpPr>
          <p:cNvPr id="8" name="Shape 6"/>
          <p:cNvSpPr/>
          <p:nvPr/>
        </p:nvSpPr>
        <p:spPr>
          <a:xfrm>
            <a:off x="8985621" y="2165052"/>
            <a:ext cx="2550949" cy="1434703"/>
          </a:xfrm>
          <a:prstGeom prst="roundRect">
            <a:avLst>
              <a:gd name="adj" fmla="val 4703"/>
            </a:avLst>
          </a:prstGeom>
          <a:solidFill>
            <a:srgbClr val="DADBF1"/>
          </a:solidFill>
          <a:ln w="6350">
            <a:solidFill>
              <a:srgbClr val="C0C1D7"/>
            </a:solidFill>
            <a:prstDash val="solid"/>
          </a:ln>
        </p:spPr>
      </p:sp>
      <p:sp>
        <p:nvSpPr>
          <p:cNvPr id="9" name="Text 7"/>
          <p:cNvSpPr/>
          <p:nvPr/>
        </p:nvSpPr>
        <p:spPr>
          <a:xfrm>
            <a:off x="9152601" y="2332037"/>
            <a:ext cx="2216988"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Policy Blindness</a:t>
            </a:r>
            <a:endParaRPr lang="en-US" sz="1550" dirty="0"/>
          </a:p>
        </p:txBody>
      </p:sp>
      <p:sp>
        <p:nvSpPr>
          <p:cNvPr id="10" name="Text 8"/>
          <p:cNvSpPr/>
          <p:nvPr/>
        </p:nvSpPr>
        <p:spPr>
          <a:xfrm>
            <a:off x="9152601" y="2719586"/>
            <a:ext cx="2216988" cy="713184"/>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No runtime authorization layer; agents act with unconstrained delegation</a:t>
            </a:r>
            <a:endParaRPr lang="en-US" sz="1250" dirty="0"/>
          </a:p>
        </p:txBody>
      </p:sp>
      <p:sp>
        <p:nvSpPr>
          <p:cNvPr id="11" name="Shape 9"/>
          <p:cNvSpPr/>
          <p:nvPr/>
        </p:nvSpPr>
        <p:spPr>
          <a:xfrm>
            <a:off x="6298149" y="3736280"/>
            <a:ext cx="2550949" cy="1434703"/>
          </a:xfrm>
          <a:prstGeom prst="roundRect">
            <a:avLst>
              <a:gd name="adj" fmla="val 4703"/>
            </a:avLst>
          </a:prstGeom>
          <a:solidFill>
            <a:srgbClr val="DADBF1"/>
          </a:solidFill>
          <a:ln w="6350">
            <a:solidFill>
              <a:srgbClr val="C0C1D7"/>
            </a:solidFill>
            <a:prstDash val="solid"/>
          </a:ln>
        </p:spPr>
      </p:sp>
      <p:sp>
        <p:nvSpPr>
          <p:cNvPr id="12" name="Text 10"/>
          <p:cNvSpPr/>
          <p:nvPr/>
        </p:nvSpPr>
        <p:spPr>
          <a:xfrm>
            <a:off x="6465130" y="3903266"/>
            <a:ext cx="2216988"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Context Amnesia</a:t>
            </a:r>
            <a:endParaRPr lang="en-US" sz="1550" dirty="0"/>
          </a:p>
        </p:txBody>
      </p:sp>
      <p:sp>
        <p:nvSpPr>
          <p:cNvPr id="13" name="Text 11"/>
          <p:cNvSpPr/>
          <p:nvPr/>
        </p:nvSpPr>
        <p:spPr>
          <a:xfrm>
            <a:off x="6465130" y="4290814"/>
            <a:ext cx="2216988" cy="713184"/>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No shared context, memory, or knowledge plane across systems</a:t>
            </a:r>
            <a:endParaRPr lang="en-US" sz="1250" dirty="0"/>
          </a:p>
        </p:txBody>
      </p:sp>
      <p:sp>
        <p:nvSpPr>
          <p:cNvPr id="14" name="Shape 12"/>
          <p:cNvSpPr/>
          <p:nvPr/>
        </p:nvSpPr>
        <p:spPr>
          <a:xfrm>
            <a:off x="8985621" y="3736280"/>
            <a:ext cx="2550949" cy="1434703"/>
          </a:xfrm>
          <a:prstGeom prst="roundRect">
            <a:avLst>
              <a:gd name="adj" fmla="val 4703"/>
            </a:avLst>
          </a:prstGeom>
          <a:solidFill>
            <a:srgbClr val="DADBF1"/>
          </a:solidFill>
          <a:ln w="6350">
            <a:solidFill>
              <a:srgbClr val="C0C1D7"/>
            </a:solidFill>
            <a:prstDash val="solid"/>
          </a:ln>
        </p:spPr>
      </p:sp>
      <p:sp>
        <p:nvSpPr>
          <p:cNvPr id="15" name="Text 13"/>
          <p:cNvSpPr/>
          <p:nvPr/>
        </p:nvSpPr>
        <p:spPr>
          <a:xfrm>
            <a:off x="9152601" y="3903266"/>
            <a:ext cx="2216988"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Evidence Vacuum</a:t>
            </a:r>
            <a:endParaRPr lang="en-US" sz="1550" dirty="0"/>
          </a:p>
        </p:txBody>
      </p:sp>
      <p:sp>
        <p:nvSpPr>
          <p:cNvPr id="16" name="Text 14"/>
          <p:cNvSpPr/>
          <p:nvPr/>
        </p:nvSpPr>
        <p:spPr>
          <a:xfrm>
            <a:off x="9152601" y="4290814"/>
            <a:ext cx="2216988" cy="713184"/>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No provenance, audit trail, or outcome traceability across AI actions</a:t>
            </a:r>
            <a:endParaRPr lang="en-US" sz="1250" dirty="0"/>
          </a:p>
        </p:txBody>
      </p:sp>
      <p:sp>
        <p:nvSpPr>
          <p:cNvPr id="17" name="Shape 15"/>
          <p:cNvSpPr/>
          <p:nvPr/>
        </p:nvSpPr>
        <p:spPr>
          <a:xfrm>
            <a:off x="661475" y="5478165"/>
            <a:ext cx="10868745" cy="577255"/>
          </a:xfrm>
          <a:prstGeom prst="roundRect">
            <a:avLst>
              <a:gd name="adj" fmla="val 11690"/>
            </a:avLst>
          </a:prstGeom>
          <a:solidFill>
            <a:srgbClr val="FCF2B5"/>
          </a:solidFill>
          <a:ln/>
        </p:spPr>
      </p:sp>
      <p:pic>
        <p:nvPicPr>
          <p:cNvPr id="18" name="Image 0" descr="preencoded.png">    </p:cNvPr>
          <p:cNvPicPr>
            <a:picLocks noChangeAspect="1"/>
          </p:cNvPicPr>
          <p:nvPr/>
        </p:nvPicPr>
        <p:blipFill>
          <a:blip r:embed="rId1"/>
          <a:stretch>
            <a:fillRect/>
          </a:stretch>
        </p:blipFill>
        <p:spPr>
          <a:xfrm>
            <a:off x="822106" y="5672931"/>
            <a:ext cx="200814" cy="160635"/>
          </a:xfrm>
          <a:prstGeom prst="rect">
            <a:avLst/>
          </a:prstGeom>
        </p:spPr>
      </p:pic>
      <p:sp>
        <p:nvSpPr>
          <p:cNvPr id="19" name="Text 16"/>
          <p:cNvSpPr/>
          <p:nvPr/>
        </p:nvSpPr>
        <p:spPr>
          <a:xfrm>
            <a:off x="1183551" y="5654774"/>
            <a:ext cx="10795623" cy="237728"/>
          </a:xfrm>
          <a:prstGeom prst="rect">
            <a:avLst/>
          </a:prstGeom>
          <a:noFill/>
          <a:ln/>
        </p:spPr>
        <p:txBody>
          <a:bodyPr wrap="none" lIns="0" tIns="0" rIns="0" bIns="0" rtlCol="0" anchor="t"/>
          <a:lstStyle/>
          <a:p>
            <a:pPr algn="l" indent="0" marL="0">
              <a:lnSpc>
                <a:spcPct val="123000"/>
              </a:lnSpc>
              <a:buNone/>
            </a:pPr>
            <a:r>
              <a:rPr lang="en-US" sz="1250" spc="-25" kern="0" dirty="0">
                <a:solidFill>
                  <a:srgbClr val="000000"/>
                </a:solidFill>
                <a:latin typeface="Inter" pitchFamily="34" charset="0"/>
                <a:ea typeface="Inter" pitchFamily="34" charset="-122"/>
                <a:cs typeface="Inter" pitchFamily="34" charset="-120"/>
              </a:rPr>
              <a:t>The enterprise AI gap is not a model quality problem. It is a platform problem. ShiVi is the platform.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38857"/>
            <a:ext cx="10868745" cy="335955"/>
          </a:xfrm>
          <a:prstGeom prst="rect">
            <a:avLst/>
          </a:prstGeom>
          <a:noFill/>
          <a:ln/>
        </p:spPr>
        <p:txBody>
          <a:bodyPr wrap="none" lIns="0" tIns="0" rIns="0" bIns="0" rtlCol="0" anchor="t"/>
          <a:lstStyle/>
          <a:p>
            <a:pPr algn="l" indent="0" marL="0">
              <a:lnSpc>
                <a:spcPct val="104000"/>
              </a:lnSpc>
              <a:buNone/>
            </a:pPr>
            <a:r>
              <a:rPr lang="en-US" sz="2100" b="1" spc="-63" kern="0" dirty="0">
                <a:solidFill>
                  <a:srgbClr val="000000"/>
                </a:solidFill>
                <a:latin typeface="Inter Bold" pitchFamily="34" charset="0"/>
                <a:ea typeface="Inter Bold" pitchFamily="34" charset="-122"/>
                <a:cs typeface="Inter Bold" pitchFamily="34" charset="-120"/>
              </a:rPr>
              <a:t>The ShiVi Thesis: One Kernel. One Platform. 100 Systems.</a:t>
            </a:r>
            <a:endParaRPr lang="en-US" sz="2100" dirty="0"/>
          </a:p>
        </p:txBody>
      </p:sp>
      <p:sp>
        <p:nvSpPr>
          <p:cNvPr id="3" name="Text 1"/>
          <p:cNvSpPr/>
          <p:nvPr/>
        </p:nvSpPr>
        <p:spPr>
          <a:xfrm>
            <a:off x="661475" y="997049"/>
            <a:ext cx="10868745" cy="269875"/>
          </a:xfrm>
          <a:prstGeom prst="rect">
            <a:avLst/>
          </a:prstGeom>
          <a:noFill/>
          <a:ln/>
        </p:spPr>
        <p:txBody>
          <a:bodyPr wrap="square" lIns="0" tIns="0" rIns="0" bIns="0" rtlCol="0" anchor="t">
            <a:normAutofit/>
          </a:bodyPr>
          <a:lstStyle/>
          <a:p>
            <a:pPr algn="l" indent="0" marL="0">
              <a:lnSpc>
                <a:spcPct val="105000"/>
              </a:lnSpc>
              <a:buNone/>
            </a:pPr>
            <a:r>
              <a:rPr lang="en-US" sz="800" spc="-17" kern="0" dirty="0">
                <a:solidFill>
                  <a:srgbClr val="272525"/>
                </a:solidFill>
                <a:latin typeface="Inter" pitchFamily="34" charset="0"/>
                <a:ea typeface="Inter" pitchFamily="34" charset="-122"/>
                <a:cs typeface="Inter" pitchFamily="34" charset="-120"/>
              </a:rPr>
              <a:t>ShiVi is not a suite of AI features added to enterprise software. It is a ground-up re-architecture of how enterprise operating platforms are built — with AI, agents, and autonomous workflows as first-class kernel primitives from day one.</a:t>
            </a:r>
            <a:endParaRPr lang="en-US" sz="800" dirty="0"/>
          </a:p>
        </p:txBody>
      </p:sp>
      <p:pic>
        <p:nvPicPr>
          <p:cNvPr id="4" name="Image 0" descr="preencoded.png">    </p:cNvPr>
          <p:cNvPicPr>
            <a:picLocks noChangeAspect="1"/>
          </p:cNvPicPr>
          <p:nvPr/>
        </p:nvPicPr>
        <p:blipFill>
          <a:blip r:embed="rId1"/>
          <a:stretch>
            <a:fillRect/>
          </a:stretch>
        </p:blipFill>
        <p:spPr>
          <a:xfrm>
            <a:off x="661475" y="1335683"/>
            <a:ext cx="3622882" cy="430014"/>
          </a:xfrm>
          <a:prstGeom prst="rect">
            <a:avLst/>
          </a:prstGeom>
        </p:spPr>
      </p:pic>
      <p:sp>
        <p:nvSpPr>
          <p:cNvPr id="5" name="Text 2"/>
          <p:cNvSpPr/>
          <p:nvPr/>
        </p:nvSpPr>
        <p:spPr>
          <a:xfrm>
            <a:off x="768926" y="1826816"/>
            <a:ext cx="3407980" cy="167878"/>
          </a:xfrm>
          <a:prstGeom prst="rect">
            <a:avLst/>
          </a:prstGeom>
          <a:noFill/>
          <a:ln/>
        </p:spPr>
        <p:txBody>
          <a:bodyPr wrap="none" lIns="0" tIns="0" rIns="0" bIns="0" rtlCol="0" anchor="t"/>
          <a:lstStyle/>
          <a:p>
            <a:pPr algn="l" indent="0" marL="0">
              <a:lnSpc>
                <a:spcPct val="104000"/>
              </a:lnSpc>
              <a:buNone/>
            </a:pPr>
            <a:r>
              <a:rPr lang="en-US" sz="1050" b="1" spc="-32" kern="0" dirty="0">
                <a:solidFill>
                  <a:srgbClr val="272525"/>
                </a:solidFill>
                <a:latin typeface="Inter Bold" pitchFamily="34" charset="0"/>
                <a:ea typeface="Inter Bold" pitchFamily="34" charset="-122"/>
                <a:cs typeface="Inter Bold" pitchFamily="34" charset="-120"/>
              </a:rPr>
              <a:t>Shared Kernel</a:t>
            </a:r>
            <a:endParaRPr lang="en-US" sz="1050" dirty="0"/>
          </a:p>
        </p:txBody>
      </p:sp>
      <p:sp>
        <p:nvSpPr>
          <p:cNvPr id="6" name="Text 3"/>
          <p:cNvSpPr/>
          <p:nvPr/>
        </p:nvSpPr>
        <p:spPr>
          <a:xfrm>
            <a:off x="768926" y="2031305"/>
            <a:ext cx="3407980" cy="404813"/>
          </a:xfrm>
          <a:prstGeom prst="rect">
            <a:avLst/>
          </a:prstGeom>
          <a:noFill/>
          <a:ln/>
        </p:spPr>
        <p:txBody>
          <a:bodyPr wrap="square" lIns="0" tIns="0" rIns="0" bIns="0" rtlCol="0" anchor="t">
            <a:normAutofit/>
          </a:bodyPr>
          <a:lstStyle/>
          <a:p>
            <a:pPr algn="l" indent="0" marL="0">
              <a:lnSpc>
                <a:spcPct val="105000"/>
              </a:lnSpc>
              <a:buNone/>
            </a:pPr>
            <a:r>
              <a:rPr lang="en-US" sz="800" spc="-17" kern="0" dirty="0">
                <a:solidFill>
                  <a:srgbClr val="272525"/>
                </a:solidFill>
                <a:latin typeface="Inter" pitchFamily="34" charset="0"/>
                <a:ea typeface="Inter" pitchFamily="34" charset="-122"/>
                <a:cs typeface="Inter" pitchFamily="34" charset="-120"/>
              </a:rPr>
              <a:t>17 contract-driven primitives: Identity, Tenant, Capability, Policy, Context, Memory, Tool, Agent, Task, Workflow, Event, Artifact, Evidence, Environment, Experiment, Evaluation, Outcome</a:t>
            </a:r>
            <a:endParaRPr lang="en-US" sz="800" dirty="0"/>
          </a:p>
        </p:txBody>
      </p:sp>
      <p:pic>
        <p:nvPicPr>
          <p:cNvPr id="7" name="Image 1" descr="preencoded.png">    </p:cNvPr>
          <p:cNvPicPr>
            <a:picLocks noChangeAspect="1"/>
          </p:cNvPicPr>
          <p:nvPr/>
        </p:nvPicPr>
        <p:blipFill>
          <a:blip r:embed="rId2"/>
          <a:stretch>
            <a:fillRect/>
          </a:stretch>
        </p:blipFill>
        <p:spPr>
          <a:xfrm>
            <a:off x="4284357" y="1335683"/>
            <a:ext cx="3622882" cy="430014"/>
          </a:xfrm>
          <a:prstGeom prst="rect">
            <a:avLst/>
          </a:prstGeom>
        </p:spPr>
      </p:pic>
      <p:sp>
        <p:nvSpPr>
          <p:cNvPr id="8" name="Text 4"/>
          <p:cNvSpPr/>
          <p:nvPr/>
        </p:nvSpPr>
        <p:spPr>
          <a:xfrm>
            <a:off x="4391808" y="1826816"/>
            <a:ext cx="3407980" cy="167878"/>
          </a:xfrm>
          <a:prstGeom prst="rect">
            <a:avLst/>
          </a:prstGeom>
          <a:noFill/>
          <a:ln/>
        </p:spPr>
        <p:txBody>
          <a:bodyPr wrap="none" lIns="0" tIns="0" rIns="0" bIns="0" rtlCol="0" anchor="t"/>
          <a:lstStyle/>
          <a:p>
            <a:pPr algn="l" indent="0" marL="0">
              <a:lnSpc>
                <a:spcPct val="104000"/>
              </a:lnSpc>
              <a:buNone/>
            </a:pPr>
            <a:r>
              <a:rPr lang="en-US" sz="1050" b="1" spc="-32" kern="0" dirty="0">
                <a:solidFill>
                  <a:srgbClr val="272525"/>
                </a:solidFill>
                <a:latin typeface="Inter Bold" pitchFamily="34" charset="0"/>
                <a:ea typeface="Inter Bold" pitchFamily="34" charset="-122"/>
                <a:cs typeface="Inter Bold" pitchFamily="34" charset="-120"/>
              </a:rPr>
              <a:t>Platform Fabrics</a:t>
            </a:r>
            <a:endParaRPr lang="en-US" sz="1050" dirty="0"/>
          </a:p>
        </p:txBody>
      </p:sp>
      <p:sp>
        <p:nvSpPr>
          <p:cNvPr id="9" name="Text 5"/>
          <p:cNvSpPr/>
          <p:nvPr/>
        </p:nvSpPr>
        <p:spPr>
          <a:xfrm>
            <a:off x="4391808" y="2031305"/>
            <a:ext cx="3407980" cy="539750"/>
          </a:xfrm>
          <a:prstGeom prst="rect">
            <a:avLst/>
          </a:prstGeom>
          <a:noFill/>
          <a:ln/>
        </p:spPr>
        <p:txBody>
          <a:bodyPr wrap="square" lIns="0" tIns="0" rIns="0" bIns="0" rtlCol="0" anchor="t">
            <a:normAutofit/>
          </a:bodyPr>
          <a:lstStyle/>
          <a:p>
            <a:pPr algn="l" indent="0" marL="0">
              <a:lnSpc>
                <a:spcPct val="105000"/>
              </a:lnSpc>
              <a:buNone/>
            </a:pPr>
            <a:r>
              <a:rPr lang="en-US" sz="800" spc="-17" kern="0" dirty="0">
                <a:solidFill>
                  <a:srgbClr val="272525"/>
                </a:solidFill>
                <a:latin typeface="Inter" pitchFamily="34" charset="0"/>
                <a:ea typeface="Inter" pitchFamily="34" charset="-122"/>
                <a:cs typeface="Inter" pitchFamily="34" charset="-120"/>
              </a:rPr>
              <a:t>12 cross-cutting platform layers: Identity/Tenancy, Authorization, API Gateway, AI Gateway, Agent Runtime, MCP/A2A, Workflows/Events, Data/Knowledge, Security/Trust, Observability, Infrastructure, Research</a:t>
            </a:r>
            <a:endParaRPr lang="en-US" sz="800" dirty="0"/>
          </a:p>
        </p:txBody>
      </p:sp>
      <p:pic>
        <p:nvPicPr>
          <p:cNvPr id="10" name="Image 2" descr="preencoded.png">    </p:cNvPr>
          <p:cNvPicPr>
            <a:picLocks noChangeAspect="1"/>
          </p:cNvPicPr>
          <p:nvPr/>
        </p:nvPicPr>
        <p:blipFill>
          <a:blip r:embed="rId3"/>
          <a:stretch>
            <a:fillRect/>
          </a:stretch>
        </p:blipFill>
        <p:spPr>
          <a:xfrm>
            <a:off x="7907239" y="1335683"/>
            <a:ext cx="3622882" cy="430014"/>
          </a:xfrm>
          <a:prstGeom prst="rect">
            <a:avLst/>
          </a:prstGeom>
        </p:spPr>
      </p:pic>
      <p:sp>
        <p:nvSpPr>
          <p:cNvPr id="11" name="Text 6"/>
          <p:cNvSpPr/>
          <p:nvPr/>
        </p:nvSpPr>
        <p:spPr>
          <a:xfrm>
            <a:off x="8014690" y="1826816"/>
            <a:ext cx="3407980" cy="167878"/>
          </a:xfrm>
          <a:prstGeom prst="rect">
            <a:avLst/>
          </a:prstGeom>
          <a:noFill/>
          <a:ln/>
        </p:spPr>
        <p:txBody>
          <a:bodyPr wrap="none" lIns="0" tIns="0" rIns="0" bIns="0" rtlCol="0" anchor="t"/>
          <a:lstStyle/>
          <a:p>
            <a:pPr algn="l" indent="0" marL="0">
              <a:lnSpc>
                <a:spcPct val="104000"/>
              </a:lnSpc>
              <a:buNone/>
            </a:pPr>
            <a:r>
              <a:rPr lang="en-US" sz="1050" b="1" spc="-32" kern="0" dirty="0">
                <a:solidFill>
                  <a:srgbClr val="272525"/>
                </a:solidFill>
                <a:latin typeface="Inter Bold" pitchFamily="34" charset="0"/>
                <a:ea typeface="Inter Bold" pitchFamily="34" charset="-122"/>
                <a:cs typeface="Inter Bold" pitchFamily="34" charset="-120"/>
              </a:rPr>
              <a:t>100-System Portfolio</a:t>
            </a:r>
            <a:endParaRPr lang="en-US" sz="1050" dirty="0"/>
          </a:p>
        </p:txBody>
      </p:sp>
      <p:sp>
        <p:nvSpPr>
          <p:cNvPr id="12" name="Text 7"/>
          <p:cNvSpPr/>
          <p:nvPr/>
        </p:nvSpPr>
        <p:spPr>
          <a:xfrm>
            <a:off x="8014690" y="2031305"/>
            <a:ext cx="3407980" cy="404813"/>
          </a:xfrm>
          <a:prstGeom prst="rect">
            <a:avLst/>
          </a:prstGeom>
          <a:noFill/>
          <a:ln/>
        </p:spPr>
        <p:txBody>
          <a:bodyPr wrap="square" lIns="0" tIns="0" rIns="0" bIns="0" rtlCol="0" anchor="t">
            <a:normAutofit/>
          </a:bodyPr>
          <a:lstStyle/>
          <a:p>
            <a:pPr algn="l" indent="0" marL="0">
              <a:lnSpc>
                <a:spcPct val="105000"/>
              </a:lnSpc>
              <a:buNone/>
            </a:pPr>
            <a:r>
              <a:rPr lang="en-US" sz="800" spc="-17" kern="0" dirty="0">
                <a:solidFill>
                  <a:srgbClr val="272525"/>
                </a:solidFill>
                <a:latin typeface="Inter" pitchFamily="34" charset="0"/>
                <a:ea typeface="Inter" pitchFamily="34" charset="-122"/>
                <a:cs typeface="Inter" pitchFamily="34" charset="-120"/>
              </a:rPr>
              <a:t>Production and research systems across GTM, RevOps, Operations, Agents, AI/ML, Security, Observability, Platform Engineering, and Research — all sharing the same kernel and fabrics</a:t>
            </a:r>
            <a:endParaRPr lang="en-US" sz="800" dirty="0"/>
          </a:p>
        </p:txBody>
      </p:sp>
      <p:sp>
        <p:nvSpPr>
          <p:cNvPr id="13" name="Text 8"/>
          <p:cNvSpPr/>
          <p:nvPr/>
        </p:nvSpPr>
        <p:spPr>
          <a:xfrm>
            <a:off x="661475" y="2747268"/>
            <a:ext cx="10868745" cy="269875"/>
          </a:xfrm>
          <a:prstGeom prst="rect">
            <a:avLst/>
          </a:prstGeom>
          <a:noFill/>
          <a:ln/>
        </p:spPr>
        <p:txBody>
          <a:bodyPr wrap="square" lIns="0" tIns="0" rIns="0" bIns="0" rtlCol="0" anchor="t">
            <a:normAutofit/>
          </a:bodyPr>
          <a:lstStyle/>
          <a:p>
            <a:pPr algn="l" indent="0" marL="0">
              <a:lnSpc>
                <a:spcPct val="105000"/>
              </a:lnSpc>
              <a:buNone/>
            </a:pPr>
            <a:r>
              <a:rPr lang="en-US" sz="800" spc="-17" kern="0" dirty="0">
                <a:solidFill>
                  <a:srgbClr val="272525"/>
                </a:solidFill>
                <a:latin typeface="Inter" pitchFamily="34" charset="0"/>
                <a:ea typeface="Inter" pitchFamily="34" charset="-122"/>
                <a:cs typeface="Inter" pitchFamily="34" charset="-120"/>
              </a:rPr>
              <a:t>The principle is architectural unification: every system in the portfolio inherits identity, policy, context, observability, and security from the shared platform rather than re-implementing them. </a:t>
            </a:r>
            <a:pPr algn="l" indent="0" marL="0">
              <a:lnSpc>
                <a:spcPct val="105000"/>
              </a:lnSpc>
              <a:buNone/>
            </a:pPr>
            <a:r>
              <a:rPr lang="en-US" sz="800" b="1" spc="-17" kern="0" dirty="0">
                <a:solidFill>
                  <a:srgbClr val="272525"/>
                </a:solidFill>
                <a:latin typeface="Inter Bold" pitchFamily="34" charset="0"/>
                <a:ea typeface="Inter Bold" pitchFamily="34" charset="-122"/>
                <a:cs typeface="Inter Bold" pitchFamily="34" charset="-120"/>
              </a:rPr>
              <a:t>Model proposes. ShiVi authorizes.</a:t>
            </a:r>
            <a:pPr algn="l" indent="0" marL="0">
              <a:lnSpc>
                <a:spcPct val="105000"/>
              </a:lnSpc>
              <a:buNone/>
            </a:pPr>
            <a:r>
              <a:rPr lang="en-US" sz="800" spc="-17" kern="0" dirty="0">
                <a:solidFill>
                  <a:srgbClr val="272525"/>
                </a:solidFill>
                <a:latin typeface="Inter" pitchFamily="34" charset="0"/>
                <a:ea typeface="Inter" pitchFamily="34" charset="-122"/>
                <a:cs typeface="Inter" pitchFamily="34" charset="-120"/>
              </a:rPr>
              <a:t> This single constraint reshapes the entire risk posture of enterprise AI deployment.</a:t>
            </a:r>
            <a:endParaRPr lang="en-US" sz="800" dirty="0"/>
          </a:p>
        </p:txBody>
      </p:sp>
      <p:pic>
        <p:nvPicPr>
          <p:cNvPr id="14" name="Image 3" descr="preencoded.png">    </p:cNvPr>
          <p:cNvPicPr>
            <a:picLocks noChangeAspect="1"/>
          </p:cNvPicPr>
          <p:nvPr/>
        </p:nvPicPr>
        <p:blipFill>
          <a:blip r:embed="rId4"/>
          <a:stretch>
            <a:fillRect/>
          </a:stretch>
        </p:blipFill>
        <p:spPr>
          <a:xfrm>
            <a:off x="2563550" y="3085902"/>
            <a:ext cx="7064595" cy="3233142"/>
          </a:xfrm>
          <a:prstGeom prst="rect">
            <a:avLst/>
          </a:prstGeom>
        </p:spPr>
      </p:pic>
      <p:sp>
        <p:nvSpPr>
          <p:cNvPr id="15" name="Text 9"/>
          <p:cNvSpPr/>
          <p:nvPr/>
        </p:nvSpPr>
        <p:spPr>
          <a:xfrm>
            <a:off x="7738387" y="3529435"/>
            <a:ext cx="1562752" cy="195349"/>
          </a:xfrm>
          <a:prstGeom prst="rect">
            <a:avLst/>
          </a:prstGeom>
          <a:noFill/>
          <a:ln/>
        </p:spPr>
        <p:txBody>
          <a:bodyPr wrap="none" lIns="0" tIns="0" rIns="0" bIns="0" rtlCol="0" anchor="t"/>
          <a:lstStyle/>
          <a:p>
            <a:pPr algn="l" indent="0" marL="0">
              <a:lnSpc>
                <a:spcPct val="104000"/>
              </a:lnSpc>
              <a:buNone/>
            </a:pPr>
            <a:r>
              <a:rPr lang="en-US" sz="1200" b="1" spc="-37" kern="0" dirty="0">
                <a:solidFill>
                  <a:srgbClr val="272525"/>
                </a:solidFill>
                <a:latin typeface="Inter Bold" pitchFamily="34" charset="0"/>
                <a:ea typeface="Inter Bold" pitchFamily="34" charset="-122"/>
                <a:cs typeface="Inter Bold" pitchFamily="34" charset="-120"/>
              </a:rPr>
              <a:t>Product &amp; Research</a:t>
            </a:r>
            <a:endParaRPr lang="en-US" sz="1200" dirty="0"/>
          </a:p>
        </p:txBody>
      </p:sp>
      <p:sp>
        <p:nvSpPr>
          <p:cNvPr id="16" name="Text 10"/>
          <p:cNvSpPr/>
          <p:nvPr/>
        </p:nvSpPr>
        <p:spPr>
          <a:xfrm>
            <a:off x="7738387" y="3780350"/>
            <a:ext cx="1722501" cy="245054"/>
          </a:xfrm>
          <a:prstGeom prst="rect">
            <a:avLst/>
          </a:prstGeom>
          <a:noFill/>
          <a:ln/>
        </p:spPr>
        <p:txBody>
          <a:bodyPr wrap="square" lIns="0" tIns="0" rIns="0" bIns="0" rtlCol="0" anchor="t">
            <a:normAutofit/>
          </a:bodyPr>
          <a:lstStyle/>
          <a:p>
            <a:pPr algn="l" indent="0" marL="0">
              <a:lnSpc>
                <a:spcPct val="82000"/>
              </a:lnSpc>
              <a:buNone/>
            </a:pPr>
            <a:r>
              <a:rPr lang="en-US" sz="950" spc="-19" kern="0" dirty="0">
                <a:solidFill>
                  <a:srgbClr val="272525"/>
                </a:solidFill>
                <a:latin typeface="Inter" pitchFamily="34" charset="0"/>
                <a:ea typeface="Inter" pitchFamily="34" charset="-122"/>
                <a:cs typeface="Inter" pitchFamily="34" charset="-120"/>
              </a:rPr>
              <a:t>100 systems delivering applications and experiments</a:t>
            </a:r>
            <a:endParaRPr lang="en-US" sz="950" dirty="0"/>
          </a:p>
        </p:txBody>
      </p:sp>
      <p:sp>
        <p:nvSpPr>
          <p:cNvPr id="17" name="Text 11"/>
          <p:cNvSpPr/>
          <p:nvPr/>
        </p:nvSpPr>
        <p:spPr>
          <a:xfrm>
            <a:off x="2751468" y="4592134"/>
            <a:ext cx="1562753" cy="195349"/>
          </a:xfrm>
          <a:prstGeom prst="rect">
            <a:avLst/>
          </a:prstGeom>
          <a:noFill/>
          <a:ln/>
        </p:spPr>
        <p:txBody>
          <a:bodyPr wrap="none" lIns="0" tIns="0" rIns="0" bIns="0" rtlCol="0" anchor="t"/>
          <a:lstStyle/>
          <a:p>
            <a:pPr algn="r" indent="0" marL="0">
              <a:lnSpc>
                <a:spcPct val="104000"/>
              </a:lnSpc>
              <a:buNone/>
            </a:pPr>
            <a:r>
              <a:rPr lang="en-US" sz="1200" b="1" spc="-37" kern="0" dirty="0">
                <a:solidFill>
                  <a:srgbClr val="272525"/>
                </a:solidFill>
                <a:latin typeface="Inter Bold" pitchFamily="34" charset="0"/>
                <a:ea typeface="Inter Bold" pitchFamily="34" charset="-122"/>
                <a:cs typeface="Inter Bold" pitchFamily="34" charset="-120"/>
              </a:rPr>
              <a:t>Platform Fabrics</a:t>
            </a:r>
            <a:endParaRPr lang="en-US" sz="1200" dirty="0"/>
          </a:p>
        </p:txBody>
      </p:sp>
      <p:sp>
        <p:nvSpPr>
          <p:cNvPr id="18" name="Text 12"/>
          <p:cNvSpPr/>
          <p:nvPr/>
        </p:nvSpPr>
        <p:spPr>
          <a:xfrm>
            <a:off x="2730631" y="4843049"/>
            <a:ext cx="1583589" cy="245054"/>
          </a:xfrm>
          <a:prstGeom prst="rect">
            <a:avLst/>
          </a:prstGeom>
          <a:noFill/>
          <a:ln/>
        </p:spPr>
        <p:txBody>
          <a:bodyPr wrap="square" lIns="0" tIns="0" rIns="0" bIns="0" rtlCol="0" anchor="t">
            <a:normAutofit/>
          </a:bodyPr>
          <a:lstStyle/>
          <a:p>
            <a:pPr algn="r" indent="0" marL="0">
              <a:lnSpc>
                <a:spcPct val="82000"/>
              </a:lnSpc>
              <a:buNone/>
            </a:pPr>
            <a:r>
              <a:rPr lang="en-US" sz="950" spc="-19" kern="0" dirty="0">
                <a:solidFill>
                  <a:srgbClr val="272525"/>
                </a:solidFill>
                <a:latin typeface="Inter" pitchFamily="34" charset="0"/>
                <a:ea typeface="Inter" pitchFamily="34" charset="-122"/>
                <a:cs typeface="Inter" pitchFamily="34" charset="-120"/>
              </a:rPr>
              <a:t>12 fabrics enabling platform services</a:t>
            </a:r>
            <a:endParaRPr lang="en-US" sz="950" dirty="0"/>
          </a:p>
        </p:txBody>
      </p:sp>
      <p:sp>
        <p:nvSpPr>
          <p:cNvPr id="19" name="Text 13"/>
          <p:cNvSpPr/>
          <p:nvPr/>
        </p:nvSpPr>
        <p:spPr>
          <a:xfrm>
            <a:off x="7738387" y="5140847"/>
            <a:ext cx="1562752" cy="195349"/>
          </a:xfrm>
          <a:prstGeom prst="rect">
            <a:avLst/>
          </a:prstGeom>
          <a:noFill/>
          <a:ln/>
        </p:spPr>
        <p:txBody>
          <a:bodyPr wrap="none" lIns="0" tIns="0" rIns="0" bIns="0" rtlCol="0" anchor="t"/>
          <a:lstStyle/>
          <a:p>
            <a:pPr algn="l" indent="0" marL="0">
              <a:lnSpc>
                <a:spcPct val="104000"/>
              </a:lnSpc>
              <a:buNone/>
            </a:pPr>
            <a:r>
              <a:rPr lang="en-US" sz="1200" b="1" spc="-37" kern="0" dirty="0">
                <a:solidFill>
                  <a:srgbClr val="272525"/>
                </a:solidFill>
                <a:latin typeface="Inter Bold" pitchFamily="34" charset="0"/>
                <a:ea typeface="Inter Bold" pitchFamily="34" charset="-122"/>
                <a:cs typeface="Inter Bold" pitchFamily="34" charset="-120"/>
              </a:rPr>
              <a:t>Shared Kernel</a:t>
            </a:r>
            <a:endParaRPr lang="en-US" sz="1200" dirty="0"/>
          </a:p>
        </p:txBody>
      </p:sp>
      <p:sp>
        <p:nvSpPr>
          <p:cNvPr id="20" name="Text 14"/>
          <p:cNvSpPr/>
          <p:nvPr/>
        </p:nvSpPr>
        <p:spPr>
          <a:xfrm>
            <a:off x="7738387" y="5391762"/>
            <a:ext cx="1722501" cy="245054"/>
          </a:xfrm>
          <a:prstGeom prst="rect">
            <a:avLst/>
          </a:prstGeom>
          <a:noFill/>
          <a:ln/>
        </p:spPr>
        <p:txBody>
          <a:bodyPr wrap="square" lIns="0" tIns="0" rIns="0" bIns="0" rtlCol="0" anchor="t">
            <a:normAutofit/>
          </a:bodyPr>
          <a:lstStyle/>
          <a:p>
            <a:pPr algn="l" indent="0" marL="0">
              <a:lnSpc>
                <a:spcPct val="82000"/>
              </a:lnSpc>
              <a:buNone/>
            </a:pPr>
            <a:r>
              <a:rPr lang="en-US" sz="950" spc="-19" kern="0" dirty="0">
                <a:solidFill>
                  <a:srgbClr val="272525"/>
                </a:solidFill>
                <a:latin typeface="Inter" pitchFamily="34" charset="0"/>
                <a:ea typeface="Inter" pitchFamily="34" charset="-122"/>
                <a:cs typeface="Inter" pitchFamily="34" charset="-120"/>
              </a:rPr>
              <a:t>17 core primitives driving capabilities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03250"/>
            <a:ext cx="10868745" cy="233958"/>
          </a:xfrm>
          <a:prstGeom prst="rect">
            <a:avLst/>
          </a:prstGeom>
          <a:noFill/>
          <a:ln/>
        </p:spPr>
        <p:txBody>
          <a:bodyPr wrap="none" lIns="0" tIns="0" rIns="0" bIns="0" rtlCol="0" anchor="t"/>
          <a:lstStyle/>
          <a:p>
            <a:pPr algn="l" indent="0" marL="0">
              <a:lnSpc>
                <a:spcPct val="104000"/>
              </a:lnSpc>
              <a:buNone/>
            </a:pPr>
            <a:r>
              <a:rPr lang="en-US" sz="1450" b="1" spc="-44" kern="0" dirty="0">
                <a:solidFill>
                  <a:srgbClr val="000000"/>
                </a:solidFill>
                <a:latin typeface="Inter Bold" pitchFamily="34" charset="0"/>
                <a:ea typeface="Inter Bold" pitchFamily="34" charset="-122"/>
                <a:cs typeface="Inter Bold" pitchFamily="34" charset="-120"/>
              </a:rPr>
              <a:t>The 100-System Ecosystem</a:t>
            </a:r>
            <a:endParaRPr lang="en-US" sz="1450" dirty="0"/>
          </a:p>
        </p:txBody>
      </p:sp>
      <p:sp>
        <p:nvSpPr>
          <p:cNvPr id="3" name="Text 1"/>
          <p:cNvSpPr/>
          <p:nvPr/>
        </p:nvSpPr>
        <p:spPr>
          <a:xfrm>
            <a:off x="661475" y="896441"/>
            <a:ext cx="11478330" cy="83641"/>
          </a:xfrm>
          <a:prstGeom prst="rect">
            <a:avLst/>
          </a:prstGeom>
          <a:noFill/>
          <a:ln/>
        </p:spPr>
        <p:txBody>
          <a:bodyPr wrap="none" lIns="0" tIns="0" rIns="0" bIns="0" rtlCol="0" anchor="t"/>
          <a:lstStyle/>
          <a:p>
            <a:pPr algn="l" indent="0" marL="0">
              <a:lnSpc>
                <a:spcPct val="93000"/>
              </a:lnSpc>
              <a:buNone/>
            </a:pPr>
            <a:r>
              <a:rPr lang="en-US" sz="550" spc="-12" kern="0" dirty="0">
                <a:solidFill>
                  <a:srgbClr val="272525"/>
                </a:solidFill>
                <a:latin typeface="Inter" pitchFamily="34" charset="0"/>
                <a:ea typeface="Inter" pitchFamily="34" charset="-122"/>
                <a:cs typeface="Inter" pitchFamily="34" charset="-120"/>
              </a:rPr>
              <a:t>ShiVi's portfolio spans six major domains. Every system is built on the shared kernel — none re-implements identity, policy, context, or observability from scratch.</a:t>
            </a:r>
            <a:endParaRPr lang="en-US" sz="550" dirty="0"/>
          </a:p>
        </p:txBody>
      </p:sp>
      <p:sp>
        <p:nvSpPr>
          <p:cNvPr id="4" name="Shape 2"/>
          <p:cNvSpPr/>
          <p:nvPr/>
        </p:nvSpPr>
        <p:spPr>
          <a:xfrm>
            <a:off x="661475" y="1013420"/>
            <a:ext cx="5419589" cy="1977926"/>
          </a:xfrm>
          <a:prstGeom prst="roundRect">
            <a:avLst>
              <a:gd name="adj" fmla="val 1590"/>
            </a:avLst>
          </a:prstGeom>
          <a:solidFill>
            <a:srgbClr val="DADBF1"/>
          </a:solidFill>
          <a:ln w="6350">
            <a:solidFill>
              <a:srgbClr val="C0C1D7"/>
            </a:solidFill>
            <a:prstDash val="solid"/>
          </a:ln>
        </p:spPr>
      </p:sp>
      <p:sp>
        <p:nvSpPr>
          <p:cNvPr id="5" name="Text 3"/>
          <p:cNvSpPr/>
          <p:nvPr/>
        </p:nvSpPr>
        <p:spPr>
          <a:xfrm>
            <a:off x="742634" y="1094581"/>
            <a:ext cx="5257272" cy="116880"/>
          </a:xfrm>
          <a:prstGeom prst="rect">
            <a:avLst/>
          </a:prstGeom>
          <a:noFill/>
          <a:ln/>
        </p:spPr>
        <p:txBody>
          <a:bodyPr wrap="none" lIns="0" tIns="0" rIns="0" bIns="0" rtlCol="0" anchor="t"/>
          <a:lstStyle/>
          <a:p>
            <a:pPr algn="l" indent="0" marL="0">
              <a:lnSpc>
                <a:spcPct val="104000"/>
              </a:lnSpc>
              <a:buNone/>
            </a:pPr>
            <a:r>
              <a:rPr lang="en-US" sz="700" b="1" spc="-22"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700" b="1" spc="-22" kern="0" dirty="0">
                <a:solidFill>
                  <a:srgbClr val="272525"/>
                </a:solidFill>
                <a:latin typeface="Inter Bold" pitchFamily="34" charset="0"/>
                <a:ea typeface="Inter Bold" pitchFamily="34" charset="-122"/>
                <a:cs typeface="Inter Bold" pitchFamily="34" charset="-120"/>
              </a:rPr>
              <a:t> GTM &amp; Revenue</a:t>
            </a:r>
            <a:endParaRPr lang="en-US" sz="700" dirty="0"/>
          </a:p>
        </p:txBody>
      </p:sp>
      <p:sp>
        <p:nvSpPr>
          <p:cNvPr id="6" name="Text 4"/>
          <p:cNvSpPr/>
          <p:nvPr/>
        </p:nvSpPr>
        <p:spPr>
          <a:xfrm>
            <a:off x="742634" y="1229221"/>
            <a:ext cx="5257272" cy="1211163"/>
          </a:xfrm>
          <a:prstGeom prst="rect">
            <a:avLst/>
          </a:prstGeom>
          <a:noFill/>
          <a:ln/>
        </p:spPr>
        <p:txBody>
          <a:bodyPr wrap="square" lIns="0" tIns="29948" rIns="0" bIns="0" rtlCol="0" anchor="t">
            <a:normAutofit/>
          </a:bodyPr>
          <a:lstStyle/>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GTM Operating System</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Autonomous RevOps Engine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Revenue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CRM Copilot</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Sales &amp; SE Copilot</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Marketing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Personalization Engine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Lead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Pricing &amp; Forecasting</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Territory &amp; Commission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Customer Success</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Support &amp; Contact Center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Proposal / RFP</a:t>
            </a:r>
            <a:endParaRPr lang="en-US" sz="550" dirty="0"/>
          </a:p>
        </p:txBody>
      </p:sp>
      <p:sp>
        <p:nvSpPr>
          <p:cNvPr id="7" name="Shape 5"/>
          <p:cNvSpPr/>
          <p:nvPr/>
        </p:nvSpPr>
        <p:spPr>
          <a:xfrm>
            <a:off x="6110631" y="1013420"/>
            <a:ext cx="5419589" cy="1977926"/>
          </a:xfrm>
          <a:prstGeom prst="roundRect">
            <a:avLst>
              <a:gd name="adj" fmla="val 1590"/>
            </a:avLst>
          </a:prstGeom>
          <a:solidFill>
            <a:srgbClr val="DADBF1"/>
          </a:solidFill>
          <a:ln w="6350">
            <a:solidFill>
              <a:srgbClr val="C0C1D7"/>
            </a:solidFill>
            <a:prstDash val="solid"/>
          </a:ln>
        </p:spPr>
      </p:sp>
      <p:sp>
        <p:nvSpPr>
          <p:cNvPr id="8" name="Text 6"/>
          <p:cNvSpPr/>
          <p:nvPr/>
        </p:nvSpPr>
        <p:spPr>
          <a:xfrm>
            <a:off x="6191790" y="1094581"/>
            <a:ext cx="5257272" cy="116880"/>
          </a:xfrm>
          <a:prstGeom prst="rect">
            <a:avLst/>
          </a:prstGeom>
          <a:noFill/>
          <a:ln/>
        </p:spPr>
        <p:txBody>
          <a:bodyPr wrap="none" lIns="0" tIns="0" rIns="0" bIns="0" rtlCol="0" anchor="t"/>
          <a:lstStyle/>
          <a:p>
            <a:pPr algn="l" indent="0" marL="0">
              <a:lnSpc>
                <a:spcPct val="104000"/>
              </a:lnSpc>
              <a:buNone/>
            </a:pPr>
            <a:r>
              <a:rPr lang="en-US" sz="700" b="1" spc="-22"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700" b="1" spc="-22" kern="0" dirty="0">
                <a:solidFill>
                  <a:srgbClr val="272525"/>
                </a:solidFill>
                <a:latin typeface="Inter Bold" pitchFamily="34" charset="0"/>
                <a:ea typeface="Inter Bold" pitchFamily="34" charset="-122"/>
                <a:cs typeface="Inter Bold" pitchFamily="34" charset="-120"/>
              </a:rPr>
              <a:t> Operations &amp; Enterprise</a:t>
            </a:r>
            <a:endParaRPr lang="en-US" sz="700" dirty="0"/>
          </a:p>
        </p:txBody>
      </p:sp>
      <p:sp>
        <p:nvSpPr>
          <p:cNvPr id="9" name="Text 7"/>
          <p:cNvSpPr/>
          <p:nvPr/>
        </p:nvSpPr>
        <p:spPr>
          <a:xfrm>
            <a:off x="6191790" y="1229221"/>
            <a:ext cx="5257272" cy="1680964"/>
          </a:xfrm>
          <a:prstGeom prst="rect">
            <a:avLst/>
          </a:prstGeom>
          <a:noFill/>
          <a:ln/>
        </p:spPr>
        <p:txBody>
          <a:bodyPr wrap="square" lIns="0" tIns="29948" rIns="0" bIns="0" rtlCol="0" anchor="t">
            <a:normAutofit/>
          </a:bodyPr>
          <a:lstStyle/>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Organization Digital Twin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Process Mining</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Workflow Automation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Enterprise Search</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Enterprise Knowledge Cloud</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Meeting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Task Orchestration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Enterprise Planning</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Resource Optimization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Internal Operations</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Policy Assistant</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Contract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Vendor &amp; Procurement</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Asset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Risk &amp; Compliance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Executive Intelligence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Business Continuity</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Enterprise Simulation</a:t>
            </a:r>
            <a:endParaRPr lang="en-US" sz="550" dirty="0"/>
          </a:p>
        </p:txBody>
      </p:sp>
      <p:sp>
        <p:nvSpPr>
          <p:cNvPr id="10" name="Shape 8"/>
          <p:cNvSpPr/>
          <p:nvPr/>
        </p:nvSpPr>
        <p:spPr>
          <a:xfrm>
            <a:off x="661475" y="3020913"/>
            <a:ext cx="5419589" cy="1790005"/>
          </a:xfrm>
          <a:prstGeom prst="roundRect">
            <a:avLst>
              <a:gd name="adj" fmla="val 1757"/>
            </a:avLst>
          </a:prstGeom>
          <a:solidFill>
            <a:srgbClr val="DADBF1"/>
          </a:solidFill>
          <a:ln w="6350">
            <a:solidFill>
              <a:srgbClr val="C0C1D7"/>
            </a:solidFill>
            <a:prstDash val="solid"/>
          </a:ln>
        </p:spPr>
      </p:sp>
      <p:sp>
        <p:nvSpPr>
          <p:cNvPr id="11" name="Text 9"/>
          <p:cNvSpPr/>
          <p:nvPr/>
        </p:nvSpPr>
        <p:spPr>
          <a:xfrm>
            <a:off x="742634" y="3102074"/>
            <a:ext cx="5257272" cy="116880"/>
          </a:xfrm>
          <a:prstGeom prst="rect">
            <a:avLst/>
          </a:prstGeom>
          <a:noFill/>
          <a:ln/>
        </p:spPr>
        <p:txBody>
          <a:bodyPr wrap="none" lIns="0" tIns="0" rIns="0" bIns="0" rtlCol="0" anchor="t"/>
          <a:lstStyle/>
          <a:p>
            <a:pPr algn="l" indent="0" marL="0">
              <a:lnSpc>
                <a:spcPct val="104000"/>
              </a:lnSpc>
              <a:buNone/>
            </a:pPr>
            <a:r>
              <a:rPr lang="en-US" sz="700" b="1" spc="-22"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700" b="1" spc="-22" kern="0" dirty="0">
                <a:solidFill>
                  <a:srgbClr val="272525"/>
                </a:solidFill>
                <a:latin typeface="Inter Bold" pitchFamily="34" charset="0"/>
                <a:ea typeface="Inter Bold" pitchFamily="34" charset="-122"/>
                <a:cs typeface="Inter Bold" pitchFamily="34" charset="-120"/>
              </a:rPr>
              <a:t> Agent Platform</a:t>
            </a:r>
            <a:endParaRPr lang="en-US" sz="700" dirty="0"/>
          </a:p>
        </p:txBody>
      </p:sp>
      <p:sp>
        <p:nvSpPr>
          <p:cNvPr id="12" name="Text 10"/>
          <p:cNvSpPr/>
          <p:nvPr/>
        </p:nvSpPr>
        <p:spPr>
          <a:xfrm>
            <a:off x="742634" y="3236714"/>
            <a:ext cx="5257272" cy="1493044"/>
          </a:xfrm>
          <a:prstGeom prst="rect">
            <a:avLst/>
          </a:prstGeom>
          <a:noFill/>
          <a:ln/>
        </p:spPr>
        <p:txBody>
          <a:bodyPr wrap="square" lIns="0" tIns="29948" rIns="0" bIns="0" rtlCol="0" anchor="t">
            <a:normAutofit/>
          </a:bodyPr>
          <a:lstStyle/>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Control Plane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Runtime &amp; Fleet</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Marketplace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Skill Registry</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Memory &amp; Identity</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Capability Broker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Governor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Reputation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Multi-Agent Orchestrator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Arbitration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A2A Collaboration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Tool Registry &amp; MCP Gateway</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Sandbox</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Browser Agent</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Contract Engine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Constitution</a:t>
            </a:r>
            <a:endParaRPr lang="en-US" sz="550" dirty="0"/>
          </a:p>
        </p:txBody>
      </p:sp>
      <p:sp>
        <p:nvSpPr>
          <p:cNvPr id="13" name="Shape 11"/>
          <p:cNvSpPr/>
          <p:nvPr/>
        </p:nvSpPr>
        <p:spPr>
          <a:xfrm>
            <a:off x="6110631" y="3020913"/>
            <a:ext cx="5419589" cy="1790005"/>
          </a:xfrm>
          <a:prstGeom prst="roundRect">
            <a:avLst>
              <a:gd name="adj" fmla="val 1757"/>
            </a:avLst>
          </a:prstGeom>
          <a:solidFill>
            <a:srgbClr val="DADBF1"/>
          </a:solidFill>
          <a:ln w="6350">
            <a:solidFill>
              <a:srgbClr val="C0C1D7"/>
            </a:solidFill>
            <a:prstDash val="solid"/>
          </a:ln>
        </p:spPr>
      </p:sp>
      <p:sp>
        <p:nvSpPr>
          <p:cNvPr id="14" name="Text 12"/>
          <p:cNvSpPr/>
          <p:nvPr/>
        </p:nvSpPr>
        <p:spPr>
          <a:xfrm>
            <a:off x="6191790" y="3102074"/>
            <a:ext cx="5257272" cy="116880"/>
          </a:xfrm>
          <a:prstGeom prst="rect">
            <a:avLst/>
          </a:prstGeom>
          <a:noFill/>
          <a:ln/>
        </p:spPr>
        <p:txBody>
          <a:bodyPr wrap="none" lIns="0" tIns="0" rIns="0" bIns="0" rtlCol="0" anchor="t"/>
          <a:lstStyle/>
          <a:p>
            <a:pPr algn="l" indent="0" marL="0">
              <a:lnSpc>
                <a:spcPct val="104000"/>
              </a:lnSpc>
              <a:buNone/>
            </a:pPr>
            <a:r>
              <a:rPr lang="en-US" sz="700" b="1" spc="-22"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700" b="1" spc="-22" kern="0" dirty="0">
                <a:solidFill>
                  <a:srgbClr val="272525"/>
                </a:solidFill>
                <a:latin typeface="Inter Bold" pitchFamily="34" charset="0"/>
                <a:ea typeface="Inter Bold" pitchFamily="34" charset="-122"/>
                <a:cs typeface="Inter Bold" pitchFamily="34" charset="-120"/>
              </a:rPr>
              <a:t> AI / ML Fabric</a:t>
            </a:r>
            <a:endParaRPr lang="en-US" sz="700" dirty="0"/>
          </a:p>
        </p:txBody>
      </p:sp>
      <p:sp>
        <p:nvSpPr>
          <p:cNvPr id="15" name="Text 13"/>
          <p:cNvSpPr/>
          <p:nvPr/>
        </p:nvSpPr>
        <p:spPr>
          <a:xfrm>
            <a:off x="6191790" y="3236714"/>
            <a:ext cx="5257272" cy="1117203"/>
          </a:xfrm>
          <a:prstGeom prst="rect">
            <a:avLst/>
          </a:prstGeom>
          <a:noFill/>
          <a:ln/>
        </p:spPr>
        <p:txBody>
          <a:bodyPr wrap="square" lIns="0" tIns="29948" rIns="0" bIns="0" rtlCol="0" anchor="t">
            <a:normAutofit/>
          </a:bodyPr>
          <a:lstStyle/>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Gateway &amp; Model Router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Model Registry &amp; LLMOps</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Enterprise RAG</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Context Compiler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Context Firewall</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Knowledge Graph</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Entity Resolution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Data Governance &amp; Quality</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Synthetic Enterprise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Experiment Platform</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 Cost / FinOps</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Distributed AI Compute</a:t>
            </a:r>
            <a:endParaRPr lang="en-US" sz="550" dirty="0"/>
          </a:p>
        </p:txBody>
      </p:sp>
      <p:sp>
        <p:nvSpPr>
          <p:cNvPr id="16" name="Shape 14"/>
          <p:cNvSpPr/>
          <p:nvPr/>
        </p:nvSpPr>
        <p:spPr>
          <a:xfrm>
            <a:off x="661475" y="4840486"/>
            <a:ext cx="5419589" cy="1414165"/>
          </a:xfrm>
          <a:prstGeom prst="roundRect">
            <a:avLst>
              <a:gd name="adj" fmla="val 2224"/>
            </a:avLst>
          </a:prstGeom>
          <a:solidFill>
            <a:srgbClr val="DADBF1"/>
          </a:solidFill>
          <a:ln w="6350">
            <a:solidFill>
              <a:srgbClr val="C0C1D7"/>
            </a:solidFill>
            <a:prstDash val="solid"/>
          </a:ln>
        </p:spPr>
      </p:sp>
      <p:sp>
        <p:nvSpPr>
          <p:cNvPr id="17" name="Text 15"/>
          <p:cNvSpPr/>
          <p:nvPr/>
        </p:nvSpPr>
        <p:spPr>
          <a:xfrm>
            <a:off x="742634" y="4921647"/>
            <a:ext cx="5257272" cy="116880"/>
          </a:xfrm>
          <a:prstGeom prst="rect">
            <a:avLst/>
          </a:prstGeom>
          <a:noFill/>
          <a:ln/>
        </p:spPr>
        <p:txBody>
          <a:bodyPr wrap="none" lIns="0" tIns="0" rIns="0" bIns="0" rtlCol="0" anchor="t"/>
          <a:lstStyle/>
          <a:p>
            <a:pPr algn="l" indent="0" marL="0">
              <a:lnSpc>
                <a:spcPct val="104000"/>
              </a:lnSpc>
              <a:buNone/>
            </a:pPr>
            <a:r>
              <a:rPr lang="en-US" sz="700" b="1" spc="-22"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700" b="1" spc="-22" kern="0" dirty="0">
                <a:solidFill>
                  <a:srgbClr val="272525"/>
                </a:solidFill>
                <a:latin typeface="Inter Bold" pitchFamily="34" charset="0"/>
                <a:ea typeface="Inter Bold" pitchFamily="34" charset="-122"/>
                <a:cs typeface="Inter Bold" pitchFamily="34" charset="-120"/>
              </a:rPr>
              <a:t> Security &amp; Trust</a:t>
            </a:r>
            <a:endParaRPr lang="en-US" sz="700" dirty="0"/>
          </a:p>
        </p:txBody>
      </p:sp>
      <p:sp>
        <p:nvSpPr>
          <p:cNvPr id="18" name="Text 16"/>
          <p:cNvSpPr/>
          <p:nvPr/>
        </p:nvSpPr>
        <p:spPr>
          <a:xfrm>
            <a:off x="742634" y="5056287"/>
            <a:ext cx="5257272" cy="1117203"/>
          </a:xfrm>
          <a:prstGeom prst="rect">
            <a:avLst/>
          </a:prstGeom>
          <a:noFill/>
          <a:ln/>
        </p:spPr>
        <p:txBody>
          <a:bodyPr wrap="square" lIns="0" tIns="29948" rIns="0" bIns="0" rtlCol="0" anchor="t">
            <a:normAutofit/>
          </a:bodyPr>
          <a:lstStyle/>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ShiVi Guardian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Intent Firewall</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Capability Firewall</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Evidence Ledger</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Security Lab</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Agent Cyber Range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Red-Team Platform</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Threat Hunting</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Policy-as-Code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Authorization Graph</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DLP, Secrets, Supply-Chain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AI-BOM, Crypto Agility/PQC</a:t>
            </a:r>
            <a:endParaRPr lang="en-US" sz="550" dirty="0"/>
          </a:p>
        </p:txBody>
      </p:sp>
      <p:sp>
        <p:nvSpPr>
          <p:cNvPr id="19" name="Shape 17"/>
          <p:cNvSpPr/>
          <p:nvPr/>
        </p:nvSpPr>
        <p:spPr>
          <a:xfrm>
            <a:off x="6110631" y="4840486"/>
            <a:ext cx="5419589" cy="1414165"/>
          </a:xfrm>
          <a:prstGeom prst="roundRect">
            <a:avLst>
              <a:gd name="adj" fmla="val 2224"/>
            </a:avLst>
          </a:prstGeom>
          <a:solidFill>
            <a:srgbClr val="DADBF1"/>
          </a:solidFill>
          <a:ln w="6350">
            <a:solidFill>
              <a:srgbClr val="C0C1D7"/>
            </a:solidFill>
            <a:prstDash val="solid"/>
          </a:ln>
        </p:spPr>
      </p:sp>
      <p:sp>
        <p:nvSpPr>
          <p:cNvPr id="20" name="Text 18"/>
          <p:cNvSpPr/>
          <p:nvPr/>
        </p:nvSpPr>
        <p:spPr>
          <a:xfrm>
            <a:off x="6191790" y="4921647"/>
            <a:ext cx="5257272" cy="116880"/>
          </a:xfrm>
          <a:prstGeom prst="rect">
            <a:avLst/>
          </a:prstGeom>
          <a:noFill/>
          <a:ln/>
        </p:spPr>
        <p:txBody>
          <a:bodyPr wrap="none" lIns="0" tIns="0" rIns="0" bIns="0" rtlCol="0" anchor="t"/>
          <a:lstStyle/>
          <a:p>
            <a:pPr algn="l" indent="0" marL="0">
              <a:lnSpc>
                <a:spcPct val="104000"/>
              </a:lnSpc>
              <a:buNone/>
            </a:pPr>
            <a:r>
              <a:rPr lang="en-US" sz="700" b="1" spc="-22"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700" b="1" spc="-22" kern="0" dirty="0">
                <a:solidFill>
                  <a:srgbClr val="272525"/>
                </a:solidFill>
                <a:latin typeface="Inter Bold" pitchFamily="34" charset="0"/>
                <a:ea typeface="Inter Bold" pitchFamily="34" charset="-122"/>
                <a:cs typeface="Inter Bold" pitchFamily="34" charset="-120"/>
              </a:rPr>
              <a:t> Platform &amp; Research</a:t>
            </a:r>
            <a:endParaRPr lang="en-US" sz="700" dirty="0"/>
          </a:p>
        </p:txBody>
      </p:sp>
      <p:sp>
        <p:nvSpPr>
          <p:cNvPr id="21" name="Text 19"/>
          <p:cNvSpPr/>
          <p:nvPr/>
        </p:nvSpPr>
        <p:spPr>
          <a:xfrm>
            <a:off x="6191790" y="5056287"/>
            <a:ext cx="5257272" cy="835323"/>
          </a:xfrm>
          <a:prstGeom prst="rect">
            <a:avLst/>
          </a:prstGeom>
          <a:noFill/>
          <a:ln/>
        </p:spPr>
        <p:txBody>
          <a:bodyPr wrap="square" lIns="0" tIns="29948" rIns="0" bIns="0" rtlCol="0" anchor="t">
            <a:normAutofit/>
          </a:bodyPr>
          <a:lstStyle/>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Observability &amp; GenAI Obs.</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Trajectory Evaluation</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Benchmark Integrity</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Simulation Engine</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SRE Platform</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Platform Engineering Portal</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Environment Platform</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Developer Platform</a:t>
            </a:r>
            <a:endParaRPr lang="en-US" sz="550" dirty="0"/>
          </a:p>
          <a:p>
            <a:pPr algn="l" marL="111760" indent="-111760">
              <a:lnSpc>
                <a:spcPct val="93000"/>
              </a:lnSpc>
              <a:buSzPct val="100000"/>
              <a:buChar char="•"/>
            </a:pPr>
            <a:r>
              <a:rPr lang="en-US" sz="550" spc="-12" kern="0" dirty="0">
                <a:solidFill>
                  <a:srgbClr val="272525"/>
                </a:solidFill>
                <a:latin typeface="Inter" pitchFamily="34" charset="0"/>
                <a:ea typeface="Inter" pitchFamily="34" charset="-122"/>
                <a:cs typeface="Inter" pitchFamily="34" charset="-120"/>
              </a:rPr>
              <a:t>Research OS</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97495"/>
            <a:ext cx="10868745" cy="413445"/>
          </a:xfrm>
          <a:prstGeom prst="rect">
            <a:avLst/>
          </a:prstGeom>
          <a:noFill/>
          <a:ln/>
        </p:spPr>
        <p:txBody>
          <a:bodyPr wrap="none" lIns="0" tIns="0" rIns="0" bIns="0" rtlCol="0" anchor="t"/>
          <a:lstStyle/>
          <a:p>
            <a:pPr algn="l" indent="0" marL="0">
              <a:lnSpc>
                <a:spcPct val="104000"/>
              </a:lnSpc>
              <a:buNone/>
            </a:pPr>
            <a:r>
              <a:rPr lang="en-US" sz="2600" b="1" spc="-78" kern="0" dirty="0">
                <a:solidFill>
                  <a:srgbClr val="000000"/>
                </a:solidFill>
                <a:latin typeface="Inter Bold" pitchFamily="34" charset="0"/>
                <a:ea typeface="Inter Bold" pitchFamily="34" charset="-122"/>
                <a:cs typeface="Inter Bold" pitchFamily="34" charset="-120"/>
              </a:rPr>
              <a:t>Kernel Primitives &amp; Agent Execution Contract</a:t>
            </a:r>
            <a:endParaRPr lang="en-US" sz="2600" dirty="0"/>
          </a:p>
        </p:txBody>
      </p:sp>
      <p:sp>
        <p:nvSpPr>
          <p:cNvPr id="3" name="Text 1"/>
          <p:cNvSpPr/>
          <p:nvPr/>
        </p:nvSpPr>
        <p:spPr>
          <a:xfrm>
            <a:off x="661475" y="1242417"/>
            <a:ext cx="5273047"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000000"/>
                </a:solidFill>
                <a:latin typeface="Inter Bold" pitchFamily="34" charset="0"/>
                <a:ea typeface="Inter Bold" pitchFamily="34" charset="-122"/>
                <a:cs typeface="Inter Bold" pitchFamily="34" charset="-120"/>
              </a:rPr>
              <a:t>17 Kernel Primitives</a:t>
            </a:r>
            <a:endParaRPr lang="en-US" sz="1300" dirty="0"/>
          </a:p>
        </p:txBody>
      </p:sp>
      <p:sp>
        <p:nvSpPr>
          <p:cNvPr id="4" name="Text 2"/>
          <p:cNvSpPr/>
          <p:nvPr/>
        </p:nvSpPr>
        <p:spPr>
          <a:xfrm>
            <a:off x="661475" y="1541661"/>
            <a:ext cx="5273047" cy="539948"/>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Every ShiVi system operates on a shared set of contract-driven, versioned primitives. These are not abstractions — they are enforced runtime types with schemas, lifecycle state machines, and policy hooks.</a:t>
            </a:r>
            <a:endParaRPr lang="en-US" sz="1000" dirty="0"/>
          </a:p>
        </p:txBody>
      </p:sp>
      <p:sp>
        <p:nvSpPr>
          <p:cNvPr id="5" name="Shape 3"/>
          <p:cNvSpPr/>
          <p:nvPr/>
        </p:nvSpPr>
        <p:spPr>
          <a:xfrm>
            <a:off x="661475" y="2185789"/>
            <a:ext cx="2590239" cy="1141809"/>
          </a:xfrm>
          <a:prstGeom prst="roundRect">
            <a:avLst>
              <a:gd name="adj" fmla="val 4867"/>
            </a:avLst>
          </a:prstGeom>
          <a:solidFill>
            <a:srgbClr val="FFFFFF"/>
          </a:solidFill>
          <a:ln w="19050">
            <a:solidFill>
              <a:srgbClr val="C0C1D7"/>
            </a:solidFill>
            <a:prstDash val="solid"/>
          </a:ln>
        </p:spPr>
      </p:sp>
      <p:sp>
        <p:nvSpPr>
          <p:cNvPr id="6" name="Text 4"/>
          <p:cNvSpPr/>
          <p:nvPr/>
        </p:nvSpPr>
        <p:spPr>
          <a:xfrm>
            <a:off x="812780" y="2337098"/>
            <a:ext cx="2287629"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Identity</a:t>
            </a:r>
            <a:endParaRPr lang="en-US" sz="1300" dirty="0"/>
          </a:p>
        </p:txBody>
      </p:sp>
      <p:sp>
        <p:nvSpPr>
          <p:cNvPr id="7" name="Text 5"/>
          <p:cNvSpPr/>
          <p:nvPr/>
        </p:nvSpPr>
        <p:spPr>
          <a:xfrm>
            <a:off x="812780" y="2636341"/>
            <a:ext cx="2287629" cy="539948"/>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Capability-bound, SPIFFE/SPIRE-attested identities for users, agents, tools, and services</a:t>
            </a:r>
            <a:endParaRPr lang="en-US" sz="1000" dirty="0"/>
          </a:p>
        </p:txBody>
      </p:sp>
      <p:sp>
        <p:nvSpPr>
          <p:cNvPr id="8" name="Shape 6"/>
          <p:cNvSpPr/>
          <p:nvPr/>
        </p:nvSpPr>
        <p:spPr>
          <a:xfrm>
            <a:off x="3344283" y="2185789"/>
            <a:ext cx="2590239" cy="1141809"/>
          </a:xfrm>
          <a:prstGeom prst="roundRect">
            <a:avLst>
              <a:gd name="adj" fmla="val 4867"/>
            </a:avLst>
          </a:prstGeom>
          <a:solidFill>
            <a:srgbClr val="FFFFFF"/>
          </a:solidFill>
          <a:ln w="19050">
            <a:solidFill>
              <a:srgbClr val="C0C1D7"/>
            </a:solidFill>
            <a:prstDash val="solid"/>
          </a:ln>
        </p:spPr>
      </p:sp>
      <p:sp>
        <p:nvSpPr>
          <p:cNvPr id="9" name="Text 7"/>
          <p:cNvSpPr/>
          <p:nvPr/>
        </p:nvSpPr>
        <p:spPr>
          <a:xfrm>
            <a:off x="3495588" y="2337098"/>
            <a:ext cx="2287629"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Tenant</a:t>
            </a:r>
            <a:endParaRPr lang="en-US" sz="1300" dirty="0"/>
          </a:p>
        </p:txBody>
      </p:sp>
      <p:sp>
        <p:nvSpPr>
          <p:cNvPr id="10" name="Text 8"/>
          <p:cNvSpPr/>
          <p:nvPr/>
        </p:nvSpPr>
        <p:spPr>
          <a:xfrm>
            <a:off x="3495588" y="2636341"/>
            <a:ext cx="2287629" cy="539948"/>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Full multi-tenant isolation across API, DB, cache, vector, graph, events, storage, agents, and billing</a:t>
            </a:r>
            <a:endParaRPr lang="en-US" sz="1000" dirty="0"/>
          </a:p>
        </p:txBody>
      </p:sp>
      <p:sp>
        <p:nvSpPr>
          <p:cNvPr id="11" name="Shape 9"/>
          <p:cNvSpPr/>
          <p:nvPr/>
        </p:nvSpPr>
        <p:spPr>
          <a:xfrm>
            <a:off x="661475" y="3420170"/>
            <a:ext cx="2590239" cy="1141809"/>
          </a:xfrm>
          <a:prstGeom prst="roundRect">
            <a:avLst>
              <a:gd name="adj" fmla="val 4867"/>
            </a:avLst>
          </a:prstGeom>
          <a:solidFill>
            <a:srgbClr val="FFFFFF"/>
          </a:solidFill>
          <a:ln w="19050">
            <a:solidFill>
              <a:srgbClr val="C0C1D7"/>
            </a:solidFill>
            <a:prstDash val="solid"/>
          </a:ln>
        </p:spPr>
      </p:sp>
      <p:sp>
        <p:nvSpPr>
          <p:cNvPr id="12" name="Text 10"/>
          <p:cNvSpPr/>
          <p:nvPr/>
        </p:nvSpPr>
        <p:spPr>
          <a:xfrm>
            <a:off x="812780" y="3571478"/>
            <a:ext cx="2287629"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Policy</a:t>
            </a:r>
            <a:endParaRPr lang="en-US" sz="1300" dirty="0"/>
          </a:p>
        </p:txBody>
      </p:sp>
      <p:sp>
        <p:nvSpPr>
          <p:cNvPr id="13" name="Text 11"/>
          <p:cNvSpPr/>
          <p:nvPr/>
        </p:nvSpPr>
        <p:spPr>
          <a:xfrm>
            <a:off x="812780" y="3870722"/>
            <a:ext cx="2287629" cy="539948"/>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OPA/OpenFGA/Kyverno enforced at runtime; desired-state reconciliation with audit evidence</a:t>
            </a:r>
            <a:endParaRPr lang="en-US" sz="1000" dirty="0"/>
          </a:p>
        </p:txBody>
      </p:sp>
      <p:sp>
        <p:nvSpPr>
          <p:cNvPr id="14" name="Shape 12"/>
          <p:cNvSpPr/>
          <p:nvPr/>
        </p:nvSpPr>
        <p:spPr>
          <a:xfrm>
            <a:off x="3344283" y="3420170"/>
            <a:ext cx="2590239" cy="1141809"/>
          </a:xfrm>
          <a:prstGeom prst="roundRect">
            <a:avLst>
              <a:gd name="adj" fmla="val 4867"/>
            </a:avLst>
          </a:prstGeom>
          <a:solidFill>
            <a:srgbClr val="FFFFFF"/>
          </a:solidFill>
          <a:ln w="19050">
            <a:solidFill>
              <a:srgbClr val="C0C1D7"/>
            </a:solidFill>
            <a:prstDash val="solid"/>
          </a:ln>
        </p:spPr>
      </p:sp>
      <p:sp>
        <p:nvSpPr>
          <p:cNvPr id="15" name="Text 13"/>
          <p:cNvSpPr/>
          <p:nvPr/>
        </p:nvSpPr>
        <p:spPr>
          <a:xfrm>
            <a:off x="3495588" y="3571478"/>
            <a:ext cx="2287629"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Context</a:t>
            </a:r>
            <a:endParaRPr lang="en-US" sz="1300" dirty="0"/>
          </a:p>
        </p:txBody>
      </p:sp>
      <p:sp>
        <p:nvSpPr>
          <p:cNvPr id="16" name="Text 14"/>
          <p:cNvSpPr/>
          <p:nvPr/>
        </p:nvSpPr>
        <p:spPr>
          <a:xfrm>
            <a:off x="3495588" y="3870722"/>
            <a:ext cx="2287629" cy="539948"/>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Versioned, provenance-tracked context packets with quality scoring and firewall enforcement</a:t>
            </a:r>
            <a:endParaRPr lang="en-US" sz="1000" dirty="0"/>
          </a:p>
        </p:txBody>
      </p:sp>
      <p:sp>
        <p:nvSpPr>
          <p:cNvPr id="17" name="Shape 15"/>
          <p:cNvSpPr/>
          <p:nvPr/>
        </p:nvSpPr>
        <p:spPr>
          <a:xfrm>
            <a:off x="661475" y="4654550"/>
            <a:ext cx="2590239" cy="1501775"/>
          </a:xfrm>
          <a:prstGeom prst="roundRect">
            <a:avLst>
              <a:gd name="adj" fmla="val 3700"/>
            </a:avLst>
          </a:prstGeom>
          <a:solidFill>
            <a:srgbClr val="FFFFFF"/>
          </a:solidFill>
          <a:ln w="19050">
            <a:solidFill>
              <a:srgbClr val="C0C1D7"/>
            </a:solidFill>
            <a:prstDash val="solid"/>
          </a:ln>
        </p:spPr>
      </p:sp>
      <p:sp>
        <p:nvSpPr>
          <p:cNvPr id="18" name="Text 16"/>
          <p:cNvSpPr/>
          <p:nvPr/>
        </p:nvSpPr>
        <p:spPr>
          <a:xfrm>
            <a:off x="812780" y="4805859"/>
            <a:ext cx="2287629"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Memory</a:t>
            </a:r>
            <a:endParaRPr lang="en-US" sz="1300" dirty="0"/>
          </a:p>
        </p:txBody>
      </p:sp>
      <p:sp>
        <p:nvSpPr>
          <p:cNvPr id="19" name="Text 17"/>
          <p:cNvSpPr/>
          <p:nvPr/>
        </p:nvSpPr>
        <p:spPr>
          <a:xfrm>
            <a:off x="812780" y="5105102"/>
            <a:ext cx="2287629" cy="539948"/>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Governed agent memory with poisoning defenses, epoch management, and selective retention</a:t>
            </a:r>
            <a:endParaRPr lang="en-US" sz="1000" dirty="0"/>
          </a:p>
        </p:txBody>
      </p:sp>
      <p:sp>
        <p:nvSpPr>
          <p:cNvPr id="20" name="Shape 18"/>
          <p:cNvSpPr/>
          <p:nvPr/>
        </p:nvSpPr>
        <p:spPr>
          <a:xfrm>
            <a:off x="3344283" y="4654550"/>
            <a:ext cx="2590239" cy="1501775"/>
          </a:xfrm>
          <a:prstGeom prst="roundRect">
            <a:avLst>
              <a:gd name="adj" fmla="val 3700"/>
            </a:avLst>
          </a:prstGeom>
          <a:solidFill>
            <a:srgbClr val="FFFFFF"/>
          </a:solidFill>
          <a:ln w="19050">
            <a:solidFill>
              <a:srgbClr val="C0C1D7"/>
            </a:solidFill>
            <a:prstDash val="solid"/>
          </a:ln>
        </p:spPr>
      </p:sp>
      <p:sp>
        <p:nvSpPr>
          <p:cNvPr id="21" name="Text 19"/>
          <p:cNvSpPr/>
          <p:nvPr/>
        </p:nvSpPr>
        <p:spPr>
          <a:xfrm>
            <a:off x="3495588" y="4805859"/>
            <a:ext cx="2287629"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Evidence</a:t>
            </a:r>
            <a:endParaRPr lang="en-US" sz="1300" dirty="0"/>
          </a:p>
        </p:txBody>
      </p:sp>
      <p:sp>
        <p:nvSpPr>
          <p:cNvPr id="22" name="Text 20"/>
          <p:cNvSpPr/>
          <p:nvPr/>
        </p:nvSpPr>
        <p:spPr>
          <a:xfrm>
            <a:off x="3495588" y="5105102"/>
            <a:ext cx="2287629" cy="899914"/>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Immutable provenance ledger: UNKNOWN → DISCOVERED → PLANNED → IMPLEMENTED → TESTED → VERIFIED → PRODUCTION_READY</a:t>
            </a:r>
            <a:endParaRPr lang="en-US" sz="1000" dirty="0"/>
          </a:p>
        </p:txBody>
      </p:sp>
      <p:sp>
        <p:nvSpPr>
          <p:cNvPr id="23" name="Text 21"/>
          <p:cNvSpPr/>
          <p:nvPr/>
        </p:nvSpPr>
        <p:spPr>
          <a:xfrm>
            <a:off x="6263523" y="1242417"/>
            <a:ext cx="5273047"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000000"/>
                </a:solidFill>
                <a:latin typeface="Inter Bold" pitchFamily="34" charset="0"/>
                <a:ea typeface="Inter Bold" pitchFamily="34" charset="-122"/>
                <a:cs typeface="Inter Bold" pitchFamily="34" charset="-120"/>
              </a:rPr>
              <a:t>Agent Execution Flow</a:t>
            </a:r>
            <a:endParaRPr lang="en-US" sz="1300" dirty="0"/>
          </a:p>
        </p:txBody>
      </p:sp>
      <p:sp>
        <p:nvSpPr>
          <p:cNvPr id="24" name="Text 22"/>
          <p:cNvSpPr/>
          <p:nvPr/>
        </p:nvSpPr>
        <p:spPr>
          <a:xfrm>
            <a:off x="6263523" y="1541661"/>
            <a:ext cx="5273047" cy="359966"/>
          </a:xfrm>
          <a:prstGeom prst="rect">
            <a:avLst/>
          </a:prstGeom>
          <a:noFill/>
          <a:ln/>
        </p:spPr>
        <p:txBody>
          <a:bodyPr wrap="square" lIns="0" tIns="0" rIns="0" bIns="0" rtlCol="0" anchor="t">
            <a:normAutofit/>
          </a:bodyPr>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Every agent action traverses a mandatory authorization and verification pipeline. No agent bypasses this flow — it is enforced at the kernel level, not by convention.</a:t>
            </a:r>
            <a:endParaRPr lang="en-US" sz="1000" dirty="0"/>
          </a:p>
        </p:txBody>
      </p:sp>
      <p:pic>
        <p:nvPicPr>
          <p:cNvPr id="25" name="Image 0" descr="preencoded.png">    </p:cNvPr>
          <p:cNvPicPr>
            <a:picLocks noChangeAspect="1"/>
          </p:cNvPicPr>
          <p:nvPr/>
        </p:nvPicPr>
        <p:blipFill>
          <a:blip r:embed="rId1"/>
          <a:stretch>
            <a:fillRect/>
          </a:stretch>
        </p:blipFill>
        <p:spPr>
          <a:xfrm>
            <a:off x="7054475" y="2005806"/>
            <a:ext cx="3691044" cy="2543671"/>
          </a:xfrm>
          <a:prstGeom prst="rect">
            <a:avLst/>
          </a:prstGeom>
        </p:spPr>
      </p:pic>
      <p:sp>
        <p:nvSpPr>
          <p:cNvPr id="26" name="Text 23"/>
          <p:cNvSpPr/>
          <p:nvPr/>
        </p:nvSpPr>
        <p:spPr>
          <a:xfrm>
            <a:off x="7146942" y="3588569"/>
            <a:ext cx="1008650" cy="134360"/>
          </a:xfrm>
          <a:prstGeom prst="rect">
            <a:avLst/>
          </a:prstGeom>
          <a:noFill/>
          <a:ln/>
        </p:spPr>
        <p:txBody>
          <a:bodyPr wrap="none" lIns="0" tIns="0" rIns="0" bIns="0" rtlCol="0" anchor="t"/>
          <a:lstStyle/>
          <a:p>
            <a:pPr algn="ctr" indent="0" marL="0">
              <a:lnSpc>
                <a:spcPct val="104000"/>
              </a:lnSpc>
              <a:buNone/>
            </a:pPr>
            <a:r>
              <a:rPr lang="en-US" sz="800" b="1" spc="-25" kern="0" dirty="0">
                <a:solidFill>
                  <a:srgbClr val="272525"/>
                </a:solidFill>
                <a:latin typeface="Inter Bold" pitchFamily="34" charset="0"/>
                <a:ea typeface="Inter Bold" pitchFamily="34" charset="-122"/>
                <a:cs typeface="Inter Bold" pitchFamily="34" charset="-120"/>
              </a:rPr>
              <a:t>Verify Identity</a:t>
            </a:r>
            <a:endParaRPr lang="en-US" sz="800" dirty="0"/>
          </a:p>
        </p:txBody>
      </p:sp>
      <p:sp>
        <p:nvSpPr>
          <p:cNvPr id="27" name="Text 24"/>
          <p:cNvSpPr/>
          <p:nvPr/>
        </p:nvSpPr>
        <p:spPr>
          <a:xfrm>
            <a:off x="8006455" y="2520403"/>
            <a:ext cx="1041417" cy="134361"/>
          </a:xfrm>
          <a:prstGeom prst="rect">
            <a:avLst/>
          </a:prstGeom>
          <a:noFill/>
          <a:ln/>
        </p:spPr>
        <p:txBody>
          <a:bodyPr wrap="none" lIns="0" tIns="0" rIns="0" bIns="0" rtlCol="0" anchor="t"/>
          <a:lstStyle/>
          <a:p>
            <a:pPr algn="ctr" indent="0" marL="0">
              <a:lnSpc>
                <a:spcPct val="104000"/>
              </a:lnSpc>
              <a:buNone/>
            </a:pPr>
            <a:r>
              <a:rPr lang="en-US" sz="800" b="1" spc="-25" kern="0" dirty="0">
                <a:solidFill>
                  <a:srgbClr val="272525"/>
                </a:solidFill>
                <a:latin typeface="Inter Bold" pitchFamily="34" charset="0"/>
                <a:ea typeface="Inter Bold" pitchFamily="34" charset="-122"/>
                <a:cs typeface="Inter Bold" pitchFamily="34" charset="-120"/>
              </a:rPr>
              <a:t>Resolve Capabilities</a:t>
            </a:r>
            <a:endParaRPr lang="en-US" sz="800" dirty="0"/>
          </a:p>
        </p:txBody>
      </p:sp>
      <p:sp>
        <p:nvSpPr>
          <p:cNvPr id="28" name="Text 25"/>
          <p:cNvSpPr/>
          <p:nvPr/>
        </p:nvSpPr>
        <p:spPr>
          <a:xfrm>
            <a:off x="8705561" y="3901405"/>
            <a:ext cx="1008649" cy="134361"/>
          </a:xfrm>
          <a:prstGeom prst="rect">
            <a:avLst/>
          </a:prstGeom>
          <a:noFill/>
          <a:ln/>
        </p:spPr>
        <p:txBody>
          <a:bodyPr wrap="none" lIns="0" tIns="0" rIns="0" bIns="0" rtlCol="0" anchor="t"/>
          <a:lstStyle/>
          <a:p>
            <a:pPr algn="ctr" indent="0" marL="0">
              <a:lnSpc>
                <a:spcPct val="104000"/>
              </a:lnSpc>
              <a:buNone/>
            </a:pPr>
            <a:r>
              <a:rPr lang="en-US" sz="800" b="1" spc="-25" kern="0" dirty="0">
                <a:solidFill>
                  <a:srgbClr val="272525"/>
                </a:solidFill>
                <a:latin typeface="Inter Bold" pitchFamily="34" charset="0"/>
                <a:ea typeface="Inter Bold" pitchFamily="34" charset="-122"/>
                <a:cs typeface="Inter Bold" pitchFamily="34" charset="-120"/>
              </a:rPr>
              <a:t>Assemble Context</a:t>
            </a:r>
            <a:endParaRPr lang="en-US" sz="800" dirty="0"/>
          </a:p>
        </p:txBody>
      </p:sp>
      <p:sp>
        <p:nvSpPr>
          <p:cNvPr id="29" name="Text 26"/>
          <p:cNvSpPr/>
          <p:nvPr/>
        </p:nvSpPr>
        <p:spPr>
          <a:xfrm>
            <a:off x="9600902" y="2801589"/>
            <a:ext cx="1008649" cy="134360"/>
          </a:xfrm>
          <a:prstGeom prst="rect">
            <a:avLst/>
          </a:prstGeom>
          <a:noFill/>
          <a:ln/>
        </p:spPr>
        <p:txBody>
          <a:bodyPr wrap="none" lIns="0" tIns="0" rIns="0" bIns="0" rtlCol="0" anchor="t"/>
          <a:lstStyle/>
          <a:p>
            <a:pPr algn="ctr" indent="0" marL="0">
              <a:lnSpc>
                <a:spcPct val="104000"/>
              </a:lnSpc>
              <a:buNone/>
            </a:pPr>
            <a:r>
              <a:rPr lang="en-US" sz="800" b="1" spc="-25" kern="0" dirty="0">
                <a:solidFill>
                  <a:srgbClr val="272525"/>
                </a:solidFill>
                <a:latin typeface="Inter Bold" pitchFamily="34" charset="0"/>
                <a:ea typeface="Inter Bold" pitchFamily="34" charset="-122"/>
                <a:cs typeface="Inter Bold" pitchFamily="34" charset="-120"/>
              </a:rPr>
              <a:t>Authorize Policy</a:t>
            </a:r>
            <a:endParaRPr lang="en-US" sz="800" dirty="0"/>
          </a:p>
        </p:txBody>
      </p:sp>
      <p:sp>
        <p:nvSpPr>
          <p:cNvPr id="30" name="Shape 27"/>
          <p:cNvSpPr/>
          <p:nvPr/>
        </p:nvSpPr>
        <p:spPr>
          <a:xfrm>
            <a:off x="6263523" y="4653657"/>
            <a:ext cx="5273047" cy="772716"/>
          </a:xfrm>
          <a:prstGeom prst="roundRect">
            <a:avLst>
              <a:gd name="adj" fmla="val 7192"/>
            </a:avLst>
          </a:prstGeom>
          <a:solidFill>
            <a:srgbClr val="DADBF1"/>
          </a:solidFill>
          <a:ln/>
        </p:spPr>
      </p:sp>
      <p:pic>
        <p:nvPicPr>
          <p:cNvPr id="31" name="Image 1" descr="preencoded.png">    </p:cNvPr>
          <p:cNvPicPr>
            <a:picLocks noChangeAspect="1"/>
          </p:cNvPicPr>
          <p:nvPr/>
        </p:nvPicPr>
        <p:blipFill>
          <a:blip r:embed="rId2"/>
          <a:stretch>
            <a:fillRect/>
          </a:stretch>
        </p:blipFill>
        <p:spPr>
          <a:xfrm>
            <a:off x="6395778" y="4796830"/>
            <a:ext cx="165294" cy="132259"/>
          </a:xfrm>
          <a:prstGeom prst="rect">
            <a:avLst/>
          </a:prstGeom>
        </p:spPr>
      </p:pic>
      <p:sp>
        <p:nvSpPr>
          <p:cNvPr id="32" name="Text 28"/>
          <p:cNvSpPr/>
          <p:nvPr/>
        </p:nvSpPr>
        <p:spPr>
          <a:xfrm>
            <a:off x="6693328" y="4770041"/>
            <a:ext cx="4710987" cy="539948"/>
          </a:xfrm>
          <a:prstGeom prst="rect">
            <a:avLst/>
          </a:prstGeom>
          <a:noFill/>
          <a:ln/>
        </p:spPr>
        <p:txBody>
          <a:bodyPr wrap="square" lIns="0" tIns="0" rIns="0" bIns="0" rtlCol="0" anchor="t">
            <a:normAutofit/>
          </a:bodyPr>
          <a:lstStyle/>
          <a:p>
            <a:pPr algn="l" indent="0" marL="0">
              <a:lnSpc>
                <a:spcPct val="113000"/>
              </a:lnSpc>
              <a:buNone/>
            </a:pPr>
            <a:r>
              <a:rPr lang="en-US" sz="1000" b="1" spc="-21" kern="0" dirty="0">
                <a:solidFill>
                  <a:srgbClr val="000000"/>
                </a:solidFill>
                <a:latin typeface="Inter Bold" pitchFamily="34" charset="0"/>
                <a:ea typeface="Inter Bold" pitchFamily="34" charset="-122"/>
                <a:cs typeface="Inter Bold" pitchFamily="34" charset="-120"/>
              </a:rPr>
              <a:t>Core constraint:</a:t>
            </a:r>
            <a:pPr algn="l" indent="0" marL="0">
              <a:lnSpc>
                <a:spcPct val="113000"/>
              </a:lnSpc>
              <a:buNone/>
            </a:pPr>
            <a:r>
              <a:rPr lang="en-US" sz="1000" spc="-21" kern="0" dirty="0">
                <a:solidFill>
                  <a:srgbClr val="000000"/>
                </a:solidFill>
                <a:latin typeface="Inter" pitchFamily="34" charset="0"/>
                <a:ea typeface="Inter" pitchFamily="34" charset="-122"/>
                <a:cs typeface="Inter" pitchFamily="34" charset="-120"/>
              </a:rPr>
              <a:t> Model proposes. ShiVi authorizes. Risk-tiered autonomy gates high-impact actions behind human approval workflows with full evidence capture.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61876"/>
            <a:ext cx="10868745"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Security, Trust &amp; Zero-Trust Agent Governance</a:t>
            </a:r>
            <a:endParaRPr lang="en-US" sz="2950" dirty="0"/>
          </a:p>
        </p:txBody>
      </p:sp>
      <p:sp>
        <p:nvSpPr>
          <p:cNvPr id="3" name="Text 1"/>
          <p:cNvSpPr/>
          <p:nvPr/>
        </p:nvSpPr>
        <p:spPr>
          <a:xfrm>
            <a:off x="661475" y="1276251"/>
            <a:ext cx="10868745" cy="435372"/>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ShiVi's security model is not perimeter-based. It is a zero-trust, policy-enforced, evidence-producing mesh that governs every agent action, every tool invocation, and every model output at runtime.</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47652"/>
            <a:ext cx="378014" cy="378023"/>
          </a:xfrm>
          <a:prstGeom prst="rect">
            <a:avLst/>
          </a:prstGeom>
        </p:spPr>
      </p:pic>
      <p:sp>
        <p:nvSpPr>
          <p:cNvPr id="5" name="Text 2"/>
          <p:cNvSpPr/>
          <p:nvPr/>
        </p:nvSpPr>
        <p:spPr>
          <a:xfrm>
            <a:off x="661475" y="2376884"/>
            <a:ext cx="5358770"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Identity &amp; Access</a:t>
            </a:r>
            <a:endParaRPr lang="en-US" sz="1450" dirty="0"/>
          </a:p>
        </p:txBody>
      </p:sp>
      <p:sp>
        <p:nvSpPr>
          <p:cNvPr id="6" name="Text 3"/>
          <p:cNvSpPr/>
          <p:nvPr/>
        </p:nvSpPr>
        <p:spPr>
          <a:xfrm>
            <a:off x="661475" y="2685653"/>
            <a:ext cx="5358770" cy="870744"/>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OIDC/OAuth, SPIFFE/SPIRE workload identity, OpenFGA authorization graph, OPA policy engine, Kyverno admission control. Capability-bound identities prevent privilege escalation and cross-tenant access at the cryptographic layer.</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1450" y="1847652"/>
            <a:ext cx="378014" cy="378023"/>
          </a:xfrm>
          <a:prstGeom prst="rect">
            <a:avLst/>
          </a:prstGeom>
        </p:spPr>
      </p:pic>
      <p:sp>
        <p:nvSpPr>
          <p:cNvPr id="8" name="Text 4"/>
          <p:cNvSpPr/>
          <p:nvPr/>
        </p:nvSpPr>
        <p:spPr>
          <a:xfrm>
            <a:off x="6171450" y="2376884"/>
            <a:ext cx="5358770"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Tri-Layer Agent Firewall</a:t>
            </a:r>
            <a:endParaRPr lang="en-US" sz="1450" dirty="0"/>
          </a:p>
        </p:txBody>
      </p:sp>
      <p:sp>
        <p:nvSpPr>
          <p:cNvPr id="9" name="Text 5"/>
          <p:cNvSpPr/>
          <p:nvPr/>
        </p:nvSpPr>
        <p:spPr>
          <a:xfrm>
            <a:off x="6171450" y="2685653"/>
            <a:ext cx="5358770" cy="870744"/>
          </a:xfrm>
          <a:prstGeom prst="rect">
            <a:avLst/>
          </a:prstGeom>
          <a:noFill/>
          <a:ln/>
        </p:spPr>
        <p:txBody>
          <a:bodyPr wrap="square" lIns="0" tIns="0" rIns="0" bIns="0" rtlCol="0" anchor="t">
            <a:normAutofit/>
          </a:bodyPr>
          <a:lstStyle/>
          <a:p>
            <a:pPr algn="l" indent="0" marL="0">
              <a:lnSpc>
                <a:spcPct val="120000"/>
              </a:lnSpc>
              <a:buNone/>
            </a:pPr>
            <a:r>
              <a:rPr lang="en-US" sz="1150" b="1" spc="-24" kern="0" dirty="0">
                <a:solidFill>
                  <a:srgbClr val="272525"/>
                </a:solidFill>
                <a:latin typeface="Inter Bold" pitchFamily="34" charset="0"/>
                <a:ea typeface="Inter Bold" pitchFamily="34" charset="-122"/>
                <a:cs typeface="Inter Bold" pitchFamily="34" charset="-120"/>
              </a:rPr>
              <a:t>Intent Firewall</a:t>
            </a:r>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 detects prompt injection and unsafe delegations before execution. </a:t>
            </a:r>
            <a:pPr algn="l" indent="0" marL="0">
              <a:lnSpc>
                <a:spcPct val="120000"/>
              </a:lnSpc>
              <a:buNone/>
            </a:pPr>
            <a:r>
              <a:rPr lang="en-US" sz="1150" b="1" spc="-24" kern="0" dirty="0">
                <a:solidFill>
                  <a:srgbClr val="272525"/>
                </a:solidFill>
                <a:latin typeface="Inter Bold" pitchFamily="34" charset="0"/>
                <a:ea typeface="Inter Bold" pitchFamily="34" charset="-122"/>
                <a:cs typeface="Inter Bold" pitchFamily="34" charset="-120"/>
              </a:rPr>
              <a:t>Capability Firewall</a:t>
            </a:r>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 enforces least-privilege tool access at runtime. </a:t>
            </a:r>
            <a:pPr algn="l" indent="0" marL="0">
              <a:lnSpc>
                <a:spcPct val="120000"/>
              </a:lnSpc>
              <a:buNone/>
            </a:pPr>
            <a:r>
              <a:rPr lang="en-US" sz="1150" b="1" spc="-24" kern="0" dirty="0">
                <a:solidFill>
                  <a:srgbClr val="272525"/>
                </a:solidFill>
                <a:latin typeface="Inter Bold" pitchFamily="34" charset="0"/>
                <a:ea typeface="Inter Bold" pitchFamily="34" charset="-122"/>
                <a:cs typeface="Inter Bold" pitchFamily="34" charset="-120"/>
              </a:rPr>
              <a:t>Context Firewall</a:t>
            </a:r>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 prevents memory/context poisoning and untrusted content injection.</a:t>
            </a:r>
            <a:endParaRPr lang="en-US" sz="11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798292"/>
            <a:ext cx="378014" cy="378023"/>
          </a:xfrm>
          <a:prstGeom prst="rect">
            <a:avLst/>
          </a:prstGeom>
        </p:spPr>
      </p:pic>
      <p:sp>
        <p:nvSpPr>
          <p:cNvPr id="11" name="Text 6"/>
          <p:cNvSpPr/>
          <p:nvPr/>
        </p:nvSpPr>
        <p:spPr>
          <a:xfrm>
            <a:off x="661475" y="4327525"/>
            <a:ext cx="5358770"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Supply-Chain &amp; Provenance</a:t>
            </a:r>
            <a:endParaRPr lang="en-US" sz="1450" dirty="0"/>
          </a:p>
        </p:txBody>
      </p:sp>
      <p:sp>
        <p:nvSpPr>
          <p:cNvPr id="12" name="Text 7"/>
          <p:cNvSpPr/>
          <p:nvPr/>
        </p:nvSpPr>
        <p:spPr>
          <a:xfrm>
            <a:off x="661475" y="4636294"/>
            <a:ext cx="5358770" cy="653058"/>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Sigstore/Cosign artifact signing, Trivy vulnerability scanning, SBOM and AI-BOM generation, Cilium/Hubble network policy, Secrets management, DLP enforcement, and crypto agility with Post-Quantum Cryptography readiness.</a:t>
            </a:r>
            <a:endParaRPr lang="en-US" sz="11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1450" y="3798292"/>
            <a:ext cx="378014" cy="378023"/>
          </a:xfrm>
          <a:prstGeom prst="rect">
            <a:avLst/>
          </a:prstGeom>
        </p:spPr>
      </p:pic>
      <p:sp>
        <p:nvSpPr>
          <p:cNvPr id="14" name="Text 8"/>
          <p:cNvSpPr/>
          <p:nvPr/>
        </p:nvSpPr>
        <p:spPr>
          <a:xfrm>
            <a:off x="6171450" y="4327525"/>
            <a:ext cx="5358770"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Evidence Ledger &amp; Auditability</a:t>
            </a:r>
            <a:endParaRPr lang="en-US" sz="1450" dirty="0"/>
          </a:p>
        </p:txBody>
      </p:sp>
      <p:sp>
        <p:nvSpPr>
          <p:cNvPr id="15" name="Text 9"/>
          <p:cNvSpPr/>
          <p:nvPr/>
        </p:nvSpPr>
        <p:spPr>
          <a:xfrm>
            <a:off x="6171450" y="4636294"/>
            <a:ext cx="5358770" cy="870744"/>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Every agent action, policy decision, tool invocation, and model output produces an immutable evidence record. The Evidence Ledger supports compliance audits, incident reconstruction, and regulatory reporting with full provenance chains.</a:t>
            </a:r>
            <a:endParaRPr lang="en-US" sz="1150" dirty="0"/>
          </a:p>
        </p:txBody>
      </p:sp>
      <p:sp>
        <p:nvSpPr>
          <p:cNvPr id="16" name="Text 10"/>
          <p:cNvSpPr/>
          <p:nvPr/>
        </p:nvSpPr>
        <p:spPr>
          <a:xfrm>
            <a:off x="661475" y="5643066"/>
            <a:ext cx="10868745" cy="653058"/>
          </a:xfrm>
          <a:prstGeom prst="rect">
            <a:avLst/>
          </a:prstGeom>
          <a:noFill/>
          <a:ln/>
        </p:spPr>
        <p:txBody>
          <a:bodyPr wrap="square" lIns="0" tIns="0" rIns="0" bIns="0" rtlCol="0" anchor="t">
            <a:normAutofit/>
          </a:bodyPr>
          <a:lstStyle/>
          <a:p>
            <a:pPr algn="l" indent="0" marL="0">
              <a:lnSpc>
                <a:spcPct val="120000"/>
              </a:lnSpc>
              <a:buNone/>
            </a:pPr>
            <a:r>
              <a:rPr lang="en-US" sz="1150" b="1" spc="-24" kern="0" dirty="0">
                <a:solidFill>
                  <a:srgbClr val="272525"/>
                </a:solidFill>
                <a:latin typeface="Inter Bold" pitchFamily="34" charset="0"/>
                <a:ea typeface="Inter Bold" pitchFamily="34" charset="-122"/>
                <a:cs typeface="Inter Bold" pitchFamily="34" charset="-120"/>
              </a:rPr>
              <a:t>Threat surface addressed:</a:t>
            </a:r>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 Prompt injection, indirect injection, tool abuse, memory poisoning, context poisoning, privilege escalation, cross-tenant access, malicious MCP/A2A servers, unsafe delegation, data exfiltration, and supply-chain compromise. High-assurance mode and confidential execution profiles available for regulated workloads.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19125"/>
            <a:ext cx="10868745" cy="347960"/>
          </a:xfrm>
          <a:prstGeom prst="rect">
            <a:avLst/>
          </a:prstGeom>
          <a:noFill/>
          <a:ln/>
        </p:spPr>
        <p:txBody>
          <a:bodyPr wrap="none" lIns="0" tIns="0" rIns="0" bIns="0" rtlCol="0" anchor="t"/>
          <a:lstStyle/>
          <a:p>
            <a:pPr algn="l" indent="0" marL="0">
              <a:lnSpc>
                <a:spcPct val="104000"/>
              </a:lnSpc>
              <a:buNone/>
            </a:pPr>
            <a:r>
              <a:rPr lang="en-US" sz="2150" b="1" spc="-66" kern="0" dirty="0">
                <a:solidFill>
                  <a:srgbClr val="000000"/>
                </a:solidFill>
                <a:latin typeface="Inter Bold" pitchFamily="34" charset="0"/>
                <a:ea typeface="Inter Bold" pitchFamily="34" charset="-122"/>
                <a:cs typeface="Inter Bold" pitchFamily="34" charset="-120"/>
              </a:rPr>
              <a:t>Context Loop MAX &amp; AI / RAG Architecture</a:t>
            </a:r>
            <a:endParaRPr lang="en-US" sz="2150" dirty="0"/>
          </a:p>
        </p:txBody>
      </p:sp>
      <p:sp>
        <p:nvSpPr>
          <p:cNvPr id="3" name="Text 1"/>
          <p:cNvSpPr/>
          <p:nvPr/>
        </p:nvSpPr>
        <p:spPr>
          <a:xfrm>
            <a:off x="661475" y="1130995"/>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000000"/>
                </a:solidFill>
                <a:latin typeface="Inter Bold" pitchFamily="34" charset="0"/>
                <a:ea typeface="Inter Bold" pitchFamily="34" charset="-122"/>
                <a:cs typeface="Inter Bold" pitchFamily="34" charset="-120"/>
              </a:rPr>
              <a:t>Context Loop MAX</a:t>
            </a:r>
            <a:endParaRPr lang="en-US" sz="1050" dirty="0"/>
          </a:p>
        </p:txBody>
      </p:sp>
      <p:sp>
        <p:nvSpPr>
          <p:cNvPr id="4" name="Text 2"/>
          <p:cNvSpPr/>
          <p:nvPr/>
        </p:nvSpPr>
        <p:spPr>
          <a:xfrm>
            <a:off x="661475" y="1370509"/>
            <a:ext cx="5298546" cy="424458"/>
          </a:xfrm>
          <a:prstGeom prst="rect">
            <a:avLst/>
          </a:prstGeom>
          <a:noFill/>
          <a:ln/>
        </p:spPr>
        <p:txBody>
          <a:bodyPr wrap="square" lIns="0" tIns="0" rIns="0" bIns="0" rtlCol="0" anchor="t">
            <a:normAutofit/>
          </a:bodyPr>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Context engineering is the core differentiator of ShiVi's AI fabric. The platform does not blindly append conversation history or retrieved documents. It runs a 12-phase context lifecycle that produces a scored, verified, budget-constrained Context Packet before any model receives input.</a:t>
            </a:r>
            <a:endParaRPr lang="en-US" sz="850" dirty="0"/>
          </a:p>
        </p:txBody>
      </p:sp>
      <p:pic>
        <p:nvPicPr>
          <p:cNvPr id="5" name="Image 0" descr="preencoded.png">    </p:cNvPr>
          <p:cNvPicPr>
            <a:picLocks noChangeAspect="1"/>
          </p:cNvPicPr>
          <p:nvPr/>
        </p:nvPicPr>
        <p:blipFill>
          <a:blip r:embed="rId1"/>
          <a:stretch>
            <a:fillRect/>
          </a:stretch>
        </p:blipFill>
        <p:spPr>
          <a:xfrm>
            <a:off x="1588750" y="1868686"/>
            <a:ext cx="3443995" cy="1350169"/>
          </a:xfrm>
          <a:prstGeom prst="rect">
            <a:avLst/>
          </a:prstGeom>
        </p:spPr>
      </p:pic>
      <p:sp>
        <p:nvSpPr>
          <p:cNvPr id="6" name="Text 3"/>
          <p:cNvSpPr/>
          <p:nvPr/>
        </p:nvSpPr>
        <p:spPr>
          <a:xfrm>
            <a:off x="1671199" y="1934901"/>
            <a:ext cx="630454" cy="101325"/>
          </a:xfrm>
          <a:prstGeom prst="rect">
            <a:avLst/>
          </a:prstGeom>
          <a:noFill/>
          <a:ln/>
        </p:spPr>
        <p:txBody>
          <a:bodyPr wrap="none" lIns="0" tIns="0" rIns="0" bIns="0" rtlCol="0" anchor="t"/>
          <a:lstStyle/>
          <a:p>
            <a:pPr algn="r" indent="0" marL="0">
              <a:lnSpc>
                <a:spcPct val="104000"/>
              </a:lnSpc>
              <a:buNone/>
            </a:pPr>
            <a:r>
              <a:rPr lang="en-US" sz="600" b="1" spc="-19" kern="0" dirty="0">
                <a:solidFill>
                  <a:srgbClr val="000000"/>
                </a:solidFill>
                <a:latin typeface="Inter Bold" pitchFamily="34" charset="0"/>
                <a:ea typeface="Inter Bold" pitchFamily="34" charset="-122"/>
                <a:cs typeface="Inter Bold" pitchFamily="34" charset="-120"/>
              </a:rPr>
              <a:t>Discover &amp; Index</a:t>
            </a:r>
            <a:endParaRPr lang="en-US" sz="600" dirty="0"/>
          </a:p>
        </p:txBody>
      </p:sp>
      <p:sp>
        <p:nvSpPr>
          <p:cNvPr id="7" name="Text 4"/>
          <p:cNvSpPr/>
          <p:nvPr/>
        </p:nvSpPr>
        <p:spPr>
          <a:xfrm>
            <a:off x="4319780" y="1934901"/>
            <a:ext cx="630453" cy="202651"/>
          </a:xfrm>
          <a:prstGeom prst="rect">
            <a:avLst/>
          </a:prstGeom>
          <a:noFill/>
          <a:ln/>
        </p:spPr>
        <p:txBody>
          <a:bodyPr wrap="square" lIns="0" tIns="0" rIns="0" bIns="0" rtlCol="0" anchor="t">
            <a:normAutofit/>
          </a:bodyPr>
          <a:lstStyle/>
          <a:p>
            <a:pPr algn="l" indent="0" marL="0">
              <a:lnSpc>
                <a:spcPct val="104000"/>
              </a:lnSpc>
              <a:buNone/>
            </a:pPr>
            <a:r>
              <a:rPr lang="en-US" sz="600" b="1" spc="-19" kern="0" dirty="0">
                <a:solidFill>
                  <a:srgbClr val="000000"/>
                </a:solidFill>
                <a:latin typeface="Inter Bold" pitchFamily="34" charset="0"/>
                <a:ea typeface="Inter Bold" pitchFamily="34" charset="-122"/>
                <a:cs typeface="Inter Bold" pitchFamily="34" charset="-120"/>
              </a:rPr>
              <a:t>Understand &amp; Model</a:t>
            </a:r>
            <a:endParaRPr lang="en-US" sz="600" dirty="0"/>
          </a:p>
        </p:txBody>
      </p:sp>
      <p:sp>
        <p:nvSpPr>
          <p:cNvPr id="8" name="Text 5"/>
          <p:cNvSpPr/>
          <p:nvPr/>
        </p:nvSpPr>
        <p:spPr>
          <a:xfrm>
            <a:off x="4319780" y="3051282"/>
            <a:ext cx="630453" cy="101326"/>
          </a:xfrm>
          <a:prstGeom prst="rect">
            <a:avLst/>
          </a:prstGeom>
          <a:noFill/>
          <a:ln/>
        </p:spPr>
        <p:txBody>
          <a:bodyPr wrap="none" lIns="0" tIns="0" rIns="0" bIns="0" rtlCol="0" anchor="t"/>
          <a:lstStyle/>
          <a:p>
            <a:pPr algn="l" indent="0" marL="0">
              <a:lnSpc>
                <a:spcPct val="104000"/>
              </a:lnSpc>
              <a:buNone/>
            </a:pPr>
            <a:r>
              <a:rPr lang="en-US" sz="600" b="1" spc="-19" kern="0" dirty="0">
                <a:solidFill>
                  <a:srgbClr val="000000"/>
                </a:solidFill>
                <a:latin typeface="Inter Bold" pitchFamily="34" charset="0"/>
                <a:ea typeface="Inter Bold" pitchFamily="34" charset="-122"/>
                <a:cs typeface="Inter Bold" pitchFamily="34" charset="-120"/>
              </a:rPr>
              <a:t>Plan &amp; Execute</a:t>
            </a:r>
            <a:endParaRPr lang="en-US" sz="600" dirty="0"/>
          </a:p>
        </p:txBody>
      </p:sp>
      <p:sp>
        <p:nvSpPr>
          <p:cNvPr id="9" name="Text 6"/>
          <p:cNvSpPr/>
          <p:nvPr/>
        </p:nvSpPr>
        <p:spPr>
          <a:xfrm>
            <a:off x="1671199" y="2949957"/>
            <a:ext cx="630454" cy="202651"/>
          </a:xfrm>
          <a:prstGeom prst="rect">
            <a:avLst/>
          </a:prstGeom>
          <a:noFill/>
          <a:ln/>
        </p:spPr>
        <p:txBody>
          <a:bodyPr wrap="square" lIns="0" tIns="0" rIns="0" bIns="0" rtlCol="0" anchor="t">
            <a:normAutofit/>
          </a:bodyPr>
          <a:lstStyle/>
          <a:p>
            <a:pPr algn="r" indent="0" marL="0">
              <a:lnSpc>
                <a:spcPct val="104000"/>
              </a:lnSpc>
              <a:buNone/>
            </a:pPr>
            <a:r>
              <a:rPr lang="en-US" sz="600" b="1" spc="-19" kern="0" dirty="0">
                <a:solidFill>
                  <a:srgbClr val="000000"/>
                </a:solidFill>
                <a:latin typeface="Inter Bold" pitchFamily="34" charset="0"/>
                <a:ea typeface="Inter Bold" pitchFamily="34" charset="-122"/>
                <a:cs typeface="Inter Bold" pitchFamily="34" charset="-120"/>
              </a:rPr>
              <a:t>Verify, Measure &amp; Update</a:t>
            </a:r>
            <a:endParaRPr lang="en-US" sz="600" dirty="0"/>
          </a:p>
        </p:txBody>
      </p:sp>
      <p:sp>
        <p:nvSpPr>
          <p:cNvPr id="10" name="Text 7"/>
          <p:cNvSpPr/>
          <p:nvPr/>
        </p:nvSpPr>
        <p:spPr>
          <a:xfrm>
            <a:off x="661475" y="3292574"/>
            <a:ext cx="5298546" cy="424458"/>
          </a:xfrm>
          <a:prstGeom prst="rect">
            <a:avLst/>
          </a:prstGeom>
          <a:noFill/>
          <a:ln/>
        </p:spPr>
        <p:txBody>
          <a:bodyPr wrap="square" lIns="0" tIns="0" rIns="0" bIns="0" rtlCol="0" anchor="t">
            <a:normAutofit/>
          </a:bodyPr>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Each Context Packet carries: source provenance, freshness scores, trust tier classification, compression metadata, epoch markers, and a Context Quality Score. External and retrieved content is treated as untrusted by default and passes through the Context Firewall before assembly.</a:t>
            </a:r>
            <a:endParaRPr lang="en-US" sz="850" dirty="0"/>
          </a:p>
        </p:txBody>
      </p:sp>
      <p:sp>
        <p:nvSpPr>
          <p:cNvPr id="11" name="Text 8"/>
          <p:cNvSpPr/>
          <p:nvPr/>
        </p:nvSpPr>
        <p:spPr>
          <a:xfrm>
            <a:off x="6238024" y="1130995"/>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000000"/>
                </a:solidFill>
                <a:latin typeface="Inter Bold" pitchFamily="34" charset="0"/>
                <a:ea typeface="Inter Bold" pitchFamily="34" charset="-122"/>
                <a:cs typeface="Inter Bold" pitchFamily="34" charset="-120"/>
              </a:rPr>
              <a:t>Enterprise RAG &amp; AI Gateway</a:t>
            </a:r>
            <a:endParaRPr lang="en-US" sz="1050" dirty="0"/>
          </a:p>
        </p:txBody>
      </p:sp>
      <p:sp>
        <p:nvSpPr>
          <p:cNvPr id="12" name="Text 9"/>
          <p:cNvSpPr/>
          <p:nvPr/>
        </p:nvSpPr>
        <p:spPr>
          <a:xfrm>
            <a:off x="6238024" y="1370509"/>
            <a:ext cx="5298546" cy="424458"/>
          </a:xfrm>
          <a:prstGeom prst="rect">
            <a:avLst/>
          </a:prstGeom>
          <a:noFill/>
          <a:ln/>
        </p:spPr>
        <p:txBody>
          <a:bodyPr wrap="square" lIns="0" tIns="0" rIns="0" bIns="0" rtlCol="0" anchor="t">
            <a:normAutofit/>
          </a:bodyPr>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The AI Gateway and Model Router sit in front of all model invocations, providing unified routing, cost attribution, rate limiting, fallback, and observability. The Enterprise RAG pipeline layers context engineering on top of vector, graph, and full-text retrieval.</a:t>
            </a:r>
            <a:endParaRPr lang="en-US" sz="850" dirty="0"/>
          </a:p>
        </p:txBody>
      </p:sp>
      <p:sp>
        <p:nvSpPr>
          <p:cNvPr id="13" name="Text 10"/>
          <p:cNvSpPr/>
          <p:nvPr/>
        </p:nvSpPr>
        <p:spPr>
          <a:xfrm>
            <a:off x="6238024" y="1868686"/>
            <a:ext cx="222641" cy="139105"/>
          </a:xfrm>
          <a:prstGeom prst="rect">
            <a:avLst/>
          </a:prstGeom>
          <a:noFill/>
          <a:ln/>
        </p:spPr>
        <p:txBody>
          <a:bodyPr wrap="none" lIns="0" tIns="0" rIns="0" bIns="0" rtlCol="0" anchor="ctr"/>
          <a:lstStyle/>
          <a:p>
            <a:pPr algn="l" indent="0" marL="0">
              <a:lnSpc>
                <a:spcPct val="100000"/>
              </a:lnSpc>
              <a:buNone/>
            </a:pPr>
            <a:r>
              <a:rPr lang="en-US" sz="850" spc="-26" kern="0" dirty="0">
                <a:solidFill>
                  <a:srgbClr val="272525"/>
                </a:solidFill>
                <a:latin typeface="Inter Light" pitchFamily="34" charset="0"/>
                <a:ea typeface="Inter Light" pitchFamily="34" charset="-122"/>
                <a:cs typeface="Inter Light" pitchFamily="34" charset="-120"/>
              </a:rPr>
              <a:t>01</a:t>
            </a:r>
            <a:endParaRPr lang="en-US" sz="850" dirty="0"/>
          </a:p>
        </p:txBody>
      </p:sp>
      <p:sp>
        <p:nvSpPr>
          <p:cNvPr id="14" name="Shape 11"/>
          <p:cNvSpPr/>
          <p:nvPr/>
        </p:nvSpPr>
        <p:spPr>
          <a:xfrm>
            <a:off x="6238024" y="2045097"/>
            <a:ext cx="5298546" cy="12700"/>
          </a:xfrm>
          <a:prstGeom prst="rect">
            <a:avLst/>
          </a:prstGeom>
          <a:solidFill>
            <a:srgbClr val="4950BC"/>
          </a:solidFill>
          <a:ln/>
        </p:spPr>
      </p:sp>
      <p:sp>
        <p:nvSpPr>
          <p:cNvPr id="15" name="Text 12"/>
          <p:cNvSpPr/>
          <p:nvPr/>
        </p:nvSpPr>
        <p:spPr>
          <a:xfrm>
            <a:off x="6238024" y="2126159"/>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272525"/>
                </a:solidFill>
                <a:latin typeface="Inter Bold" pitchFamily="34" charset="0"/>
                <a:ea typeface="Inter Bold" pitchFamily="34" charset="-122"/>
                <a:cs typeface="Inter Bold" pitchFamily="34" charset="-120"/>
              </a:rPr>
              <a:t>Query Understanding</a:t>
            </a:r>
            <a:endParaRPr lang="en-US" sz="1050" dirty="0"/>
          </a:p>
        </p:txBody>
      </p:sp>
      <p:sp>
        <p:nvSpPr>
          <p:cNvPr id="16" name="Text 13"/>
          <p:cNvSpPr/>
          <p:nvPr/>
        </p:nvSpPr>
        <p:spPr>
          <a:xfrm>
            <a:off x="6238024" y="2365673"/>
            <a:ext cx="5298546" cy="141486"/>
          </a:xfrm>
          <a:prstGeom prst="rect">
            <a:avLst/>
          </a:prstGeom>
          <a:noFill/>
          <a:ln/>
        </p:spPr>
        <p:txBody>
          <a:bodyPr wrap="none" lIns="0" tIns="0" rIns="0" bIns="0" rtlCol="0" anchor="t"/>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Intent classification, entity extraction, query decomposition and sub-question generation</a:t>
            </a:r>
            <a:endParaRPr lang="en-US" sz="850" dirty="0"/>
          </a:p>
        </p:txBody>
      </p:sp>
      <p:sp>
        <p:nvSpPr>
          <p:cNvPr id="17" name="Text 14"/>
          <p:cNvSpPr/>
          <p:nvPr/>
        </p:nvSpPr>
        <p:spPr>
          <a:xfrm>
            <a:off x="6238024" y="2656185"/>
            <a:ext cx="222641" cy="139105"/>
          </a:xfrm>
          <a:prstGeom prst="rect">
            <a:avLst/>
          </a:prstGeom>
          <a:noFill/>
          <a:ln/>
        </p:spPr>
        <p:txBody>
          <a:bodyPr wrap="none" lIns="0" tIns="0" rIns="0" bIns="0" rtlCol="0" anchor="ctr"/>
          <a:lstStyle/>
          <a:p>
            <a:pPr algn="l" indent="0" marL="0">
              <a:lnSpc>
                <a:spcPct val="100000"/>
              </a:lnSpc>
              <a:buNone/>
            </a:pPr>
            <a:r>
              <a:rPr lang="en-US" sz="850" spc="-26" kern="0" dirty="0">
                <a:solidFill>
                  <a:srgbClr val="272525"/>
                </a:solidFill>
                <a:latin typeface="Inter Light" pitchFamily="34" charset="0"/>
                <a:ea typeface="Inter Light" pitchFamily="34" charset="-122"/>
                <a:cs typeface="Inter Light" pitchFamily="34" charset="-120"/>
              </a:rPr>
              <a:t>02</a:t>
            </a:r>
            <a:endParaRPr lang="en-US" sz="850" dirty="0"/>
          </a:p>
        </p:txBody>
      </p:sp>
      <p:sp>
        <p:nvSpPr>
          <p:cNvPr id="18" name="Shape 15"/>
          <p:cNvSpPr/>
          <p:nvPr/>
        </p:nvSpPr>
        <p:spPr>
          <a:xfrm>
            <a:off x="6238024" y="2832596"/>
            <a:ext cx="5298546" cy="12700"/>
          </a:xfrm>
          <a:prstGeom prst="rect">
            <a:avLst/>
          </a:prstGeom>
          <a:solidFill>
            <a:srgbClr val="4950BC"/>
          </a:solidFill>
          <a:ln/>
        </p:spPr>
      </p:sp>
      <p:sp>
        <p:nvSpPr>
          <p:cNvPr id="19" name="Text 16"/>
          <p:cNvSpPr/>
          <p:nvPr/>
        </p:nvSpPr>
        <p:spPr>
          <a:xfrm>
            <a:off x="6238024" y="2913658"/>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272525"/>
                </a:solidFill>
                <a:latin typeface="Inter Bold" pitchFamily="34" charset="0"/>
                <a:ea typeface="Inter Bold" pitchFamily="34" charset="-122"/>
                <a:cs typeface="Inter Bold" pitchFamily="34" charset="-120"/>
              </a:rPr>
              <a:t>Multi-Source Retrieval</a:t>
            </a:r>
            <a:endParaRPr lang="en-US" sz="1050" dirty="0"/>
          </a:p>
        </p:txBody>
      </p:sp>
      <p:sp>
        <p:nvSpPr>
          <p:cNvPr id="20" name="Text 17"/>
          <p:cNvSpPr/>
          <p:nvPr/>
        </p:nvSpPr>
        <p:spPr>
          <a:xfrm>
            <a:off x="6238024" y="3153172"/>
            <a:ext cx="5298546" cy="282972"/>
          </a:xfrm>
          <a:prstGeom prst="rect">
            <a:avLst/>
          </a:prstGeom>
          <a:noFill/>
          <a:ln/>
        </p:spPr>
        <p:txBody>
          <a:bodyPr wrap="square" lIns="0" tIns="0" rIns="0" bIns="0" rtlCol="0" anchor="t">
            <a:normAutofit/>
          </a:bodyPr>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Vector DB, Knowledge Graph (Neo4j), OpenSearch full-text, ClickHouse analytics, and structured DB retrieval in parallel</a:t>
            </a:r>
            <a:endParaRPr lang="en-US" sz="850" dirty="0"/>
          </a:p>
        </p:txBody>
      </p:sp>
      <p:sp>
        <p:nvSpPr>
          <p:cNvPr id="21" name="Text 18"/>
          <p:cNvSpPr/>
          <p:nvPr/>
        </p:nvSpPr>
        <p:spPr>
          <a:xfrm>
            <a:off x="6238024" y="3585170"/>
            <a:ext cx="222641" cy="139105"/>
          </a:xfrm>
          <a:prstGeom prst="rect">
            <a:avLst/>
          </a:prstGeom>
          <a:noFill/>
          <a:ln/>
        </p:spPr>
        <p:txBody>
          <a:bodyPr wrap="none" lIns="0" tIns="0" rIns="0" bIns="0" rtlCol="0" anchor="ctr"/>
          <a:lstStyle/>
          <a:p>
            <a:pPr algn="l" indent="0" marL="0">
              <a:lnSpc>
                <a:spcPct val="100000"/>
              </a:lnSpc>
              <a:buNone/>
            </a:pPr>
            <a:r>
              <a:rPr lang="en-US" sz="850" spc="-26" kern="0" dirty="0">
                <a:solidFill>
                  <a:srgbClr val="272525"/>
                </a:solidFill>
                <a:latin typeface="Inter Light" pitchFamily="34" charset="0"/>
                <a:ea typeface="Inter Light" pitchFamily="34" charset="-122"/>
                <a:cs typeface="Inter Light" pitchFamily="34" charset="-120"/>
              </a:rPr>
              <a:t>03</a:t>
            </a:r>
            <a:endParaRPr lang="en-US" sz="850" dirty="0"/>
          </a:p>
        </p:txBody>
      </p:sp>
      <p:sp>
        <p:nvSpPr>
          <p:cNvPr id="22" name="Shape 19"/>
          <p:cNvSpPr/>
          <p:nvPr/>
        </p:nvSpPr>
        <p:spPr>
          <a:xfrm>
            <a:off x="6238024" y="3761581"/>
            <a:ext cx="5298546" cy="12700"/>
          </a:xfrm>
          <a:prstGeom prst="rect">
            <a:avLst/>
          </a:prstGeom>
          <a:solidFill>
            <a:srgbClr val="4950BC"/>
          </a:solidFill>
          <a:ln/>
        </p:spPr>
      </p:sp>
      <p:sp>
        <p:nvSpPr>
          <p:cNvPr id="23" name="Text 20"/>
          <p:cNvSpPr/>
          <p:nvPr/>
        </p:nvSpPr>
        <p:spPr>
          <a:xfrm>
            <a:off x="6238024" y="3842643"/>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272525"/>
                </a:solidFill>
                <a:latin typeface="Inter Bold" pitchFamily="34" charset="0"/>
                <a:ea typeface="Inter Bold" pitchFamily="34" charset="-122"/>
                <a:cs typeface="Inter Bold" pitchFamily="34" charset="-120"/>
              </a:rPr>
              <a:t>Context Assembly</a:t>
            </a:r>
            <a:endParaRPr lang="en-US" sz="1050" dirty="0"/>
          </a:p>
        </p:txBody>
      </p:sp>
      <p:sp>
        <p:nvSpPr>
          <p:cNvPr id="24" name="Text 21"/>
          <p:cNvSpPr/>
          <p:nvPr/>
        </p:nvSpPr>
        <p:spPr>
          <a:xfrm>
            <a:off x="6238024" y="4082157"/>
            <a:ext cx="5298546" cy="282972"/>
          </a:xfrm>
          <a:prstGeom prst="rect">
            <a:avLst/>
          </a:prstGeom>
          <a:noFill/>
          <a:ln/>
        </p:spPr>
        <p:txBody>
          <a:bodyPr wrap="square" lIns="0" tIns="0" rIns="0" bIns="0" rtlCol="0" anchor="t">
            <a:normAutofit/>
          </a:bodyPr>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Collect → Classify → Filter → Rank → Deduplicate → Compress → Verify → Budget → Assemble with Context Firewall enforcement</a:t>
            </a:r>
            <a:endParaRPr lang="en-US" sz="850" dirty="0"/>
          </a:p>
        </p:txBody>
      </p:sp>
      <p:sp>
        <p:nvSpPr>
          <p:cNvPr id="25" name="Text 22"/>
          <p:cNvSpPr/>
          <p:nvPr/>
        </p:nvSpPr>
        <p:spPr>
          <a:xfrm>
            <a:off x="6238024" y="4514155"/>
            <a:ext cx="222641" cy="139105"/>
          </a:xfrm>
          <a:prstGeom prst="rect">
            <a:avLst/>
          </a:prstGeom>
          <a:noFill/>
          <a:ln/>
        </p:spPr>
        <p:txBody>
          <a:bodyPr wrap="none" lIns="0" tIns="0" rIns="0" bIns="0" rtlCol="0" anchor="ctr"/>
          <a:lstStyle/>
          <a:p>
            <a:pPr algn="l" indent="0" marL="0">
              <a:lnSpc>
                <a:spcPct val="100000"/>
              </a:lnSpc>
              <a:buNone/>
            </a:pPr>
            <a:r>
              <a:rPr lang="en-US" sz="850" spc="-26" kern="0" dirty="0">
                <a:solidFill>
                  <a:srgbClr val="272525"/>
                </a:solidFill>
                <a:latin typeface="Inter Light" pitchFamily="34" charset="0"/>
                <a:ea typeface="Inter Light" pitchFamily="34" charset="-122"/>
                <a:cs typeface="Inter Light" pitchFamily="34" charset="-120"/>
              </a:rPr>
              <a:t>04</a:t>
            </a:r>
            <a:endParaRPr lang="en-US" sz="850" dirty="0"/>
          </a:p>
        </p:txBody>
      </p:sp>
      <p:sp>
        <p:nvSpPr>
          <p:cNvPr id="26" name="Shape 23"/>
          <p:cNvSpPr/>
          <p:nvPr/>
        </p:nvSpPr>
        <p:spPr>
          <a:xfrm>
            <a:off x="6238024" y="4690566"/>
            <a:ext cx="5298546" cy="12700"/>
          </a:xfrm>
          <a:prstGeom prst="rect">
            <a:avLst/>
          </a:prstGeom>
          <a:solidFill>
            <a:srgbClr val="4950BC"/>
          </a:solidFill>
          <a:ln/>
        </p:spPr>
      </p:sp>
      <p:sp>
        <p:nvSpPr>
          <p:cNvPr id="27" name="Text 24"/>
          <p:cNvSpPr/>
          <p:nvPr/>
        </p:nvSpPr>
        <p:spPr>
          <a:xfrm>
            <a:off x="6238024" y="4771628"/>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272525"/>
                </a:solidFill>
                <a:latin typeface="Inter Bold" pitchFamily="34" charset="0"/>
                <a:ea typeface="Inter Bold" pitchFamily="34" charset="-122"/>
                <a:cs typeface="Inter Bold" pitchFamily="34" charset="-120"/>
              </a:rPr>
              <a:t>Model Invocation</a:t>
            </a:r>
            <a:endParaRPr lang="en-US" sz="1050" dirty="0"/>
          </a:p>
        </p:txBody>
      </p:sp>
      <p:sp>
        <p:nvSpPr>
          <p:cNvPr id="28" name="Text 25"/>
          <p:cNvSpPr/>
          <p:nvPr/>
        </p:nvSpPr>
        <p:spPr>
          <a:xfrm>
            <a:off x="6238024" y="5011142"/>
            <a:ext cx="5298546" cy="141486"/>
          </a:xfrm>
          <a:prstGeom prst="rect">
            <a:avLst/>
          </a:prstGeom>
          <a:noFill/>
          <a:ln/>
        </p:spPr>
        <p:txBody>
          <a:bodyPr wrap="none" lIns="0" tIns="0" rIns="0" bIns="0" rtlCol="0" anchor="t"/>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AI Gateway routes to optimal model; ShiVi authorizes the plan; model executes within capability bounds</a:t>
            </a:r>
            <a:endParaRPr lang="en-US" sz="850" dirty="0"/>
          </a:p>
        </p:txBody>
      </p:sp>
      <p:sp>
        <p:nvSpPr>
          <p:cNvPr id="29" name="Text 26"/>
          <p:cNvSpPr/>
          <p:nvPr/>
        </p:nvSpPr>
        <p:spPr>
          <a:xfrm>
            <a:off x="6238024" y="5301655"/>
            <a:ext cx="222641" cy="139105"/>
          </a:xfrm>
          <a:prstGeom prst="rect">
            <a:avLst/>
          </a:prstGeom>
          <a:noFill/>
          <a:ln/>
        </p:spPr>
        <p:txBody>
          <a:bodyPr wrap="none" lIns="0" tIns="0" rIns="0" bIns="0" rtlCol="0" anchor="ctr"/>
          <a:lstStyle/>
          <a:p>
            <a:pPr algn="l" indent="0" marL="0">
              <a:lnSpc>
                <a:spcPct val="100000"/>
              </a:lnSpc>
              <a:buNone/>
            </a:pPr>
            <a:r>
              <a:rPr lang="en-US" sz="850" spc="-26" kern="0" dirty="0">
                <a:solidFill>
                  <a:srgbClr val="272525"/>
                </a:solidFill>
                <a:latin typeface="Inter Light" pitchFamily="34" charset="0"/>
                <a:ea typeface="Inter Light" pitchFamily="34" charset="-122"/>
                <a:cs typeface="Inter Light" pitchFamily="34" charset="-120"/>
              </a:rPr>
              <a:t>05</a:t>
            </a:r>
            <a:endParaRPr lang="en-US" sz="850" dirty="0"/>
          </a:p>
        </p:txBody>
      </p:sp>
      <p:sp>
        <p:nvSpPr>
          <p:cNvPr id="30" name="Shape 27"/>
          <p:cNvSpPr/>
          <p:nvPr/>
        </p:nvSpPr>
        <p:spPr>
          <a:xfrm>
            <a:off x="6238024" y="5478066"/>
            <a:ext cx="5298546" cy="12700"/>
          </a:xfrm>
          <a:prstGeom prst="rect">
            <a:avLst/>
          </a:prstGeom>
          <a:solidFill>
            <a:srgbClr val="4950BC"/>
          </a:solidFill>
          <a:ln/>
        </p:spPr>
      </p:sp>
      <p:sp>
        <p:nvSpPr>
          <p:cNvPr id="31" name="Text 28"/>
          <p:cNvSpPr/>
          <p:nvPr/>
        </p:nvSpPr>
        <p:spPr>
          <a:xfrm>
            <a:off x="6238024" y="5559127"/>
            <a:ext cx="5298546" cy="173930"/>
          </a:xfrm>
          <a:prstGeom prst="rect">
            <a:avLst/>
          </a:prstGeom>
          <a:noFill/>
          <a:ln/>
        </p:spPr>
        <p:txBody>
          <a:bodyPr wrap="none" lIns="0" tIns="0" rIns="0" bIns="0" rtlCol="0" anchor="t"/>
          <a:lstStyle/>
          <a:p>
            <a:pPr algn="l" indent="0" marL="0">
              <a:lnSpc>
                <a:spcPct val="104000"/>
              </a:lnSpc>
              <a:buNone/>
            </a:pPr>
            <a:r>
              <a:rPr lang="en-US" sz="1050" b="1" spc="-33" kern="0" dirty="0">
                <a:solidFill>
                  <a:srgbClr val="272525"/>
                </a:solidFill>
                <a:latin typeface="Inter Bold" pitchFamily="34" charset="0"/>
                <a:ea typeface="Inter Bold" pitchFamily="34" charset="-122"/>
                <a:cs typeface="Inter Bold" pitchFamily="34" charset="-120"/>
              </a:rPr>
              <a:t>Evaluation &amp; Evidence</a:t>
            </a:r>
            <a:endParaRPr lang="en-US" sz="1050" dirty="0"/>
          </a:p>
        </p:txBody>
      </p:sp>
      <p:sp>
        <p:nvSpPr>
          <p:cNvPr id="32" name="Text 29"/>
          <p:cNvSpPr/>
          <p:nvPr/>
        </p:nvSpPr>
        <p:spPr>
          <a:xfrm>
            <a:off x="6238024" y="5798641"/>
            <a:ext cx="5298546" cy="282972"/>
          </a:xfrm>
          <a:prstGeom prst="rect">
            <a:avLst/>
          </a:prstGeom>
          <a:noFill/>
          <a:ln/>
        </p:spPr>
        <p:txBody>
          <a:bodyPr wrap="square" lIns="0" tIns="0" rIns="0" bIns="0" rtlCol="0" anchor="t">
            <a:normAutofit/>
          </a:bodyPr>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Trajectory evaluation, hallucination detection, RAG quality scoring, and evidence capture before outcome is committed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9140"/>
            <a:ext cx="10868745" cy="371872"/>
          </a:xfrm>
          <a:prstGeom prst="rect">
            <a:avLst/>
          </a:prstGeom>
          <a:noFill/>
          <a:ln/>
        </p:spPr>
        <p:txBody>
          <a:bodyPr wrap="none" lIns="0" tIns="0" rIns="0" bIns="0" rtlCol="0" anchor="t"/>
          <a:lstStyle/>
          <a:p>
            <a:pPr algn="l" indent="0" marL="0">
              <a:lnSpc>
                <a:spcPct val="104000"/>
              </a:lnSpc>
              <a:buNone/>
            </a:pPr>
            <a:r>
              <a:rPr lang="en-US" sz="2300" b="1" spc="-70" kern="0" dirty="0">
                <a:solidFill>
                  <a:srgbClr val="000000"/>
                </a:solidFill>
                <a:latin typeface="Inter Bold" pitchFamily="34" charset="0"/>
                <a:ea typeface="Inter Bold" pitchFamily="34" charset="-122"/>
                <a:cs typeface="Inter Bold" pitchFamily="34" charset="-120"/>
              </a:rPr>
              <a:t>Platform Fabrics: Data, Workflows, Events &amp; Observability</a:t>
            </a:r>
            <a:endParaRPr lang="en-US" sz="2300" dirty="0"/>
          </a:p>
        </p:txBody>
      </p:sp>
      <p:sp>
        <p:nvSpPr>
          <p:cNvPr id="3" name="Text 1"/>
          <p:cNvSpPr/>
          <p:nvPr/>
        </p:nvSpPr>
        <p:spPr>
          <a:xfrm>
            <a:off x="661475" y="1138337"/>
            <a:ext cx="5289219" cy="186035"/>
          </a:xfrm>
          <a:prstGeom prst="rect">
            <a:avLst/>
          </a:prstGeom>
          <a:noFill/>
          <a:ln/>
        </p:spPr>
        <p:txBody>
          <a:bodyPr wrap="none" lIns="0" tIns="0" rIns="0" bIns="0" rtlCol="0" anchor="t"/>
          <a:lstStyle/>
          <a:p>
            <a:pPr algn="l" indent="0" marL="0">
              <a:lnSpc>
                <a:spcPct val="104000"/>
              </a:lnSpc>
              <a:buNone/>
            </a:pPr>
            <a:r>
              <a:rPr lang="en-US" sz="1150" b="1" spc="-35" kern="0" dirty="0">
                <a:solidFill>
                  <a:srgbClr val="000000"/>
                </a:solidFill>
                <a:latin typeface="Inter Bold" pitchFamily="34" charset="0"/>
                <a:ea typeface="Inter Bold" pitchFamily="34" charset="-122"/>
                <a:cs typeface="Inter Bold" pitchFamily="34" charset="-120"/>
              </a:rPr>
              <a:t>Data Architecture</a:t>
            </a:r>
            <a:endParaRPr lang="en-US" sz="1150" dirty="0"/>
          </a:p>
        </p:txBody>
      </p:sp>
      <p:sp>
        <p:nvSpPr>
          <p:cNvPr id="4" name="Text 2"/>
          <p:cNvSpPr/>
          <p:nvPr/>
        </p:nvSpPr>
        <p:spPr>
          <a:xfrm>
            <a:off x="661475" y="1399282"/>
            <a:ext cx="5289219" cy="310356"/>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ShiVi's data plane is polyglot by design — each storage tier is selected for its access pattern, not for uniformity. All tiers enforce multi-tenant isolation at the query, schema, and network layer.</a:t>
            </a:r>
            <a:endParaRPr lang="en-US" sz="900" dirty="0"/>
          </a:p>
        </p:txBody>
      </p:sp>
      <p:sp>
        <p:nvSpPr>
          <p:cNvPr id="5" name="Shape 3"/>
          <p:cNvSpPr/>
          <p:nvPr/>
        </p:nvSpPr>
        <p:spPr>
          <a:xfrm>
            <a:off x="661475" y="1793875"/>
            <a:ext cx="5289219" cy="4400748"/>
          </a:xfrm>
          <a:prstGeom prst="roundRect">
            <a:avLst>
              <a:gd name="adj" fmla="val 1136"/>
            </a:avLst>
          </a:prstGeom>
          <a:noFill/>
          <a:ln w="6350">
            <a:solidFill>
              <a:srgbClr val="000000">
                <a:alpha val="8000"/>
              </a:srgbClr>
            </a:solidFill>
            <a:prstDash val="solid"/>
          </a:ln>
        </p:spPr>
      </p:sp>
      <p:sp>
        <p:nvSpPr>
          <p:cNvPr id="6" name="Shape 4"/>
          <p:cNvSpPr/>
          <p:nvPr/>
        </p:nvSpPr>
        <p:spPr>
          <a:xfrm>
            <a:off x="661475" y="2061170"/>
            <a:ext cx="5289219" cy="7439"/>
          </a:xfrm>
          <a:prstGeom prst="rect">
            <a:avLst/>
          </a:prstGeom>
          <a:solidFill>
            <a:srgbClr val="000000">
              <a:alpha val="8000"/>
            </a:srgbClr>
          </a:solidFill>
          <a:ln/>
        </p:spPr>
      </p:sp>
      <p:sp>
        <p:nvSpPr>
          <p:cNvPr id="7" name="Shape 5"/>
          <p:cNvSpPr/>
          <p:nvPr/>
        </p:nvSpPr>
        <p:spPr>
          <a:xfrm>
            <a:off x="661475" y="2635647"/>
            <a:ext cx="5289219" cy="7439"/>
          </a:xfrm>
          <a:prstGeom prst="rect">
            <a:avLst/>
          </a:prstGeom>
          <a:solidFill>
            <a:srgbClr val="000000">
              <a:alpha val="8000"/>
            </a:srgbClr>
          </a:solidFill>
          <a:ln/>
        </p:spPr>
      </p:sp>
      <p:sp>
        <p:nvSpPr>
          <p:cNvPr id="8" name="Shape 6"/>
          <p:cNvSpPr/>
          <p:nvPr/>
        </p:nvSpPr>
        <p:spPr>
          <a:xfrm>
            <a:off x="661475" y="3054945"/>
            <a:ext cx="5289219" cy="7439"/>
          </a:xfrm>
          <a:prstGeom prst="rect">
            <a:avLst/>
          </a:prstGeom>
          <a:solidFill>
            <a:srgbClr val="000000">
              <a:alpha val="8000"/>
            </a:srgbClr>
          </a:solidFill>
          <a:ln/>
        </p:spPr>
      </p:sp>
      <p:sp>
        <p:nvSpPr>
          <p:cNvPr id="9" name="Shape 7"/>
          <p:cNvSpPr/>
          <p:nvPr/>
        </p:nvSpPr>
        <p:spPr>
          <a:xfrm>
            <a:off x="661475" y="3474244"/>
            <a:ext cx="5289219" cy="7439"/>
          </a:xfrm>
          <a:prstGeom prst="rect">
            <a:avLst/>
          </a:prstGeom>
          <a:solidFill>
            <a:srgbClr val="000000">
              <a:alpha val="8000"/>
            </a:srgbClr>
          </a:solidFill>
          <a:ln/>
        </p:spPr>
      </p:sp>
      <p:sp>
        <p:nvSpPr>
          <p:cNvPr id="10" name="Shape 8"/>
          <p:cNvSpPr/>
          <p:nvPr/>
        </p:nvSpPr>
        <p:spPr>
          <a:xfrm>
            <a:off x="661475" y="4048720"/>
            <a:ext cx="5289219" cy="7439"/>
          </a:xfrm>
          <a:prstGeom prst="rect">
            <a:avLst/>
          </a:prstGeom>
          <a:solidFill>
            <a:srgbClr val="000000">
              <a:alpha val="8000"/>
            </a:srgbClr>
          </a:solidFill>
          <a:ln/>
        </p:spPr>
      </p:sp>
      <p:sp>
        <p:nvSpPr>
          <p:cNvPr id="11" name="Shape 9"/>
          <p:cNvSpPr/>
          <p:nvPr/>
        </p:nvSpPr>
        <p:spPr>
          <a:xfrm>
            <a:off x="661475" y="4468019"/>
            <a:ext cx="5289219" cy="7439"/>
          </a:xfrm>
          <a:prstGeom prst="rect">
            <a:avLst/>
          </a:prstGeom>
          <a:solidFill>
            <a:srgbClr val="000000">
              <a:alpha val="8000"/>
            </a:srgbClr>
          </a:solidFill>
          <a:ln/>
        </p:spPr>
      </p:sp>
      <p:sp>
        <p:nvSpPr>
          <p:cNvPr id="12" name="Shape 10"/>
          <p:cNvSpPr/>
          <p:nvPr/>
        </p:nvSpPr>
        <p:spPr>
          <a:xfrm>
            <a:off x="661475" y="5042495"/>
            <a:ext cx="5289219" cy="7439"/>
          </a:xfrm>
          <a:prstGeom prst="rect">
            <a:avLst/>
          </a:prstGeom>
          <a:solidFill>
            <a:srgbClr val="000000">
              <a:alpha val="8000"/>
            </a:srgbClr>
          </a:solidFill>
          <a:ln/>
        </p:spPr>
      </p:sp>
      <p:sp>
        <p:nvSpPr>
          <p:cNvPr id="13" name="Shape 11"/>
          <p:cNvSpPr/>
          <p:nvPr/>
        </p:nvSpPr>
        <p:spPr>
          <a:xfrm>
            <a:off x="661475" y="5616972"/>
            <a:ext cx="5289219" cy="7439"/>
          </a:xfrm>
          <a:prstGeom prst="rect">
            <a:avLst/>
          </a:prstGeom>
          <a:solidFill>
            <a:srgbClr val="000000">
              <a:alpha val="8000"/>
            </a:srgbClr>
          </a:solidFill>
          <a:ln/>
        </p:spPr>
      </p:sp>
      <p:sp>
        <p:nvSpPr>
          <p:cNvPr id="14" name="Text 12"/>
          <p:cNvSpPr/>
          <p:nvPr/>
        </p:nvSpPr>
        <p:spPr>
          <a:xfrm>
            <a:off x="787480" y="1851521"/>
            <a:ext cx="2130074" cy="155178"/>
          </a:xfrm>
          <a:prstGeom prst="rect">
            <a:avLst/>
          </a:prstGeom>
          <a:noFill/>
          <a:ln/>
        </p:spPr>
        <p:txBody>
          <a:bodyPr wrap="none" lIns="0" tIns="0" rIns="0" bIns="0" rtlCol="0" anchor="t"/>
          <a:lstStyle/>
          <a:p>
            <a:pPr algn="l" indent="0" marL="0">
              <a:lnSpc>
                <a:spcPct val="109000"/>
              </a:lnSpc>
              <a:buNone/>
            </a:pPr>
            <a:r>
              <a:rPr lang="en-US" sz="900" b="1" spc="-19" kern="0" dirty="0">
                <a:solidFill>
                  <a:srgbClr val="272525"/>
                </a:solidFill>
                <a:latin typeface="Inter Bold" pitchFamily="34" charset="0"/>
                <a:ea typeface="Inter Bold" pitchFamily="34" charset="-122"/>
                <a:cs typeface="Inter Bold" pitchFamily="34" charset="-120"/>
              </a:rPr>
              <a:t>Tier</a:t>
            </a:r>
            <a:endParaRPr lang="en-US" sz="900" dirty="0"/>
          </a:p>
        </p:txBody>
      </p:sp>
      <p:sp>
        <p:nvSpPr>
          <p:cNvPr id="15" name="Text 13"/>
          <p:cNvSpPr/>
          <p:nvPr/>
        </p:nvSpPr>
        <p:spPr>
          <a:xfrm>
            <a:off x="2545889" y="1851521"/>
            <a:ext cx="2130074" cy="155178"/>
          </a:xfrm>
          <a:prstGeom prst="rect">
            <a:avLst/>
          </a:prstGeom>
          <a:noFill/>
          <a:ln/>
        </p:spPr>
        <p:txBody>
          <a:bodyPr wrap="none" lIns="0" tIns="0" rIns="0" bIns="0" rtlCol="0" anchor="t"/>
          <a:lstStyle/>
          <a:p>
            <a:pPr algn="l" indent="0" marL="0">
              <a:lnSpc>
                <a:spcPct val="109000"/>
              </a:lnSpc>
              <a:buNone/>
            </a:pPr>
            <a:r>
              <a:rPr lang="en-US" sz="900" b="1" spc="-19" kern="0" dirty="0">
                <a:solidFill>
                  <a:srgbClr val="272525"/>
                </a:solidFill>
                <a:latin typeface="Inter Bold" pitchFamily="34" charset="0"/>
                <a:ea typeface="Inter Bold" pitchFamily="34" charset="-122"/>
                <a:cs typeface="Inter Bold" pitchFamily="34" charset="-120"/>
              </a:rPr>
              <a:t>Technology</a:t>
            </a:r>
            <a:endParaRPr lang="en-US" sz="900" dirty="0"/>
          </a:p>
        </p:txBody>
      </p:sp>
      <p:sp>
        <p:nvSpPr>
          <p:cNvPr id="16" name="Text 14"/>
          <p:cNvSpPr/>
          <p:nvPr/>
        </p:nvSpPr>
        <p:spPr>
          <a:xfrm>
            <a:off x="4304299" y="1851521"/>
            <a:ext cx="2130074" cy="155178"/>
          </a:xfrm>
          <a:prstGeom prst="rect">
            <a:avLst/>
          </a:prstGeom>
          <a:noFill/>
          <a:ln/>
        </p:spPr>
        <p:txBody>
          <a:bodyPr wrap="none" lIns="0" tIns="0" rIns="0" bIns="0" rtlCol="0" anchor="t"/>
          <a:lstStyle/>
          <a:p>
            <a:pPr algn="l" indent="0" marL="0">
              <a:lnSpc>
                <a:spcPct val="109000"/>
              </a:lnSpc>
              <a:buNone/>
            </a:pPr>
            <a:r>
              <a:rPr lang="en-US" sz="900" b="1" spc="-19" kern="0" dirty="0">
                <a:solidFill>
                  <a:srgbClr val="272525"/>
                </a:solidFill>
                <a:latin typeface="Inter Bold" pitchFamily="34" charset="0"/>
                <a:ea typeface="Inter Bold" pitchFamily="34" charset="-122"/>
                <a:cs typeface="Inter Bold" pitchFamily="34" charset="-120"/>
              </a:rPr>
              <a:t>Purpose</a:t>
            </a:r>
            <a:endParaRPr lang="en-US" sz="900" dirty="0"/>
          </a:p>
        </p:txBody>
      </p:sp>
      <p:sp>
        <p:nvSpPr>
          <p:cNvPr id="17" name="Text 15"/>
          <p:cNvSpPr/>
          <p:nvPr/>
        </p:nvSpPr>
        <p:spPr>
          <a:xfrm>
            <a:off x="787480" y="2115641"/>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Transactional</a:t>
            </a:r>
            <a:endParaRPr lang="en-US" sz="900" dirty="0"/>
          </a:p>
        </p:txBody>
      </p:sp>
      <p:sp>
        <p:nvSpPr>
          <p:cNvPr id="18" name="Text 16"/>
          <p:cNvSpPr/>
          <p:nvPr/>
        </p:nvSpPr>
        <p:spPr>
          <a:xfrm>
            <a:off x="2545889" y="2115641"/>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PostgreSQL (RLS)</a:t>
            </a:r>
            <a:endParaRPr lang="en-US" sz="900" dirty="0"/>
          </a:p>
        </p:txBody>
      </p:sp>
      <p:sp>
        <p:nvSpPr>
          <p:cNvPr id="19" name="Text 17"/>
          <p:cNvSpPr/>
          <p:nvPr/>
        </p:nvSpPr>
        <p:spPr>
          <a:xfrm>
            <a:off x="4304299" y="2115641"/>
            <a:ext cx="1520489"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Canonical entities, contracts, policies, approvals</a:t>
            </a:r>
            <a:endParaRPr lang="en-US" sz="900" dirty="0"/>
          </a:p>
        </p:txBody>
      </p:sp>
      <p:sp>
        <p:nvSpPr>
          <p:cNvPr id="20" name="Text 18"/>
          <p:cNvSpPr/>
          <p:nvPr/>
        </p:nvSpPr>
        <p:spPr>
          <a:xfrm>
            <a:off x="787480" y="2690118"/>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Cache / State</a:t>
            </a:r>
            <a:endParaRPr lang="en-US" sz="900" dirty="0"/>
          </a:p>
        </p:txBody>
      </p:sp>
      <p:sp>
        <p:nvSpPr>
          <p:cNvPr id="21" name="Text 19"/>
          <p:cNvSpPr/>
          <p:nvPr/>
        </p:nvSpPr>
        <p:spPr>
          <a:xfrm>
            <a:off x="2545889" y="2690118"/>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Redis / Valkey</a:t>
            </a:r>
            <a:endParaRPr lang="en-US" sz="900" dirty="0"/>
          </a:p>
        </p:txBody>
      </p:sp>
      <p:sp>
        <p:nvSpPr>
          <p:cNvPr id="22" name="Text 20"/>
          <p:cNvSpPr/>
          <p:nvPr/>
        </p:nvSpPr>
        <p:spPr>
          <a:xfrm>
            <a:off x="4304299" y="2690118"/>
            <a:ext cx="1520489" cy="310356"/>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Session, rate limit, feature flags, hot context</a:t>
            </a:r>
            <a:endParaRPr lang="en-US" sz="900" dirty="0"/>
          </a:p>
        </p:txBody>
      </p:sp>
      <p:sp>
        <p:nvSpPr>
          <p:cNvPr id="23" name="Text 21"/>
          <p:cNvSpPr/>
          <p:nvPr/>
        </p:nvSpPr>
        <p:spPr>
          <a:xfrm>
            <a:off x="787480" y="3109416"/>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Vector / Semantic</a:t>
            </a:r>
            <a:endParaRPr lang="en-US" sz="900" dirty="0"/>
          </a:p>
        </p:txBody>
      </p:sp>
      <p:sp>
        <p:nvSpPr>
          <p:cNvPr id="24" name="Text 22"/>
          <p:cNvSpPr/>
          <p:nvPr/>
        </p:nvSpPr>
        <p:spPr>
          <a:xfrm>
            <a:off x="2545889" y="3109416"/>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pgvector / Qdrant</a:t>
            </a:r>
            <a:endParaRPr lang="en-US" sz="900" dirty="0"/>
          </a:p>
        </p:txBody>
      </p:sp>
      <p:sp>
        <p:nvSpPr>
          <p:cNvPr id="25" name="Text 23"/>
          <p:cNvSpPr/>
          <p:nvPr/>
        </p:nvSpPr>
        <p:spPr>
          <a:xfrm>
            <a:off x="4304299" y="3109416"/>
            <a:ext cx="1520489" cy="310356"/>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Embeddings, RAG retrieval, semantic search</a:t>
            </a:r>
            <a:endParaRPr lang="en-US" sz="900" dirty="0"/>
          </a:p>
        </p:txBody>
      </p:sp>
      <p:sp>
        <p:nvSpPr>
          <p:cNvPr id="26" name="Text 24"/>
          <p:cNvSpPr/>
          <p:nvPr/>
        </p:nvSpPr>
        <p:spPr>
          <a:xfrm>
            <a:off x="787480" y="3528715"/>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Graph</a:t>
            </a:r>
            <a:endParaRPr lang="en-US" sz="900" dirty="0"/>
          </a:p>
        </p:txBody>
      </p:sp>
      <p:sp>
        <p:nvSpPr>
          <p:cNvPr id="27" name="Text 25"/>
          <p:cNvSpPr/>
          <p:nvPr/>
        </p:nvSpPr>
        <p:spPr>
          <a:xfrm>
            <a:off x="2545889" y="3528715"/>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Neo4j</a:t>
            </a:r>
            <a:endParaRPr lang="en-US" sz="900" dirty="0"/>
          </a:p>
        </p:txBody>
      </p:sp>
      <p:sp>
        <p:nvSpPr>
          <p:cNvPr id="28" name="Text 26"/>
          <p:cNvSpPr/>
          <p:nvPr/>
        </p:nvSpPr>
        <p:spPr>
          <a:xfrm>
            <a:off x="4304299" y="3528715"/>
            <a:ext cx="1520489"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Knowledge graph, authorization graph, entity resolution</a:t>
            </a:r>
            <a:endParaRPr lang="en-US" sz="900" dirty="0"/>
          </a:p>
        </p:txBody>
      </p:sp>
      <p:sp>
        <p:nvSpPr>
          <p:cNvPr id="29" name="Text 27"/>
          <p:cNvSpPr/>
          <p:nvPr/>
        </p:nvSpPr>
        <p:spPr>
          <a:xfrm>
            <a:off x="787480" y="4103191"/>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Search</a:t>
            </a:r>
            <a:endParaRPr lang="en-US" sz="900" dirty="0"/>
          </a:p>
        </p:txBody>
      </p:sp>
      <p:sp>
        <p:nvSpPr>
          <p:cNvPr id="30" name="Text 28"/>
          <p:cNvSpPr/>
          <p:nvPr/>
        </p:nvSpPr>
        <p:spPr>
          <a:xfrm>
            <a:off x="2545889" y="4103191"/>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OpenSearch</a:t>
            </a:r>
            <a:endParaRPr lang="en-US" sz="900" dirty="0"/>
          </a:p>
        </p:txBody>
      </p:sp>
      <p:sp>
        <p:nvSpPr>
          <p:cNvPr id="31" name="Text 29"/>
          <p:cNvSpPr/>
          <p:nvPr/>
        </p:nvSpPr>
        <p:spPr>
          <a:xfrm>
            <a:off x="4304299" y="4103191"/>
            <a:ext cx="1520489" cy="310356"/>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Enterprise search, log aggregation, full-text</a:t>
            </a:r>
            <a:endParaRPr lang="en-US" sz="900" dirty="0"/>
          </a:p>
        </p:txBody>
      </p:sp>
      <p:sp>
        <p:nvSpPr>
          <p:cNvPr id="32" name="Text 30"/>
          <p:cNvSpPr/>
          <p:nvPr/>
        </p:nvSpPr>
        <p:spPr>
          <a:xfrm>
            <a:off x="787480" y="4522490"/>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Analytics</a:t>
            </a:r>
            <a:endParaRPr lang="en-US" sz="900" dirty="0"/>
          </a:p>
        </p:txBody>
      </p:sp>
      <p:sp>
        <p:nvSpPr>
          <p:cNvPr id="33" name="Text 31"/>
          <p:cNvSpPr/>
          <p:nvPr/>
        </p:nvSpPr>
        <p:spPr>
          <a:xfrm>
            <a:off x="2545889" y="4522490"/>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ClickHouse</a:t>
            </a:r>
            <a:endParaRPr lang="en-US" sz="900" dirty="0"/>
          </a:p>
        </p:txBody>
      </p:sp>
      <p:sp>
        <p:nvSpPr>
          <p:cNvPr id="34" name="Text 32"/>
          <p:cNvSpPr/>
          <p:nvPr/>
        </p:nvSpPr>
        <p:spPr>
          <a:xfrm>
            <a:off x="4304299" y="4522490"/>
            <a:ext cx="1520489"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Observability metrics, cost/FinOps, evaluation data</a:t>
            </a:r>
            <a:endParaRPr lang="en-US" sz="900" dirty="0"/>
          </a:p>
        </p:txBody>
      </p:sp>
      <p:sp>
        <p:nvSpPr>
          <p:cNvPr id="35" name="Text 33"/>
          <p:cNvSpPr/>
          <p:nvPr/>
        </p:nvSpPr>
        <p:spPr>
          <a:xfrm>
            <a:off x="787480" y="5096966"/>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Lakehouse</a:t>
            </a:r>
            <a:endParaRPr lang="en-US" sz="900" dirty="0"/>
          </a:p>
        </p:txBody>
      </p:sp>
      <p:sp>
        <p:nvSpPr>
          <p:cNvPr id="36" name="Text 34"/>
          <p:cNvSpPr/>
          <p:nvPr/>
        </p:nvSpPr>
        <p:spPr>
          <a:xfrm>
            <a:off x="2545889" y="5096966"/>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dbt + object storage</a:t>
            </a:r>
            <a:endParaRPr lang="en-US" sz="900" dirty="0"/>
          </a:p>
        </p:txBody>
      </p:sp>
      <p:sp>
        <p:nvSpPr>
          <p:cNvPr id="37" name="Text 35"/>
          <p:cNvSpPr/>
          <p:nvPr/>
        </p:nvSpPr>
        <p:spPr>
          <a:xfrm>
            <a:off x="4304299" y="5096966"/>
            <a:ext cx="1520489"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Data warehouse, ML training, compliance archival</a:t>
            </a:r>
            <a:endParaRPr lang="en-US" sz="900" dirty="0"/>
          </a:p>
        </p:txBody>
      </p:sp>
      <p:sp>
        <p:nvSpPr>
          <p:cNvPr id="38" name="Text 36"/>
          <p:cNvSpPr/>
          <p:nvPr/>
        </p:nvSpPr>
        <p:spPr>
          <a:xfrm>
            <a:off x="787480" y="5671443"/>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Streaming</a:t>
            </a:r>
            <a:endParaRPr lang="en-US" sz="900" dirty="0"/>
          </a:p>
        </p:txBody>
      </p:sp>
      <p:sp>
        <p:nvSpPr>
          <p:cNvPr id="39" name="Text 37"/>
          <p:cNvSpPr/>
          <p:nvPr/>
        </p:nvSpPr>
        <p:spPr>
          <a:xfrm>
            <a:off x="2545889" y="5671443"/>
            <a:ext cx="2130074" cy="155178"/>
          </a:xfrm>
          <a:prstGeom prst="rect">
            <a:avLst/>
          </a:prstGeom>
          <a:noFill/>
          <a:ln/>
        </p:spPr>
        <p:txBody>
          <a:bodyPr wrap="none" lIns="0" tIns="0" rIns="0" bIns="0" rtlCol="0" anchor="t"/>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NATS / Kafka / Redpanda</a:t>
            </a:r>
            <a:endParaRPr lang="en-US" sz="900" dirty="0"/>
          </a:p>
        </p:txBody>
      </p:sp>
      <p:sp>
        <p:nvSpPr>
          <p:cNvPr id="40" name="Text 38"/>
          <p:cNvSpPr/>
          <p:nvPr/>
        </p:nvSpPr>
        <p:spPr>
          <a:xfrm>
            <a:off x="4304299" y="5671443"/>
            <a:ext cx="1520489"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Versioned, idempotent events with full correlation IDs</a:t>
            </a:r>
            <a:endParaRPr lang="en-US" sz="900" dirty="0"/>
          </a:p>
        </p:txBody>
      </p:sp>
      <p:sp>
        <p:nvSpPr>
          <p:cNvPr id="41" name="Text 39"/>
          <p:cNvSpPr/>
          <p:nvPr/>
        </p:nvSpPr>
        <p:spPr>
          <a:xfrm>
            <a:off x="6247351" y="1138337"/>
            <a:ext cx="5289219" cy="186035"/>
          </a:xfrm>
          <a:prstGeom prst="rect">
            <a:avLst/>
          </a:prstGeom>
          <a:noFill/>
          <a:ln/>
        </p:spPr>
        <p:txBody>
          <a:bodyPr wrap="none" lIns="0" tIns="0" rIns="0" bIns="0" rtlCol="0" anchor="t"/>
          <a:lstStyle/>
          <a:p>
            <a:pPr algn="l" indent="0" marL="0">
              <a:lnSpc>
                <a:spcPct val="104000"/>
              </a:lnSpc>
              <a:buNone/>
            </a:pPr>
            <a:r>
              <a:rPr lang="en-US" sz="1150" b="1" spc="-35" kern="0" dirty="0">
                <a:solidFill>
                  <a:srgbClr val="000000"/>
                </a:solidFill>
                <a:latin typeface="Inter Bold" pitchFamily="34" charset="0"/>
                <a:ea typeface="Inter Bold" pitchFamily="34" charset="-122"/>
                <a:cs typeface="Inter Bold" pitchFamily="34" charset="-120"/>
              </a:rPr>
              <a:t>Workflow, Event &amp; Observability Plane</a:t>
            </a:r>
            <a:endParaRPr lang="en-US" sz="1150" dirty="0"/>
          </a:p>
        </p:txBody>
      </p:sp>
      <p:sp>
        <p:nvSpPr>
          <p:cNvPr id="42" name="Text 40"/>
          <p:cNvSpPr/>
          <p:nvPr/>
        </p:nvSpPr>
        <p:spPr>
          <a:xfrm>
            <a:off x="6247351" y="1399282"/>
            <a:ext cx="5289219" cy="310356"/>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All durable workflows run on Temporal with full tenant, actor, correlation, causation, and trace ID propagation. Events are versioned, idempotent, and schema-validated at publish time.</a:t>
            </a:r>
            <a:endParaRPr lang="en-US" sz="900" dirty="0"/>
          </a:p>
        </p:txBody>
      </p:sp>
      <p:pic>
        <p:nvPicPr>
          <p:cNvPr id="4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47351" y="1793875"/>
            <a:ext cx="2607106" cy="1144984"/>
          </a:xfrm>
          <a:prstGeom prst="rect">
            <a:avLst/>
          </a:prstGeom>
        </p:spPr>
      </p:pic>
      <p:sp>
        <p:nvSpPr>
          <p:cNvPr id="44" name="Text 41"/>
          <p:cNvSpPr/>
          <p:nvPr/>
        </p:nvSpPr>
        <p:spPr>
          <a:xfrm>
            <a:off x="6429809" y="1925538"/>
            <a:ext cx="2292987" cy="186035"/>
          </a:xfrm>
          <a:prstGeom prst="rect">
            <a:avLst/>
          </a:prstGeom>
          <a:noFill/>
          <a:ln/>
        </p:spPr>
        <p:txBody>
          <a:bodyPr wrap="none" lIns="0" tIns="0" rIns="0" bIns="0" rtlCol="0" anchor="t"/>
          <a:lstStyle/>
          <a:p>
            <a:pPr algn="l" indent="0" marL="0">
              <a:lnSpc>
                <a:spcPct val="104000"/>
              </a:lnSpc>
              <a:buNone/>
            </a:pPr>
            <a:r>
              <a:rPr lang="en-US" sz="1150" b="1" spc="-35" kern="0" dirty="0">
                <a:solidFill>
                  <a:srgbClr val="272525"/>
                </a:solidFill>
                <a:latin typeface="Inter Bold" pitchFamily="34" charset="0"/>
                <a:ea typeface="Inter Bold" pitchFamily="34" charset="-122"/>
                <a:cs typeface="Inter Bold" pitchFamily="34" charset="-120"/>
              </a:rPr>
              <a:t>Temporal Workflows</a:t>
            </a:r>
            <a:endParaRPr lang="en-US" sz="1150" dirty="0"/>
          </a:p>
        </p:txBody>
      </p:sp>
      <p:sp>
        <p:nvSpPr>
          <p:cNvPr id="45" name="Text 42"/>
          <p:cNvSpPr/>
          <p:nvPr/>
        </p:nvSpPr>
        <p:spPr>
          <a:xfrm>
            <a:off x="6429809" y="2186484"/>
            <a:ext cx="2292987" cy="620713"/>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Long-running, durable, retryable workflows with saga compensation, human approval gates, and full event replay</a:t>
            </a:r>
            <a:endParaRPr lang="en-US" sz="900" dirty="0"/>
          </a:p>
        </p:txBody>
      </p:sp>
      <p:pic>
        <p:nvPicPr>
          <p:cNvPr id="4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9365" y="1793875"/>
            <a:ext cx="2607205" cy="1144984"/>
          </a:xfrm>
          <a:prstGeom prst="rect">
            <a:avLst/>
          </a:prstGeom>
        </p:spPr>
      </p:pic>
      <p:sp>
        <p:nvSpPr>
          <p:cNvPr id="47" name="Text 43"/>
          <p:cNvSpPr/>
          <p:nvPr/>
        </p:nvSpPr>
        <p:spPr>
          <a:xfrm>
            <a:off x="9111824" y="1925538"/>
            <a:ext cx="2293086" cy="186035"/>
          </a:xfrm>
          <a:prstGeom prst="rect">
            <a:avLst/>
          </a:prstGeom>
          <a:noFill/>
          <a:ln/>
        </p:spPr>
        <p:txBody>
          <a:bodyPr wrap="none" lIns="0" tIns="0" rIns="0" bIns="0" rtlCol="0" anchor="t"/>
          <a:lstStyle/>
          <a:p>
            <a:pPr algn="l" indent="0" marL="0">
              <a:lnSpc>
                <a:spcPct val="104000"/>
              </a:lnSpc>
              <a:buNone/>
            </a:pPr>
            <a:r>
              <a:rPr lang="en-US" sz="1150" b="1" spc="-35" kern="0" dirty="0">
                <a:solidFill>
                  <a:srgbClr val="272525"/>
                </a:solidFill>
                <a:latin typeface="Inter Bold" pitchFamily="34" charset="0"/>
                <a:ea typeface="Inter Bold" pitchFamily="34" charset="-122"/>
                <a:cs typeface="Inter Bold" pitchFamily="34" charset="-120"/>
              </a:rPr>
              <a:t>Event Bus</a:t>
            </a:r>
            <a:endParaRPr lang="en-US" sz="1150" dirty="0"/>
          </a:p>
        </p:txBody>
      </p:sp>
      <p:sp>
        <p:nvSpPr>
          <p:cNvPr id="48" name="Text 44"/>
          <p:cNvSpPr/>
          <p:nvPr/>
        </p:nvSpPr>
        <p:spPr>
          <a:xfrm>
            <a:off x="9111824" y="2186484"/>
            <a:ext cx="2293086" cy="620713"/>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NATS/Kafka events carry tenant, actor, correlation, causation, and trace IDs. Schema registry enforces backward-compatible versioning</a:t>
            </a:r>
            <a:endParaRPr lang="en-US" sz="900" dirty="0"/>
          </a:p>
        </p:txBody>
      </p:sp>
      <p:pic>
        <p:nvPicPr>
          <p:cNvPr id="4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47351" y="3013770"/>
            <a:ext cx="2607106" cy="1144984"/>
          </a:xfrm>
          <a:prstGeom prst="rect">
            <a:avLst/>
          </a:prstGeom>
        </p:spPr>
      </p:pic>
      <p:sp>
        <p:nvSpPr>
          <p:cNvPr id="50" name="Text 45"/>
          <p:cNvSpPr/>
          <p:nvPr/>
        </p:nvSpPr>
        <p:spPr>
          <a:xfrm>
            <a:off x="6429809" y="3145433"/>
            <a:ext cx="2292987" cy="186035"/>
          </a:xfrm>
          <a:prstGeom prst="rect">
            <a:avLst/>
          </a:prstGeom>
          <a:noFill/>
          <a:ln/>
        </p:spPr>
        <p:txBody>
          <a:bodyPr wrap="none" lIns="0" tIns="0" rIns="0" bIns="0" rtlCol="0" anchor="t"/>
          <a:lstStyle/>
          <a:p>
            <a:pPr algn="l" indent="0" marL="0">
              <a:lnSpc>
                <a:spcPct val="104000"/>
              </a:lnSpc>
              <a:buNone/>
            </a:pPr>
            <a:r>
              <a:rPr lang="en-US" sz="1150" b="1" spc="-35" kern="0" dirty="0">
                <a:solidFill>
                  <a:srgbClr val="272525"/>
                </a:solidFill>
                <a:latin typeface="Inter Bold" pitchFamily="34" charset="0"/>
                <a:ea typeface="Inter Bold" pitchFamily="34" charset="-122"/>
                <a:cs typeface="Inter Bold" pitchFamily="34" charset="-120"/>
              </a:rPr>
              <a:t>OpenTelemetry Traces</a:t>
            </a:r>
            <a:endParaRPr lang="en-US" sz="1150" dirty="0"/>
          </a:p>
        </p:txBody>
      </p:sp>
      <p:sp>
        <p:nvSpPr>
          <p:cNvPr id="51" name="Text 46"/>
          <p:cNvSpPr/>
          <p:nvPr/>
        </p:nvSpPr>
        <p:spPr>
          <a:xfrm>
            <a:off x="6429809" y="3406378"/>
            <a:ext cx="2292987"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End-to-end traces: User → API → Agent → Context → RAG → Model → Tool → Workflow → Policy → Data → Outcome</a:t>
            </a:r>
            <a:endParaRPr lang="en-US" sz="900" dirty="0"/>
          </a:p>
        </p:txBody>
      </p:sp>
      <p:pic>
        <p:nvPicPr>
          <p:cNvPr id="5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29365" y="3013770"/>
            <a:ext cx="2607205" cy="1144984"/>
          </a:xfrm>
          <a:prstGeom prst="rect">
            <a:avLst/>
          </a:prstGeom>
        </p:spPr>
      </p:pic>
      <p:sp>
        <p:nvSpPr>
          <p:cNvPr id="53" name="Text 47"/>
          <p:cNvSpPr/>
          <p:nvPr/>
        </p:nvSpPr>
        <p:spPr>
          <a:xfrm>
            <a:off x="9111824" y="3145433"/>
            <a:ext cx="2293086" cy="186035"/>
          </a:xfrm>
          <a:prstGeom prst="rect">
            <a:avLst/>
          </a:prstGeom>
          <a:noFill/>
          <a:ln/>
        </p:spPr>
        <p:txBody>
          <a:bodyPr wrap="none" lIns="0" tIns="0" rIns="0" bIns="0" rtlCol="0" anchor="t"/>
          <a:lstStyle/>
          <a:p>
            <a:pPr algn="l" indent="0" marL="0">
              <a:lnSpc>
                <a:spcPct val="104000"/>
              </a:lnSpc>
              <a:buNone/>
            </a:pPr>
            <a:r>
              <a:rPr lang="en-US" sz="1150" b="1" spc="-35" kern="0" dirty="0">
                <a:solidFill>
                  <a:srgbClr val="272525"/>
                </a:solidFill>
                <a:latin typeface="Inter Bold" pitchFamily="34" charset="0"/>
                <a:ea typeface="Inter Bold" pitchFamily="34" charset="-122"/>
                <a:cs typeface="Inter Bold" pitchFamily="34" charset="-120"/>
              </a:rPr>
              <a:t>SLO &amp; Error Budgets</a:t>
            </a:r>
            <a:endParaRPr lang="en-US" sz="1150" dirty="0"/>
          </a:p>
        </p:txBody>
      </p:sp>
      <p:sp>
        <p:nvSpPr>
          <p:cNvPr id="54" name="Text 48"/>
          <p:cNvSpPr/>
          <p:nvPr/>
        </p:nvSpPr>
        <p:spPr>
          <a:xfrm>
            <a:off x="9111824" y="3406378"/>
            <a:ext cx="2293086" cy="620713"/>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272525"/>
                </a:solidFill>
                <a:latin typeface="Inter" pitchFamily="34" charset="0"/>
                <a:ea typeface="Inter" pitchFamily="34" charset="-122"/>
                <a:cs typeface="Inter" pitchFamily="34" charset="-120"/>
              </a:rPr>
              <a:t>Per-service SLO definitions, error budget burn alerts, dependency graphs, change intelligence, and chaos engineering integration</a:t>
            </a:r>
            <a:endParaRPr lang="en-US" sz="900" dirty="0"/>
          </a:p>
        </p:txBody>
      </p:sp>
      <p:sp>
        <p:nvSpPr>
          <p:cNvPr id="55" name="Shape 49"/>
          <p:cNvSpPr/>
          <p:nvPr/>
        </p:nvSpPr>
        <p:spPr>
          <a:xfrm>
            <a:off x="6247351" y="4242991"/>
            <a:ext cx="5289219" cy="659606"/>
          </a:xfrm>
          <a:prstGeom prst="roundRect">
            <a:avLst>
              <a:gd name="adj" fmla="val 7579"/>
            </a:avLst>
          </a:prstGeom>
          <a:solidFill>
            <a:srgbClr val="DADBF1"/>
          </a:solidFill>
          <a:ln/>
        </p:spPr>
      </p:sp>
      <p:pic>
        <p:nvPicPr>
          <p:cNvPr id="56" name="Image 4" descr="preencoded.png">    </p:cNvPr>
          <p:cNvPicPr>
            <a:picLocks noChangeAspect="1"/>
          </p:cNvPicPr>
          <p:nvPr/>
        </p:nvPicPr>
        <p:blipFill>
          <a:blip r:embed="rId9"/>
          <a:stretch>
            <a:fillRect/>
          </a:stretch>
        </p:blipFill>
        <p:spPr>
          <a:xfrm>
            <a:off x="6366311" y="4357688"/>
            <a:ext cx="148725" cy="118963"/>
          </a:xfrm>
          <a:prstGeom prst="rect">
            <a:avLst/>
          </a:prstGeom>
        </p:spPr>
      </p:pic>
      <p:sp>
        <p:nvSpPr>
          <p:cNvPr id="57" name="Text 50"/>
          <p:cNvSpPr/>
          <p:nvPr/>
        </p:nvSpPr>
        <p:spPr>
          <a:xfrm>
            <a:off x="6633997" y="4340027"/>
            <a:ext cx="4783613" cy="465534"/>
          </a:xfrm>
          <a:prstGeom prst="rect">
            <a:avLst/>
          </a:prstGeom>
          <a:noFill/>
          <a:ln/>
        </p:spPr>
        <p:txBody>
          <a:bodyPr wrap="square" lIns="0" tIns="0" rIns="0" bIns="0" rtlCol="0" anchor="t">
            <a:normAutofit/>
          </a:bodyPr>
          <a:lstStyle/>
          <a:p>
            <a:pPr algn="l" indent="0" marL="0">
              <a:lnSpc>
                <a:spcPct val="109000"/>
              </a:lnSpc>
              <a:buNone/>
            </a:pPr>
            <a:r>
              <a:rPr lang="en-US" sz="900" spc="-19" kern="0" dirty="0">
                <a:solidFill>
                  <a:srgbClr val="000000"/>
                </a:solidFill>
                <a:latin typeface="Inter" pitchFamily="34" charset="0"/>
                <a:ea typeface="Inter" pitchFamily="34" charset="-122"/>
                <a:cs typeface="Inter" pitchFamily="34" charset="-120"/>
              </a:rPr>
              <a:t>Canonical entities — Tenant, User, Organization, Account, Lead, Opportunity, Contract, Invoice, Agent, Tool, Model, Memory, Policy, Incident, Experiment — are versioned across all storage tiers.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29940"/>
            <a:ext cx="10868745" cy="1004094"/>
          </a:xfrm>
          <a:prstGeom prst="rect">
            <a:avLst/>
          </a:prstGeom>
          <a:noFill/>
          <a:ln/>
        </p:spPr>
        <p:txBody>
          <a:bodyPr wrap="square" lIns="0" tIns="0" rIns="0" bIns="0" rtlCol="0" anchor="t">
            <a:normAutofit/>
          </a:bodyPr>
          <a:lstStyle/>
          <a:p>
            <a:pPr algn="l" indent="0" marL="0">
              <a:lnSpc>
                <a:spcPct val="104000"/>
              </a:lnSpc>
              <a:buNone/>
            </a:pPr>
            <a:r>
              <a:rPr lang="en-US" sz="3150" b="1" spc="-95" kern="0" dirty="0">
                <a:solidFill>
                  <a:srgbClr val="000000"/>
                </a:solidFill>
                <a:latin typeface="Inter Bold" pitchFamily="34" charset="0"/>
                <a:ea typeface="Inter Bold" pitchFamily="34" charset="-122"/>
                <a:cs typeface="Inter Bold" pitchFamily="34" charset="-120"/>
              </a:rPr>
              <a:t>Platform Engineering, Developer Experience &amp; Research OS</a:t>
            </a:r>
            <a:endParaRPr lang="en-US" sz="3150" dirty="0"/>
          </a:p>
        </p:txBody>
      </p:sp>
      <p:sp>
        <p:nvSpPr>
          <p:cNvPr id="3" name="Text 1"/>
          <p:cNvSpPr/>
          <p:nvPr/>
        </p:nvSpPr>
        <p:spPr>
          <a:xfrm>
            <a:off x="661475" y="1907084"/>
            <a:ext cx="10868745" cy="475456"/>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ShiVi treats the developer platform as a first-class product. Golden paths eliminate toil and enforce standards without restricting autonomy. Every service bootstrapped through the platform portal is production-ready by default.</a:t>
            </a:r>
            <a:endParaRPr lang="en-US" sz="1250" dirty="0"/>
          </a:p>
        </p:txBody>
      </p:sp>
      <p:pic>
        <p:nvPicPr>
          <p:cNvPr id="4" name="Image 0" descr="preencoded.png">    </p:cNvPr>
          <p:cNvPicPr>
            <a:picLocks noChangeAspect="1"/>
          </p:cNvPicPr>
          <p:nvPr/>
        </p:nvPicPr>
        <p:blipFill>
          <a:blip r:embed="rId1"/>
          <a:stretch>
            <a:fillRect/>
          </a:stretch>
        </p:blipFill>
        <p:spPr>
          <a:xfrm>
            <a:off x="661475" y="2536130"/>
            <a:ext cx="1312334" cy="811014"/>
          </a:xfrm>
          <a:prstGeom prst="rect">
            <a:avLst/>
          </a:prstGeom>
        </p:spPr>
      </p:pic>
      <p:sp>
        <p:nvSpPr>
          <p:cNvPr id="5" name="Text 2"/>
          <p:cNvSpPr/>
          <p:nvPr/>
        </p:nvSpPr>
        <p:spPr>
          <a:xfrm>
            <a:off x="661475" y="3517801"/>
            <a:ext cx="3509081"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Golden Paths</a:t>
            </a:r>
            <a:endParaRPr lang="en-US" sz="1550" dirty="0"/>
          </a:p>
        </p:txBody>
      </p:sp>
      <p:sp>
        <p:nvSpPr>
          <p:cNvPr id="6" name="Text 3"/>
          <p:cNvSpPr/>
          <p:nvPr/>
        </p:nvSpPr>
        <p:spPr>
          <a:xfrm>
            <a:off x="661475" y="3850680"/>
            <a:ext cx="3509081" cy="1426369"/>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Automated scaffold generation: repo structure, Dockerfile, test harnesses, OpenTelemetry instrumentation, SBOM generation, security scanning, CI/CD pipeline, policy definitions, SLO configuration, Grafana dashboards, runbooks, and rollback procedures — in one command.</a:t>
            </a:r>
            <a:endParaRPr lang="en-US" sz="1250" dirty="0"/>
          </a:p>
        </p:txBody>
      </p:sp>
      <p:pic>
        <p:nvPicPr>
          <p:cNvPr id="7" name="Image 1" descr="preencoded.png">    </p:cNvPr>
          <p:cNvPicPr>
            <a:picLocks noChangeAspect="1"/>
          </p:cNvPicPr>
          <p:nvPr/>
        </p:nvPicPr>
        <p:blipFill>
          <a:blip r:embed="rId2"/>
          <a:stretch>
            <a:fillRect/>
          </a:stretch>
        </p:blipFill>
        <p:spPr>
          <a:xfrm>
            <a:off x="4341208" y="2536130"/>
            <a:ext cx="1312433" cy="811113"/>
          </a:xfrm>
          <a:prstGeom prst="rect">
            <a:avLst/>
          </a:prstGeom>
        </p:spPr>
      </p:pic>
      <p:sp>
        <p:nvSpPr>
          <p:cNvPr id="8" name="Text 4"/>
          <p:cNvSpPr/>
          <p:nvPr/>
        </p:nvSpPr>
        <p:spPr>
          <a:xfrm>
            <a:off x="4341208" y="3517900"/>
            <a:ext cx="3509180"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Infrastructure &amp; GitOps</a:t>
            </a:r>
            <a:endParaRPr lang="en-US" sz="1550" dirty="0"/>
          </a:p>
        </p:txBody>
      </p:sp>
      <p:sp>
        <p:nvSpPr>
          <p:cNvPr id="9" name="Text 5"/>
          <p:cNvSpPr/>
          <p:nvPr/>
        </p:nvSpPr>
        <p:spPr>
          <a:xfrm>
            <a:off x="4341208" y="3850779"/>
            <a:ext cx="3509180" cy="2139553"/>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Backstage developer portal with software catalog and TechDocs. Crossplane for infrastructure-as-code. Argo CD for GitOps reconciliation. Argo Rollouts for progressive delivery with canary analysis. OpenFeature for feature flag management. Environments span: local → dev → test → integration → staging → preview → canary → production → research → high-assurance.</a:t>
            </a:r>
            <a:endParaRPr lang="en-US" sz="1250" dirty="0"/>
          </a:p>
        </p:txBody>
      </p:sp>
      <p:pic>
        <p:nvPicPr>
          <p:cNvPr id="10" name="Image 2" descr="preencoded.png">    </p:cNvPr>
          <p:cNvPicPr>
            <a:picLocks noChangeAspect="1"/>
          </p:cNvPicPr>
          <p:nvPr/>
        </p:nvPicPr>
        <p:blipFill>
          <a:blip r:embed="rId3"/>
          <a:stretch>
            <a:fillRect/>
          </a:stretch>
        </p:blipFill>
        <p:spPr>
          <a:xfrm>
            <a:off x="8021040" y="2536130"/>
            <a:ext cx="1312334" cy="811014"/>
          </a:xfrm>
          <a:prstGeom prst="rect">
            <a:avLst/>
          </a:prstGeom>
        </p:spPr>
      </p:pic>
      <p:sp>
        <p:nvSpPr>
          <p:cNvPr id="11" name="Text 6"/>
          <p:cNvSpPr/>
          <p:nvPr/>
        </p:nvSpPr>
        <p:spPr>
          <a:xfrm>
            <a:off x="8021040" y="3517801"/>
            <a:ext cx="3509081" cy="251023"/>
          </a:xfrm>
          <a:prstGeom prst="rect">
            <a:avLst/>
          </a:prstGeom>
          <a:noFill/>
          <a:ln/>
        </p:spPr>
        <p:txBody>
          <a:bodyPr wrap="none" lIns="0" tIns="0" rIns="0" bIns="0" rtlCol="0" anchor="t"/>
          <a:lstStyle/>
          <a:p>
            <a:pPr algn="l" indent="0" marL="0">
              <a:lnSpc>
                <a:spcPct val="104000"/>
              </a:lnSpc>
              <a:buNone/>
            </a:pPr>
            <a:r>
              <a:rPr lang="en-US" sz="1550" b="1" spc="-47" kern="0" dirty="0">
                <a:solidFill>
                  <a:srgbClr val="272525"/>
                </a:solidFill>
                <a:latin typeface="Inter Bold" pitchFamily="34" charset="0"/>
                <a:ea typeface="Inter Bold" pitchFamily="34" charset="-122"/>
                <a:cs typeface="Inter Bold" pitchFamily="34" charset="-120"/>
              </a:rPr>
              <a:t>Research OS &amp; Innovation Pipeline</a:t>
            </a:r>
            <a:endParaRPr lang="en-US" sz="1550" dirty="0"/>
          </a:p>
        </p:txBody>
      </p:sp>
      <p:sp>
        <p:nvSpPr>
          <p:cNvPr id="12" name="Text 7"/>
          <p:cNvSpPr/>
          <p:nvPr/>
        </p:nvSpPr>
        <p:spPr>
          <a:xfrm>
            <a:off x="8021040" y="3850680"/>
            <a:ext cx="3509081" cy="2377281"/>
          </a:xfrm>
          <a:prstGeom prst="rect">
            <a:avLst/>
          </a:prstGeom>
          <a:noFill/>
          <a:ln/>
        </p:spPr>
        <p:txBody>
          <a:bodyPr wrap="square" lIns="0" tIns="0" rIns="0" bIns="0" rtlCol="0" anchor="t">
            <a:normAutofit/>
          </a:bodyPr>
          <a:lstStyle/>
          <a:p>
            <a:pPr algn="l" indent="0" marL="0">
              <a:lnSpc>
                <a:spcPct val="123000"/>
              </a:lnSpc>
              <a:buNone/>
            </a:pPr>
            <a:r>
              <a:rPr lang="en-US" sz="1250" spc="-25" kern="0" dirty="0">
                <a:solidFill>
                  <a:srgbClr val="272525"/>
                </a:solidFill>
                <a:latin typeface="Inter" pitchFamily="34" charset="0"/>
                <a:ea typeface="Inter" pitchFamily="34" charset="-122"/>
                <a:cs typeface="Inter" pitchFamily="34" charset="-120"/>
              </a:rPr>
              <a:t>Trajectory evaluation, benchmark integrity, adversarial probes, synthetic enterprise generator, cyber range, simulation engine, counterfactual decision engine, and digital twin. Research-to-production promotion follows: Experiment → Evaluation → Security Review → Canary → Approval → Production. No uncontrolled self-modification. All model, agent, prompt, tool, and data versions are pinned and reproducible.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Technology Stack, Delivery Roadmap &amp; KPIs</a:t>
            </a:r>
            <a:endParaRPr lang="en-US" sz="1850" dirty="0"/>
          </a:p>
        </p:txBody>
      </p:sp>
      <p:sp>
        <p:nvSpPr>
          <p:cNvPr id="3" name="Text 1"/>
          <p:cNvSpPr/>
          <p:nvPr/>
        </p:nvSpPr>
        <p:spPr>
          <a:xfrm>
            <a:off x="661475" y="933152"/>
            <a:ext cx="5319083"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000000"/>
                </a:solidFill>
                <a:latin typeface="Inter Bold" pitchFamily="34" charset="0"/>
                <a:ea typeface="Inter Bold" pitchFamily="34" charset="-122"/>
                <a:cs typeface="Inter Bold" pitchFamily="34" charset="-120"/>
              </a:rPr>
              <a:t>Core Technology Ecosystem</a:t>
            </a:r>
            <a:endParaRPr lang="en-US" sz="900" dirty="0"/>
          </a:p>
        </p:txBody>
      </p:sp>
      <p:sp>
        <p:nvSpPr>
          <p:cNvPr id="4" name="Shape 2"/>
          <p:cNvSpPr/>
          <p:nvPr/>
        </p:nvSpPr>
        <p:spPr>
          <a:xfrm>
            <a:off x="661475" y="1133872"/>
            <a:ext cx="2635879" cy="736699"/>
          </a:xfrm>
          <a:prstGeom prst="roundRect">
            <a:avLst>
              <a:gd name="adj" fmla="val 5388"/>
            </a:avLst>
          </a:prstGeom>
          <a:solidFill>
            <a:srgbClr val="DADBF1"/>
          </a:solidFill>
          <a:ln w="6350">
            <a:solidFill>
              <a:srgbClr val="C0C1D7"/>
            </a:solidFill>
            <a:prstDash val="solid"/>
          </a:ln>
        </p:spPr>
      </p:sp>
      <p:sp>
        <p:nvSpPr>
          <p:cNvPr id="5" name="Text 3"/>
          <p:cNvSpPr/>
          <p:nvPr/>
        </p:nvSpPr>
        <p:spPr>
          <a:xfrm>
            <a:off x="762279" y="1234678"/>
            <a:ext cx="2434271"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Frontend</a:t>
            </a:r>
            <a:endParaRPr lang="en-US" sz="900" dirty="0"/>
          </a:p>
        </p:txBody>
      </p:sp>
      <p:sp>
        <p:nvSpPr>
          <p:cNvPr id="6" name="Text 4"/>
          <p:cNvSpPr/>
          <p:nvPr/>
        </p:nvSpPr>
        <p:spPr>
          <a:xfrm>
            <a:off x="762279" y="1429544"/>
            <a:ext cx="2434271" cy="340221"/>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Next.js · React · TypeScript · Design tokens · AI-native UX · Streaming · Command palette · Accessibility · Visual regression</a:t>
            </a:r>
            <a:endParaRPr lang="en-US" sz="700" dirty="0"/>
          </a:p>
        </p:txBody>
      </p:sp>
      <p:sp>
        <p:nvSpPr>
          <p:cNvPr id="7" name="Shape 5"/>
          <p:cNvSpPr/>
          <p:nvPr/>
        </p:nvSpPr>
        <p:spPr>
          <a:xfrm>
            <a:off x="3344580" y="1133872"/>
            <a:ext cx="2635978" cy="736699"/>
          </a:xfrm>
          <a:prstGeom prst="roundRect">
            <a:avLst>
              <a:gd name="adj" fmla="val 5388"/>
            </a:avLst>
          </a:prstGeom>
          <a:solidFill>
            <a:srgbClr val="DADBF1"/>
          </a:solidFill>
          <a:ln w="6350">
            <a:solidFill>
              <a:srgbClr val="C0C1D7"/>
            </a:solidFill>
            <a:prstDash val="solid"/>
          </a:ln>
        </p:spPr>
      </p:sp>
      <p:sp>
        <p:nvSpPr>
          <p:cNvPr id="8" name="Text 6"/>
          <p:cNvSpPr/>
          <p:nvPr/>
        </p:nvSpPr>
        <p:spPr>
          <a:xfrm>
            <a:off x="3445384" y="1234678"/>
            <a:ext cx="2434370"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Backend</a:t>
            </a:r>
            <a:endParaRPr lang="en-US" sz="900" dirty="0"/>
          </a:p>
        </p:txBody>
      </p:sp>
      <p:sp>
        <p:nvSpPr>
          <p:cNvPr id="9" name="Text 7"/>
          <p:cNvSpPr/>
          <p:nvPr/>
        </p:nvSpPr>
        <p:spPr>
          <a:xfrm>
            <a:off x="3445384" y="1429544"/>
            <a:ext cx="2434370" cy="340221"/>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Node.js 24 LTS · Python · Fastify / NestJS · Zod / JSON Schema · Temporal · NATS / Kafka / Redpanda · MCP · A2A</a:t>
            </a:r>
            <a:endParaRPr lang="en-US" sz="700" dirty="0"/>
          </a:p>
        </p:txBody>
      </p:sp>
      <p:sp>
        <p:nvSpPr>
          <p:cNvPr id="10" name="Shape 8"/>
          <p:cNvSpPr/>
          <p:nvPr/>
        </p:nvSpPr>
        <p:spPr>
          <a:xfrm>
            <a:off x="661475" y="1917799"/>
            <a:ext cx="2635879" cy="623292"/>
          </a:xfrm>
          <a:prstGeom prst="roundRect">
            <a:avLst>
              <a:gd name="adj" fmla="val 6368"/>
            </a:avLst>
          </a:prstGeom>
          <a:solidFill>
            <a:srgbClr val="DADBF1"/>
          </a:solidFill>
          <a:ln w="6350">
            <a:solidFill>
              <a:srgbClr val="C0C1D7"/>
            </a:solidFill>
            <a:prstDash val="solid"/>
          </a:ln>
        </p:spPr>
      </p:sp>
      <p:sp>
        <p:nvSpPr>
          <p:cNvPr id="11" name="Text 9"/>
          <p:cNvSpPr/>
          <p:nvPr/>
        </p:nvSpPr>
        <p:spPr>
          <a:xfrm>
            <a:off x="762279" y="2018605"/>
            <a:ext cx="2434271"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AI / ML</a:t>
            </a:r>
            <a:endParaRPr lang="en-US" sz="900" dirty="0"/>
          </a:p>
        </p:txBody>
      </p:sp>
      <p:sp>
        <p:nvSpPr>
          <p:cNvPr id="12" name="Text 10"/>
          <p:cNvSpPr/>
          <p:nvPr/>
        </p:nvSpPr>
        <p:spPr>
          <a:xfrm>
            <a:off x="762279" y="2213471"/>
            <a:ext cx="2434271" cy="226814"/>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ShiVi AI Gateway · vLLM · KServe · MLflow · Ray · LLMOps · RAG · Context Compiler · Knowledge Graph</a:t>
            </a:r>
            <a:endParaRPr lang="en-US" sz="700" dirty="0"/>
          </a:p>
        </p:txBody>
      </p:sp>
      <p:sp>
        <p:nvSpPr>
          <p:cNvPr id="13" name="Shape 11"/>
          <p:cNvSpPr/>
          <p:nvPr/>
        </p:nvSpPr>
        <p:spPr>
          <a:xfrm>
            <a:off x="3344580" y="1917799"/>
            <a:ext cx="2635978" cy="623292"/>
          </a:xfrm>
          <a:prstGeom prst="roundRect">
            <a:avLst>
              <a:gd name="adj" fmla="val 6368"/>
            </a:avLst>
          </a:prstGeom>
          <a:solidFill>
            <a:srgbClr val="DADBF1"/>
          </a:solidFill>
          <a:ln w="6350">
            <a:solidFill>
              <a:srgbClr val="C0C1D7"/>
            </a:solidFill>
            <a:prstDash val="solid"/>
          </a:ln>
        </p:spPr>
      </p:sp>
      <p:sp>
        <p:nvSpPr>
          <p:cNvPr id="14" name="Text 12"/>
          <p:cNvSpPr/>
          <p:nvPr/>
        </p:nvSpPr>
        <p:spPr>
          <a:xfrm>
            <a:off x="3445384" y="2018605"/>
            <a:ext cx="2434370"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Security</a:t>
            </a:r>
            <a:endParaRPr lang="en-US" sz="900" dirty="0"/>
          </a:p>
        </p:txBody>
      </p:sp>
      <p:sp>
        <p:nvSpPr>
          <p:cNvPr id="15" name="Text 13"/>
          <p:cNvSpPr/>
          <p:nvPr/>
        </p:nvSpPr>
        <p:spPr>
          <a:xfrm>
            <a:off x="3445384" y="2213471"/>
            <a:ext cx="2434370" cy="226814"/>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OpenFGA · OPA · Kyverno · OIDC/OAuth · SPIFFE/SPIRE · Cilium/Hubble · Sigstore/Cosign · Trivy · PQC</a:t>
            </a:r>
            <a:endParaRPr lang="en-US" sz="700" dirty="0"/>
          </a:p>
        </p:txBody>
      </p:sp>
      <p:sp>
        <p:nvSpPr>
          <p:cNvPr id="16" name="Shape 14"/>
          <p:cNvSpPr/>
          <p:nvPr/>
        </p:nvSpPr>
        <p:spPr>
          <a:xfrm>
            <a:off x="661475" y="2588320"/>
            <a:ext cx="2635879" cy="736699"/>
          </a:xfrm>
          <a:prstGeom prst="roundRect">
            <a:avLst>
              <a:gd name="adj" fmla="val 5388"/>
            </a:avLst>
          </a:prstGeom>
          <a:solidFill>
            <a:srgbClr val="DADBF1"/>
          </a:solidFill>
          <a:ln w="6350">
            <a:solidFill>
              <a:srgbClr val="C0C1D7"/>
            </a:solidFill>
            <a:prstDash val="solid"/>
          </a:ln>
        </p:spPr>
      </p:sp>
      <p:sp>
        <p:nvSpPr>
          <p:cNvPr id="17" name="Text 15"/>
          <p:cNvSpPr/>
          <p:nvPr/>
        </p:nvSpPr>
        <p:spPr>
          <a:xfrm>
            <a:off x="762279" y="2689126"/>
            <a:ext cx="2434271"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Observability</a:t>
            </a:r>
            <a:endParaRPr lang="en-US" sz="900" dirty="0"/>
          </a:p>
        </p:txBody>
      </p:sp>
      <p:sp>
        <p:nvSpPr>
          <p:cNvPr id="18" name="Text 16"/>
          <p:cNvSpPr/>
          <p:nvPr/>
        </p:nvSpPr>
        <p:spPr>
          <a:xfrm>
            <a:off x="762279" y="2883991"/>
            <a:ext cx="2434271" cy="226814"/>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OpenTelemetry · Prometheus · Grafana · Loki · Tempo / Jaeger · Trajectory Evaluation · Benchmark Integrity</a:t>
            </a:r>
            <a:endParaRPr lang="en-US" sz="700" dirty="0"/>
          </a:p>
        </p:txBody>
      </p:sp>
      <p:sp>
        <p:nvSpPr>
          <p:cNvPr id="19" name="Shape 17"/>
          <p:cNvSpPr/>
          <p:nvPr/>
        </p:nvSpPr>
        <p:spPr>
          <a:xfrm>
            <a:off x="3344580" y="2588320"/>
            <a:ext cx="2635978" cy="736699"/>
          </a:xfrm>
          <a:prstGeom prst="roundRect">
            <a:avLst>
              <a:gd name="adj" fmla="val 5388"/>
            </a:avLst>
          </a:prstGeom>
          <a:solidFill>
            <a:srgbClr val="DADBF1"/>
          </a:solidFill>
          <a:ln w="6350">
            <a:solidFill>
              <a:srgbClr val="C0C1D7"/>
            </a:solidFill>
            <a:prstDash val="solid"/>
          </a:ln>
        </p:spPr>
      </p:sp>
      <p:sp>
        <p:nvSpPr>
          <p:cNvPr id="20" name="Text 18"/>
          <p:cNvSpPr/>
          <p:nvPr/>
        </p:nvSpPr>
        <p:spPr>
          <a:xfrm>
            <a:off x="3445384" y="2689126"/>
            <a:ext cx="2434370"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Platform</a:t>
            </a:r>
            <a:endParaRPr lang="en-US" sz="900" dirty="0"/>
          </a:p>
        </p:txBody>
      </p:sp>
      <p:sp>
        <p:nvSpPr>
          <p:cNvPr id="21" name="Text 19"/>
          <p:cNvSpPr/>
          <p:nvPr/>
        </p:nvSpPr>
        <p:spPr>
          <a:xfrm>
            <a:off x="3445384" y="2883991"/>
            <a:ext cx="2434370" cy="340221"/>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Kubernetes · Gateway API · Backstage · Crossplane · Argo CD · Argo Rollouts · OpenFeature · Terraform / OpenTofu</a:t>
            </a:r>
            <a:endParaRPr lang="en-US" sz="700" dirty="0"/>
          </a:p>
        </p:txBody>
      </p:sp>
      <p:sp>
        <p:nvSpPr>
          <p:cNvPr id="22" name="Text 20"/>
          <p:cNvSpPr/>
          <p:nvPr/>
        </p:nvSpPr>
        <p:spPr>
          <a:xfrm>
            <a:off x="6217487" y="933152"/>
            <a:ext cx="5319083"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000000"/>
                </a:solidFill>
                <a:latin typeface="Inter Bold" pitchFamily="34" charset="0"/>
                <a:ea typeface="Inter Bold" pitchFamily="34" charset="-122"/>
                <a:cs typeface="Inter Bold" pitchFamily="34" charset="-120"/>
              </a:rPr>
              <a:t>Delivery Phases &amp; Readiness KPIs</a:t>
            </a:r>
            <a:endParaRPr lang="en-US" sz="900" dirty="0"/>
          </a:p>
        </p:txBody>
      </p:sp>
      <p:pic>
        <p:nvPicPr>
          <p:cNvPr id="23" name="Image 0" descr="preencoded.png">    </p:cNvPr>
          <p:cNvPicPr>
            <a:picLocks noChangeAspect="1"/>
          </p:cNvPicPr>
          <p:nvPr/>
        </p:nvPicPr>
        <p:blipFill>
          <a:blip r:embed="rId1"/>
          <a:stretch>
            <a:fillRect/>
          </a:stretch>
        </p:blipFill>
        <p:spPr>
          <a:xfrm>
            <a:off x="6217487" y="1133872"/>
            <a:ext cx="5319083" cy="2393553"/>
          </a:xfrm>
          <a:prstGeom prst="rect">
            <a:avLst/>
          </a:prstGeom>
        </p:spPr>
      </p:pic>
      <p:sp>
        <p:nvSpPr>
          <p:cNvPr id="24" name="Text 21"/>
          <p:cNvSpPr/>
          <p:nvPr/>
        </p:nvSpPr>
        <p:spPr>
          <a:xfrm>
            <a:off x="7018779" y="1175746"/>
            <a:ext cx="930803" cy="143843"/>
          </a:xfrm>
          <a:prstGeom prst="rect">
            <a:avLst/>
          </a:prstGeom>
          <a:noFill/>
          <a:ln/>
        </p:spPr>
        <p:txBody>
          <a:bodyPr wrap="none" lIns="0" tIns="0" rIns="0" bIns="0" rtlCol="0" anchor="t"/>
          <a:lstStyle/>
          <a:p>
            <a:pPr algn="ctr"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Phase 1</a:t>
            </a:r>
            <a:endParaRPr lang="en-US" sz="900" dirty="0"/>
          </a:p>
        </p:txBody>
      </p:sp>
      <p:sp>
        <p:nvSpPr>
          <p:cNvPr id="25" name="Text 22"/>
          <p:cNvSpPr/>
          <p:nvPr/>
        </p:nvSpPr>
        <p:spPr>
          <a:xfrm>
            <a:off x="7018779" y="1360505"/>
            <a:ext cx="930803" cy="345224"/>
          </a:xfrm>
          <a:prstGeom prst="rect">
            <a:avLst/>
          </a:prstGeom>
          <a:noFill/>
          <a:ln/>
        </p:spPr>
        <p:txBody>
          <a:bodyPr wrap="square" lIns="0" tIns="0" rIns="0" bIns="0" rtlCol="0" anchor="t">
            <a:normAutofit/>
          </a:bodyPr>
          <a:lstStyle/>
          <a:p>
            <a:pPr algn="ctr" indent="0" marL="0">
              <a:lnSpc>
                <a:spcPct val="78000"/>
              </a:lnSpc>
              <a:buNone/>
            </a:pPr>
            <a:r>
              <a:rPr lang="en-US" sz="700" spc="-12" kern="0" dirty="0">
                <a:solidFill>
                  <a:srgbClr val="272525"/>
                </a:solidFill>
                <a:latin typeface="Inter" pitchFamily="34" charset="0"/>
                <a:ea typeface="Inter" pitchFamily="34" charset="-122"/>
                <a:cs typeface="Inter" pitchFamily="34" charset="-120"/>
              </a:rPr>
              <a:t>Kernel &amp; platform fabrics: identity, policy, gateway, observability</a:t>
            </a:r>
            <a:endParaRPr lang="en-US" sz="700" dirty="0"/>
          </a:p>
        </p:txBody>
      </p:sp>
      <p:sp>
        <p:nvSpPr>
          <p:cNvPr id="26" name="Text 23"/>
          <p:cNvSpPr/>
          <p:nvPr/>
        </p:nvSpPr>
        <p:spPr>
          <a:xfrm>
            <a:off x="7939353" y="3014064"/>
            <a:ext cx="935917" cy="143843"/>
          </a:xfrm>
          <a:prstGeom prst="rect">
            <a:avLst/>
          </a:prstGeom>
          <a:noFill/>
          <a:ln/>
        </p:spPr>
        <p:txBody>
          <a:bodyPr wrap="none" lIns="0" tIns="0" rIns="0" bIns="0" rtlCol="0" anchor="t"/>
          <a:lstStyle/>
          <a:p>
            <a:pPr algn="ctr"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Phase 2</a:t>
            </a:r>
            <a:endParaRPr lang="en-US" sz="900" dirty="0"/>
          </a:p>
        </p:txBody>
      </p:sp>
      <p:sp>
        <p:nvSpPr>
          <p:cNvPr id="27" name="Text 24"/>
          <p:cNvSpPr/>
          <p:nvPr/>
        </p:nvSpPr>
        <p:spPr>
          <a:xfrm>
            <a:off x="7939353" y="3198823"/>
            <a:ext cx="935917" cy="258918"/>
          </a:xfrm>
          <a:prstGeom prst="rect">
            <a:avLst/>
          </a:prstGeom>
          <a:noFill/>
          <a:ln/>
        </p:spPr>
        <p:txBody>
          <a:bodyPr wrap="square" lIns="0" tIns="0" rIns="0" bIns="0" rtlCol="0" anchor="t">
            <a:normAutofit/>
          </a:bodyPr>
          <a:lstStyle/>
          <a:p>
            <a:pPr algn="ctr" indent="0" marL="0">
              <a:lnSpc>
                <a:spcPct val="78000"/>
              </a:lnSpc>
              <a:buNone/>
            </a:pPr>
            <a:r>
              <a:rPr lang="en-US" sz="700" spc="-12" kern="0" dirty="0">
                <a:solidFill>
                  <a:srgbClr val="272525"/>
                </a:solidFill>
                <a:latin typeface="Inter" pitchFamily="34" charset="0"/>
                <a:ea typeface="Inter" pitchFamily="34" charset="-122"/>
                <a:cs typeface="Inter" pitchFamily="34" charset="-120"/>
              </a:rPr>
              <a:t>Core agent runtime and Context Loop MAX</a:t>
            </a:r>
            <a:endParaRPr lang="en-US" sz="700" dirty="0"/>
          </a:p>
        </p:txBody>
      </p:sp>
      <p:sp>
        <p:nvSpPr>
          <p:cNvPr id="28" name="Text 25"/>
          <p:cNvSpPr/>
          <p:nvPr/>
        </p:nvSpPr>
        <p:spPr>
          <a:xfrm>
            <a:off x="8849699" y="1200999"/>
            <a:ext cx="930803" cy="143843"/>
          </a:xfrm>
          <a:prstGeom prst="rect">
            <a:avLst/>
          </a:prstGeom>
          <a:noFill/>
          <a:ln/>
        </p:spPr>
        <p:txBody>
          <a:bodyPr wrap="none" lIns="0" tIns="0" rIns="0" bIns="0" rtlCol="0" anchor="t"/>
          <a:lstStyle/>
          <a:p>
            <a:pPr algn="ctr"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Phase 3</a:t>
            </a:r>
            <a:endParaRPr lang="en-US" sz="900" dirty="0"/>
          </a:p>
        </p:txBody>
      </p:sp>
      <p:sp>
        <p:nvSpPr>
          <p:cNvPr id="29" name="Text 26"/>
          <p:cNvSpPr/>
          <p:nvPr/>
        </p:nvSpPr>
        <p:spPr>
          <a:xfrm>
            <a:off x="8849699" y="1385758"/>
            <a:ext cx="930803" cy="258918"/>
          </a:xfrm>
          <a:prstGeom prst="rect">
            <a:avLst/>
          </a:prstGeom>
          <a:noFill/>
          <a:ln/>
        </p:spPr>
        <p:txBody>
          <a:bodyPr wrap="square" lIns="0" tIns="0" rIns="0" bIns="0" rtlCol="0" anchor="t">
            <a:normAutofit/>
          </a:bodyPr>
          <a:lstStyle/>
          <a:p>
            <a:pPr algn="ctr" indent="0" marL="0">
              <a:lnSpc>
                <a:spcPct val="78000"/>
              </a:lnSpc>
              <a:buNone/>
            </a:pPr>
            <a:r>
              <a:rPr lang="en-US" sz="700" spc="-12" kern="0" dirty="0">
                <a:solidFill>
                  <a:srgbClr val="272525"/>
                </a:solidFill>
                <a:latin typeface="Inter" pitchFamily="34" charset="0"/>
                <a:ea typeface="Inter" pitchFamily="34" charset="-122"/>
                <a:cs typeface="Inter" pitchFamily="34" charset="-120"/>
              </a:rPr>
              <a:t>100-system portfolio rollout: GTM and Operations</a:t>
            </a:r>
            <a:endParaRPr lang="en-US" sz="700" dirty="0"/>
          </a:p>
        </p:txBody>
      </p:sp>
      <p:sp>
        <p:nvSpPr>
          <p:cNvPr id="30" name="Text 27"/>
          <p:cNvSpPr/>
          <p:nvPr/>
        </p:nvSpPr>
        <p:spPr>
          <a:xfrm>
            <a:off x="9770273" y="3014064"/>
            <a:ext cx="930803" cy="143843"/>
          </a:xfrm>
          <a:prstGeom prst="rect">
            <a:avLst/>
          </a:prstGeom>
          <a:noFill/>
          <a:ln/>
        </p:spPr>
        <p:txBody>
          <a:bodyPr wrap="none" lIns="0" tIns="0" rIns="0" bIns="0" rtlCol="0" anchor="t"/>
          <a:lstStyle/>
          <a:p>
            <a:pPr algn="ctr"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Phase 4</a:t>
            </a:r>
            <a:endParaRPr lang="en-US" sz="900" dirty="0"/>
          </a:p>
        </p:txBody>
      </p:sp>
      <p:sp>
        <p:nvSpPr>
          <p:cNvPr id="31" name="Text 28"/>
          <p:cNvSpPr/>
          <p:nvPr/>
        </p:nvSpPr>
        <p:spPr>
          <a:xfrm>
            <a:off x="9770273" y="3198823"/>
            <a:ext cx="930803" cy="258918"/>
          </a:xfrm>
          <a:prstGeom prst="rect">
            <a:avLst/>
          </a:prstGeom>
          <a:noFill/>
          <a:ln/>
        </p:spPr>
        <p:txBody>
          <a:bodyPr wrap="square" lIns="0" tIns="0" rIns="0" bIns="0" rtlCol="0" anchor="t">
            <a:normAutofit/>
          </a:bodyPr>
          <a:lstStyle/>
          <a:p>
            <a:pPr algn="ctr" indent="0" marL="0">
              <a:lnSpc>
                <a:spcPct val="78000"/>
              </a:lnSpc>
              <a:buNone/>
            </a:pPr>
            <a:r>
              <a:rPr lang="en-US" sz="700" spc="-12" kern="0" dirty="0">
                <a:solidFill>
                  <a:srgbClr val="272525"/>
                </a:solidFill>
                <a:latin typeface="Inter" pitchFamily="34" charset="0"/>
                <a:ea typeface="Inter" pitchFamily="34" charset="-122"/>
                <a:cs typeface="Inter" pitchFamily="34" charset="-120"/>
              </a:rPr>
              <a:t>Research OS and high-assurance production</a:t>
            </a:r>
            <a:endParaRPr lang="en-US" sz="700" dirty="0"/>
          </a:p>
        </p:txBody>
      </p:sp>
      <p:sp>
        <p:nvSpPr>
          <p:cNvPr id="32" name="Text 29"/>
          <p:cNvSpPr/>
          <p:nvPr/>
        </p:nvSpPr>
        <p:spPr>
          <a:xfrm>
            <a:off x="6217487" y="3627735"/>
            <a:ext cx="5319083" cy="311845"/>
          </a:xfrm>
          <a:prstGeom prst="rect">
            <a:avLst/>
          </a:prstGeom>
          <a:noFill/>
          <a:ln/>
        </p:spPr>
        <p:txBody>
          <a:bodyPr wrap="none" lIns="0" tIns="0" rIns="0" bIns="0" rtlCol="0" anchor="t"/>
          <a:lstStyle/>
          <a:p>
            <a:pPr algn="ctr" indent="0" marL="0">
              <a:lnSpc>
                <a:spcPct val="83000"/>
              </a:lnSpc>
              <a:buNone/>
            </a:pPr>
            <a:r>
              <a:rPr lang="en-US" sz="2450" b="1" spc="-74" kern="0" dirty="0">
                <a:solidFill>
                  <a:srgbClr val="272525"/>
                </a:solidFill>
                <a:latin typeface="Inter Bold" pitchFamily="34" charset="0"/>
                <a:ea typeface="Inter Bold" pitchFamily="34" charset="-122"/>
                <a:cs typeface="Inter Bold" pitchFamily="34" charset="-120"/>
              </a:rPr>
              <a:t>17</a:t>
            </a:r>
            <a:endParaRPr lang="en-US" sz="2450" dirty="0"/>
          </a:p>
        </p:txBody>
      </p:sp>
      <p:sp>
        <p:nvSpPr>
          <p:cNvPr id="33" name="Text 30"/>
          <p:cNvSpPr/>
          <p:nvPr/>
        </p:nvSpPr>
        <p:spPr>
          <a:xfrm>
            <a:off x="6217487" y="4022229"/>
            <a:ext cx="5319083" cy="147638"/>
          </a:xfrm>
          <a:prstGeom prst="rect">
            <a:avLst/>
          </a:prstGeom>
          <a:noFill/>
          <a:ln/>
        </p:spPr>
        <p:txBody>
          <a:bodyPr wrap="none" lIns="0" tIns="0" rIns="0" bIns="0" rtlCol="0" anchor="t"/>
          <a:lstStyle/>
          <a:p>
            <a:pPr algn="ctr"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Kernel Primitives</a:t>
            </a:r>
            <a:endParaRPr lang="en-US" sz="900" dirty="0"/>
          </a:p>
        </p:txBody>
      </p:sp>
      <p:sp>
        <p:nvSpPr>
          <p:cNvPr id="34" name="Text 31"/>
          <p:cNvSpPr/>
          <p:nvPr/>
        </p:nvSpPr>
        <p:spPr>
          <a:xfrm>
            <a:off x="6217487" y="4217095"/>
            <a:ext cx="5319083" cy="113407"/>
          </a:xfrm>
          <a:prstGeom prst="rect">
            <a:avLst/>
          </a:prstGeom>
          <a:noFill/>
          <a:ln/>
        </p:spPr>
        <p:txBody>
          <a:bodyPr wrap="none" lIns="0" tIns="0" rIns="0" bIns="0" rtlCol="0" anchor="t"/>
          <a:lstStyle/>
          <a:p>
            <a:pPr algn="ctr"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Contract-driven, versioned, enforced at runtime</a:t>
            </a:r>
            <a:endParaRPr lang="en-US" sz="700" dirty="0"/>
          </a:p>
        </p:txBody>
      </p:sp>
      <p:sp>
        <p:nvSpPr>
          <p:cNvPr id="35" name="Text 32"/>
          <p:cNvSpPr/>
          <p:nvPr/>
        </p:nvSpPr>
        <p:spPr>
          <a:xfrm>
            <a:off x="6217487" y="4472186"/>
            <a:ext cx="5319083" cy="311845"/>
          </a:xfrm>
          <a:prstGeom prst="rect">
            <a:avLst/>
          </a:prstGeom>
          <a:noFill/>
          <a:ln/>
        </p:spPr>
        <p:txBody>
          <a:bodyPr wrap="none" lIns="0" tIns="0" rIns="0" bIns="0" rtlCol="0" anchor="t"/>
          <a:lstStyle/>
          <a:p>
            <a:pPr algn="ctr" indent="0" marL="0">
              <a:lnSpc>
                <a:spcPct val="83000"/>
              </a:lnSpc>
              <a:buNone/>
            </a:pPr>
            <a:r>
              <a:rPr lang="en-US" sz="2450" b="1" spc="-74" kern="0" dirty="0">
                <a:solidFill>
                  <a:srgbClr val="272525"/>
                </a:solidFill>
                <a:latin typeface="Inter Bold" pitchFamily="34" charset="0"/>
                <a:ea typeface="Inter Bold" pitchFamily="34" charset="-122"/>
                <a:cs typeface="Inter Bold" pitchFamily="34" charset="-120"/>
              </a:rPr>
              <a:t>12</a:t>
            </a:r>
            <a:endParaRPr lang="en-US" sz="2450" dirty="0"/>
          </a:p>
        </p:txBody>
      </p:sp>
      <p:sp>
        <p:nvSpPr>
          <p:cNvPr id="36" name="Text 33"/>
          <p:cNvSpPr/>
          <p:nvPr/>
        </p:nvSpPr>
        <p:spPr>
          <a:xfrm>
            <a:off x="6217487" y="4866680"/>
            <a:ext cx="5319083" cy="147638"/>
          </a:xfrm>
          <a:prstGeom prst="rect">
            <a:avLst/>
          </a:prstGeom>
          <a:noFill/>
          <a:ln/>
        </p:spPr>
        <p:txBody>
          <a:bodyPr wrap="none" lIns="0" tIns="0" rIns="0" bIns="0" rtlCol="0" anchor="t"/>
          <a:lstStyle/>
          <a:p>
            <a:pPr algn="ctr"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Platform Fabrics</a:t>
            </a:r>
            <a:endParaRPr lang="en-US" sz="900" dirty="0"/>
          </a:p>
        </p:txBody>
      </p:sp>
      <p:sp>
        <p:nvSpPr>
          <p:cNvPr id="37" name="Text 34"/>
          <p:cNvSpPr/>
          <p:nvPr/>
        </p:nvSpPr>
        <p:spPr>
          <a:xfrm>
            <a:off x="6217487" y="5061545"/>
            <a:ext cx="5319083" cy="113407"/>
          </a:xfrm>
          <a:prstGeom prst="rect">
            <a:avLst/>
          </a:prstGeom>
          <a:noFill/>
          <a:ln/>
        </p:spPr>
        <p:txBody>
          <a:bodyPr wrap="none" lIns="0" tIns="0" rIns="0" bIns="0" rtlCol="0" anchor="t"/>
          <a:lstStyle/>
          <a:p>
            <a:pPr algn="ctr"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Shared cross-cutting layers across all systems</a:t>
            </a:r>
            <a:endParaRPr lang="en-US" sz="700" dirty="0"/>
          </a:p>
        </p:txBody>
      </p:sp>
      <p:sp>
        <p:nvSpPr>
          <p:cNvPr id="38" name="Text 35"/>
          <p:cNvSpPr/>
          <p:nvPr/>
        </p:nvSpPr>
        <p:spPr>
          <a:xfrm>
            <a:off x="6217487" y="5316637"/>
            <a:ext cx="5319083" cy="311845"/>
          </a:xfrm>
          <a:prstGeom prst="rect">
            <a:avLst/>
          </a:prstGeom>
          <a:noFill/>
          <a:ln/>
        </p:spPr>
        <p:txBody>
          <a:bodyPr wrap="none" lIns="0" tIns="0" rIns="0" bIns="0" rtlCol="0" anchor="t"/>
          <a:lstStyle/>
          <a:p>
            <a:pPr algn="ctr" indent="0" marL="0">
              <a:lnSpc>
                <a:spcPct val="83000"/>
              </a:lnSpc>
              <a:buNone/>
            </a:pPr>
            <a:r>
              <a:rPr lang="en-US" sz="2450" b="1" spc="-74" kern="0" dirty="0">
                <a:solidFill>
                  <a:srgbClr val="272525"/>
                </a:solidFill>
                <a:latin typeface="Inter Bold" pitchFamily="34" charset="0"/>
                <a:ea typeface="Inter Bold" pitchFamily="34" charset="-122"/>
                <a:cs typeface="Inter Bold" pitchFamily="34" charset="-120"/>
              </a:rPr>
              <a:t>100</a:t>
            </a:r>
            <a:endParaRPr lang="en-US" sz="2450" dirty="0"/>
          </a:p>
        </p:txBody>
      </p:sp>
      <p:sp>
        <p:nvSpPr>
          <p:cNvPr id="39" name="Text 36"/>
          <p:cNvSpPr/>
          <p:nvPr/>
        </p:nvSpPr>
        <p:spPr>
          <a:xfrm>
            <a:off x="6217487" y="5711130"/>
            <a:ext cx="5319083" cy="147638"/>
          </a:xfrm>
          <a:prstGeom prst="rect">
            <a:avLst/>
          </a:prstGeom>
          <a:noFill/>
          <a:ln/>
        </p:spPr>
        <p:txBody>
          <a:bodyPr wrap="none" lIns="0" tIns="0" rIns="0" bIns="0" rtlCol="0" anchor="t"/>
          <a:lstStyle/>
          <a:p>
            <a:pPr algn="ctr"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Systems Portfolio</a:t>
            </a:r>
            <a:endParaRPr lang="en-US" sz="900" dirty="0"/>
          </a:p>
        </p:txBody>
      </p:sp>
      <p:sp>
        <p:nvSpPr>
          <p:cNvPr id="40" name="Text 37"/>
          <p:cNvSpPr/>
          <p:nvPr/>
        </p:nvSpPr>
        <p:spPr>
          <a:xfrm>
            <a:off x="6217487" y="5905996"/>
            <a:ext cx="5319083" cy="113407"/>
          </a:xfrm>
          <a:prstGeom prst="rect">
            <a:avLst/>
          </a:prstGeom>
          <a:noFill/>
          <a:ln/>
        </p:spPr>
        <p:txBody>
          <a:bodyPr wrap="none" lIns="0" tIns="0" rIns="0" bIns="0" rtlCol="0" anchor="t"/>
          <a:lstStyle/>
          <a:p>
            <a:pPr algn="ctr"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Production and research systems on one kernel</a:t>
            </a:r>
            <a:endParaRPr lang="en-US" sz="700" dirty="0"/>
          </a:p>
        </p:txBody>
      </p:sp>
      <p:sp>
        <p:nvSpPr>
          <p:cNvPr id="41" name="Text 38"/>
          <p:cNvSpPr/>
          <p:nvPr/>
        </p:nvSpPr>
        <p:spPr>
          <a:xfrm>
            <a:off x="6217487" y="6161088"/>
            <a:ext cx="5319083" cy="311845"/>
          </a:xfrm>
          <a:prstGeom prst="rect">
            <a:avLst/>
          </a:prstGeom>
          <a:noFill/>
          <a:ln/>
        </p:spPr>
        <p:txBody>
          <a:bodyPr wrap="none" lIns="0" tIns="0" rIns="0" bIns="0" rtlCol="0" anchor="t"/>
          <a:lstStyle/>
          <a:p>
            <a:pPr algn="ctr" indent="0" marL="0">
              <a:lnSpc>
                <a:spcPct val="83000"/>
              </a:lnSpc>
              <a:buNone/>
            </a:pPr>
            <a:r>
              <a:rPr lang="en-US" sz="2450" b="1" spc="-74" kern="0" dirty="0">
                <a:solidFill>
                  <a:srgbClr val="272525"/>
                </a:solidFill>
                <a:latin typeface="Inter Bold" pitchFamily="34" charset="0"/>
                <a:ea typeface="Inter Bold" pitchFamily="34" charset="-122"/>
                <a:cs typeface="Inter Bold" pitchFamily="34" charset="-120"/>
              </a:rPr>
              <a:t>10</a:t>
            </a:r>
            <a:endParaRPr lang="en-US" sz="2450" dirty="0"/>
          </a:p>
        </p:txBody>
      </p:sp>
      <p:sp>
        <p:nvSpPr>
          <p:cNvPr id="42" name="Text 39"/>
          <p:cNvSpPr/>
          <p:nvPr/>
        </p:nvSpPr>
        <p:spPr>
          <a:xfrm>
            <a:off x="6217487" y="6555581"/>
            <a:ext cx="5319083" cy="147638"/>
          </a:xfrm>
          <a:prstGeom prst="rect">
            <a:avLst/>
          </a:prstGeom>
          <a:noFill/>
          <a:ln/>
        </p:spPr>
        <p:txBody>
          <a:bodyPr wrap="none" lIns="0" tIns="0" rIns="0" bIns="0" rtlCol="0" anchor="t"/>
          <a:lstStyle/>
          <a:p>
            <a:pPr algn="ctr"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Environments</a:t>
            </a:r>
            <a:endParaRPr lang="en-US" sz="900" dirty="0"/>
          </a:p>
        </p:txBody>
      </p:sp>
      <p:sp>
        <p:nvSpPr>
          <p:cNvPr id="43" name="Text 40"/>
          <p:cNvSpPr/>
          <p:nvPr/>
        </p:nvSpPr>
        <p:spPr>
          <a:xfrm>
            <a:off x="6217487" y="6750447"/>
            <a:ext cx="5319083" cy="113407"/>
          </a:xfrm>
          <a:prstGeom prst="rect">
            <a:avLst/>
          </a:prstGeom>
          <a:noFill/>
          <a:ln/>
        </p:spPr>
        <p:txBody>
          <a:bodyPr wrap="none" lIns="0" tIns="0" rIns="0" bIns="0" rtlCol="0" anchor="t"/>
          <a:lstStyle/>
          <a:p>
            <a:pPr algn="ctr"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From local dev to high-assurance production</a:t>
            </a:r>
            <a:endParaRPr lang="en-US" sz="700" dirty="0"/>
          </a:p>
        </p:txBody>
      </p:sp>
      <p:sp>
        <p:nvSpPr>
          <p:cNvPr id="44" name="Shape 41"/>
          <p:cNvSpPr/>
          <p:nvPr/>
        </p:nvSpPr>
        <p:spPr>
          <a:xfrm>
            <a:off x="6217487" y="6916936"/>
            <a:ext cx="5319083" cy="472380"/>
          </a:xfrm>
          <a:prstGeom prst="roundRect">
            <a:avLst>
              <a:gd name="adj" fmla="val 8403"/>
            </a:avLst>
          </a:prstGeom>
          <a:solidFill>
            <a:srgbClr val="DADBF1"/>
          </a:solidFill>
          <a:ln/>
        </p:spPr>
      </p:sp>
      <p:pic>
        <p:nvPicPr>
          <p:cNvPr id="45" name="Image 1" descr="preencoded.png">    </p:cNvPr>
          <p:cNvPicPr>
            <a:picLocks noChangeAspect="1"/>
          </p:cNvPicPr>
          <p:nvPr/>
        </p:nvPicPr>
        <p:blipFill>
          <a:blip r:embed="rId2"/>
          <a:stretch>
            <a:fillRect/>
          </a:stretch>
        </p:blipFill>
        <p:spPr>
          <a:xfrm>
            <a:off x="6311941" y="6987778"/>
            <a:ext cx="118067" cy="94456"/>
          </a:xfrm>
          <a:prstGeom prst="rect">
            <a:avLst/>
          </a:prstGeom>
        </p:spPr>
      </p:pic>
      <p:sp>
        <p:nvSpPr>
          <p:cNvPr id="46" name="Text 42"/>
          <p:cNvSpPr/>
          <p:nvPr/>
        </p:nvSpPr>
        <p:spPr>
          <a:xfrm>
            <a:off x="6524462" y="6983016"/>
            <a:ext cx="4917654" cy="340221"/>
          </a:xfrm>
          <a:prstGeom prst="rect">
            <a:avLst/>
          </a:prstGeom>
          <a:noFill/>
          <a:ln/>
        </p:spPr>
        <p:txBody>
          <a:bodyPr wrap="square" lIns="0" tIns="0" rIns="0" bIns="0" rtlCol="0" anchor="t">
            <a:normAutofit/>
          </a:bodyPr>
          <a:lstStyle/>
          <a:p>
            <a:pPr algn="l" indent="0" marL="0">
              <a:lnSpc>
                <a:spcPct val="100000"/>
              </a:lnSpc>
              <a:buNone/>
            </a:pPr>
            <a:r>
              <a:rPr lang="en-US" sz="700" b="1" spc="-15" kern="0" dirty="0">
                <a:solidFill>
                  <a:srgbClr val="000000"/>
                </a:solidFill>
                <a:latin typeface="Inter Bold" pitchFamily="34" charset="0"/>
                <a:ea typeface="Inter Bold" pitchFamily="34" charset="-122"/>
                <a:cs typeface="Inter Bold" pitchFamily="34" charset="-120"/>
              </a:rPr>
              <a:t>Evidence states</a:t>
            </a:r>
            <a:pPr algn="l" indent="0" marL="0">
              <a:lnSpc>
                <a:spcPct val="100000"/>
              </a:lnSpc>
              <a:buNone/>
            </a:pPr>
            <a:r>
              <a:rPr lang="en-US" sz="700" spc="-15" kern="0" dirty="0">
                <a:solidFill>
                  <a:srgbClr val="000000"/>
                </a:solidFill>
                <a:latin typeface="Inter" pitchFamily="34" charset="0"/>
                <a:ea typeface="Inter" pitchFamily="34" charset="-122"/>
                <a:cs typeface="Inter" pitchFamily="34" charset="-120"/>
              </a:rPr>
              <a:t> govern all delivery claims: UNKNOWN → DISCOVERED → PLANNED → IMPLEMENTED → TESTED → VERIFIED → PRODUCTION_READY. Target architecture is clearly distinguished from verified implementation at all times.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35893"/>
            <a:ext cx="10868745" cy="561181"/>
          </a:xfrm>
          <a:prstGeom prst="rect">
            <a:avLst/>
          </a:prstGeom>
          <a:noFill/>
          <a:ln/>
        </p:spPr>
        <p:txBody>
          <a:bodyPr wrap="none" lIns="0" tIns="0" rIns="0" bIns="0" rtlCol="0" anchor="t"/>
          <a:lstStyle/>
          <a:p>
            <a:pPr algn="l" indent="0" marL="0">
              <a:lnSpc>
                <a:spcPct val="104000"/>
              </a:lnSpc>
              <a:buNone/>
            </a:pPr>
            <a:r>
              <a:rPr lang="en-US" sz="3500" b="1" spc="-106" kern="0" dirty="0">
                <a:solidFill>
                  <a:srgbClr val="000000"/>
                </a:solidFill>
                <a:latin typeface="Inter Bold" pitchFamily="34" charset="0"/>
                <a:ea typeface="Inter Bold" pitchFamily="34" charset="-122"/>
                <a:cs typeface="Inter Bold" pitchFamily="34" charset="-120"/>
              </a:rPr>
              <a:t>The Transformative Vision of ShiVi</a:t>
            </a:r>
            <a:endParaRPr lang="en-US" sz="3500" dirty="0"/>
          </a:p>
        </p:txBody>
      </p:sp>
      <p:sp>
        <p:nvSpPr>
          <p:cNvPr id="3" name="Text 1"/>
          <p:cNvSpPr/>
          <p:nvPr/>
        </p:nvSpPr>
        <p:spPr>
          <a:xfrm>
            <a:off x="661475" y="1538188"/>
            <a:ext cx="10868745" cy="560189"/>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ShiVi is more than a platform; it's a paradigm shift designed to unlock the full potential of enterprise intelligence. It redefines innovation, operational excellence, and strategic agility for the modern business landscape.</a:t>
            </a:r>
            <a:endParaRPr lang="en-US" sz="14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0266"/>
            <a:ext cx="359064" cy="359073"/>
          </a:xfrm>
          <a:prstGeom prst="rect">
            <a:avLst/>
          </a:prstGeom>
        </p:spPr>
      </p:pic>
      <p:sp>
        <p:nvSpPr>
          <p:cNvPr id="5" name="Text 2"/>
          <p:cNvSpPr/>
          <p:nvPr/>
        </p:nvSpPr>
        <p:spPr>
          <a:xfrm>
            <a:off x="661475" y="2862560"/>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Unified Intelligence</a:t>
            </a:r>
            <a:endParaRPr lang="en-US" sz="1750" dirty="0"/>
          </a:p>
        </p:txBody>
      </p:sp>
      <p:sp>
        <p:nvSpPr>
          <p:cNvPr id="6" name="Text 3"/>
          <p:cNvSpPr/>
          <p:nvPr/>
        </p:nvSpPr>
        <p:spPr>
          <a:xfrm>
            <a:off x="661475" y="3245346"/>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Bridging disconnected data and AI silos with a single, intelligent operating kernel that orchestrates complex workflows across the enterprise.</a:t>
            </a:r>
            <a:endParaRPr lang="en-US" sz="14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2406" y="2290266"/>
            <a:ext cx="359064" cy="359073"/>
          </a:xfrm>
          <a:prstGeom prst="rect">
            <a:avLst/>
          </a:prstGeom>
        </p:spPr>
      </p:pic>
      <p:sp>
        <p:nvSpPr>
          <p:cNvPr id="8" name="Text 4"/>
          <p:cNvSpPr/>
          <p:nvPr/>
        </p:nvSpPr>
        <p:spPr>
          <a:xfrm>
            <a:off x="6202406" y="2862560"/>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Pioneering Architecture</a:t>
            </a:r>
            <a:endParaRPr lang="en-US" sz="1750" dirty="0"/>
          </a:p>
        </p:txBody>
      </p:sp>
      <p:sp>
        <p:nvSpPr>
          <p:cNvPr id="9" name="Text 5"/>
          <p:cNvSpPr/>
          <p:nvPr/>
        </p:nvSpPr>
        <p:spPr>
          <a:xfrm>
            <a:off x="6202406" y="3245346"/>
            <a:ext cx="5327814"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A novel kernel-based approach enabling a 100-system ecosystem, setting new standards for AI deployment, security, and governance.</a:t>
            </a:r>
            <a:endParaRPr lang="en-US" sz="14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26744"/>
            <a:ext cx="359064" cy="359073"/>
          </a:xfrm>
          <a:prstGeom prst="rect">
            <a:avLst/>
          </a:prstGeom>
        </p:spPr>
      </p:pic>
      <p:sp>
        <p:nvSpPr>
          <p:cNvPr id="11" name="Text 6"/>
          <p:cNvSpPr/>
          <p:nvPr/>
        </p:nvSpPr>
        <p:spPr>
          <a:xfrm>
            <a:off x="661475" y="4999038"/>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Operational Excellence</a:t>
            </a:r>
            <a:endParaRPr lang="en-US" sz="1750" dirty="0"/>
          </a:p>
        </p:txBody>
      </p:sp>
      <p:sp>
        <p:nvSpPr>
          <p:cNvPr id="12" name="Text 7"/>
          <p:cNvSpPr/>
          <p:nvPr/>
        </p:nvSpPr>
        <p:spPr>
          <a:xfrm>
            <a:off x="661475" y="5381823"/>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Automating complex processes, enhancing decision-making, and ensuring reproducibility and auditability from research to production.</a:t>
            </a:r>
            <a:endParaRPr lang="en-US" sz="14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2406" y="4426744"/>
            <a:ext cx="359064" cy="359073"/>
          </a:xfrm>
          <a:prstGeom prst="rect">
            <a:avLst/>
          </a:prstGeom>
        </p:spPr>
      </p:pic>
      <p:sp>
        <p:nvSpPr>
          <p:cNvPr id="14" name="Text 8"/>
          <p:cNvSpPr/>
          <p:nvPr/>
        </p:nvSpPr>
        <p:spPr>
          <a:xfrm>
            <a:off x="6202406" y="4999038"/>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Future-Proof Security</a:t>
            </a:r>
            <a:endParaRPr lang="en-US" sz="1750" dirty="0"/>
          </a:p>
        </p:txBody>
      </p:sp>
      <p:sp>
        <p:nvSpPr>
          <p:cNvPr id="15" name="Text 9"/>
          <p:cNvSpPr/>
          <p:nvPr/>
        </p:nvSpPr>
        <p:spPr>
          <a:xfrm>
            <a:off x="6202406" y="5381823"/>
            <a:ext cx="5327814" cy="560189"/>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Integrating zero-trust principles and robust governance to protect sensitive data and AI assets against evolving threats.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635893"/>
            <a:ext cx="10868745" cy="561181"/>
          </a:xfrm>
          <a:prstGeom prst="rect">
            <a:avLst/>
          </a:prstGeom>
          <a:noFill/>
          <a:ln/>
        </p:spPr>
        <p:txBody>
          <a:bodyPr wrap="none" lIns="0" tIns="0" rIns="0" bIns="0" rtlCol="0" anchor="t"/>
          <a:lstStyle/>
          <a:p>
            <a:pPr algn="l" indent="0" marL="0">
              <a:lnSpc>
                <a:spcPct val="104000"/>
              </a:lnSpc>
              <a:buNone/>
            </a:pPr>
            <a:r>
              <a:rPr lang="en-US" sz="3500" b="1" spc="-106" kern="0" dirty="0">
                <a:solidFill>
                  <a:srgbClr val="000000"/>
                </a:solidFill>
                <a:latin typeface="Inter Bold" pitchFamily="34" charset="0"/>
                <a:ea typeface="Inter Bold" pitchFamily="34" charset="-122"/>
                <a:cs typeface="Inter Bold" pitchFamily="34" charset="-120"/>
              </a:rPr>
              <a:t>Elastic Scalability &amp; Resilience</a:t>
            </a:r>
            <a:endParaRPr lang="en-US" sz="3500" dirty="0"/>
          </a:p>
        </p:txBody>
      </p:sp>
      <p:sp>
        <p:nvSpPr>
          <p:cNvPr id="3" name="Text 1"/>
          <p:cNvSpPr/>
          <p:nvPr/>
        </p:nvSpPr>
        <p:spPr>
          <a:xfrm>
            <a:off x="661475" y="1538188"/>
            <a:ext cx="10868745" cy="560189"/>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ShiVi is engineered from the ground up for massive scale and unparalleled resilience, ensuring enterprise-grade performance and continuous availability even under extreme loads.</a:t>
            </a:r>
            <a:endParaRPr lang="en-US" sz="14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0266"/>
            <a:ext cx="359064" cy="359073"/>
          </a:xfrm>
          <a:prstGeom prst="rect">
            <a:avLst/>
          </a:prstGeom>
        </p:spPr>
      </p:pic>
      <p:sp>
        <p:nvSpPr>
          <p:cNvPr id="5" name="Text 2"/>
          <p:cNvSpPr/>
          <p:nvPr/>
        </p:nvSpPr>
        <p:spPr>
          <a:xfrm>
            <a:off x="661475" y="2862560"/>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Horizontal Scaling</a:t>
            </a:r>
            <a:endParaRPr lang="en-US" sz="1750" dirty="0"/>
          </a:p>
        </p:txBody>
      </p:sp>
      <p:sp>
        <p:nvSpPr>
          <p:cNvPr id="6" name="Text 3"/>
          <p:cNvSpPr/>
          <p:nvPr/>
        </p:nvSpPr>
        <p:spPr>
          <a:xfrm>
            <a:off x="661475" y="3245346"/>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Leveraging cloud-native microservices architecture, ShiVi scales horizontally across compute, data, and agent layers to meet fluctuating demand.</a:t>
            </a:r>
            <a:endParaRPr lang="en-US" sz="14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2406" y="2290266"/>
            <a:ext cx="359064" cy="359073"/>
          </a:xfrm>
          <a:prstGeom prst="rect">
            <a:avLst/>
          </a:prstGeom>
        </p:spPr>
      </p:pic>
      <p:sp>
        <p:nvSpPr>
          <p:cNvPr id="8" name="Text 4"/>
          <p:cNvSpPr/>
          <p:nvPr/>
        </p:nvSpPr>
        <p:spPr>
          <a:xfrm>
            <a:off x="6202406" y="2862560"/>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Fault Tolerance</a:t>
            </a:r>
            <a:endParaRPr lang="en-US" sz="1750" dirty="0"/>
          </a:p>
        </p:txBody>
      </p:sp>
      <p:sp>
        <p:nvSpPr>
          <p:cNvPr id="9" name="Text 5"/>
          <p:cNvSpPr/>
          <p:nvPr/>
        </p:nvSpPr>
        <p:spPr>
          <a:xfrm>
            <a:off x="6202406" y="3245346"/>
            <a:ext cx="5327814"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Built-in redundancy and self-healing mechanisms ensure that individual component failures do not disrupt overall system operation or data integrity.</a:t>
            </a:r>
            <a:endParaRPr lang="en-US" sz="14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26744"/>
            <a:ext cx="359064" cy="359073"/>
          </a:xfrm>
          <a:prstGeom prst="rect">
            <a:avLst/>
          </a:prstGeom>
        </p:spPr>
      </p:pic>
      <p:sp>
        <p:nvSpPr>
          <p:cNvPr id="11" name="Text 6"/>
          <p:cNvSpPr/>
          <p:nvPr/>
        </p:nvSpPr>
        <p:spPr>
          <a:xfrm>
            <a:off x="661475" y="4999038"/>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Global Distribution</a:t>
            </a:r>
            <a:endParaRPr lang="en-US" sz="1750" dirty="0"/>
          </a:p>
        </p:txBody>
      </p:sp>
      <p:sp>
        <p:nvSpPr>
          <p:cNvPr id="12" name="Text 7"/>
          <p:cNvSpPr/>
          <p:nvPr/>
        </p:nvSpPr>
        <p:spPr>
          <a:xfrm>
            <a:off x="661475" y="5381823"/>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Designed for multi-region and multi-cloud deployments, providing low-latency access and compliance across diverse geographical requirements.</a:t>
            </a:r>
            <a:endParaRPr lang="en-US" sz="14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2406" y="4426744"/>
            <a:ext cx="359064" cy="359073"/>
          </a:xfrm>
          <a:prstGeom prst="rect">
            <a:avLst/>
          </a:prstGeom>
        </p:spPr>
      </p:pic>
      <p:sp>
        <p:nvSpPr>
          <p:cNvPr id="14" name="Text 8"/>
          <p:cNvSpPr/>
          <p:nvPr/>
        </p:nvSpPr>
        <p:spPr>
          <a:xfrm>
            <a:off x="6202406" y="4999038"/>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Performance Optimization</a:t>
            </a:r>
            <a:endParaRPr lang="en-US" sz="1750" dirty="0"/>
          </a:p>
        </p:txBody>
      </p:sp>
      <p:sp>
        <p:nvSpPr>
          <p:cNvPr id="15" name="Text 9"/>
          <p:cNvSpPr/>
          <p:nvPr/>
        </p:nvSpPr>
        <p:spPr>
          <a:xfrm>
            <a:off x="6202406" y="5381823"/>
            <a:ext cx="5327814"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Continuous profiling, load testing, and intelligent resource allocation maintain peak performance and cost efficiency at scale.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635893"/>
            <a:ext cx="10868745" cy="561181"/>
          </a:xfrm>
          <a:prstGeom prst="rect">
            <a:avLst/>
          </a:prstGeom>
          <a:noFill/>
          <a:ln/>
        </p:spPr>
        <p:txBody>
          <a:bodyPr wrap="none" lIns="0" tIns="0" rIns="0" bIns="0" rtlCol="0" anchor="t"/>
          <a:lstStyle/>
          <a:p>
            <a:pPr algn="l" indent="0" marL="0">
              <a:lnSpc>
                <a:spcPct val="104000"/>
              </a:lnSpc>
              <a:buNone/>
            </a:pPr>
            <a:r>
              <a:rPr lang="en-US" sz="3500" b="1" spc="-106" kern="0" dirty="0">
                <a:solidFill>
                  <a:srgbClr val="000000"/>
                </a:solidFill>
                <a:latin typeface="Inter Bold" pitchFamily="34" charset="0"/>
                <a:ea typeface="Inter Bold" pitchFamily="34" charset="-122"/>
                <a:cs typeface="Inter Bold" pitchFamily="34" charset="-120"/>
              </a:rPr>
              <a:t>Performance Evaluation &amp; Assurance</a:t>
            </a:r>
            <a:endParaRPr lang="en-US" sz="3500" dirty="0"/>
          </a:p>
        </p:txBody>
      </p:sp>
      <p:sp>
        <p:nvSpPr>
          <p:cNvPr id="3" name="Text 1"/>
          <p:cNvSpPr/>
          <p:nvPr/>
        </p:nvSpPr>
        <p:spPr>
          <a:xfrm>
            <a:off x="661475" y="1538188"/>
            <a:ext cx="10868745" cy="560189"/>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ShiVi's comprehensive evaluation framework ensures continuous optimization, transparent impact measurement, and reliable performance across the entire enterprise intelligence ecosystem.</a:t>
            </a:r>
            <a:endParaRPr lang="en-US" sz="14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0266"/>
            <a:ext cx="359064" cy="359073"/>
          </a:xfrm>
          <a:prstGeom prst="rect">
            <a:avLst/>
          </a:prstGeom>
        </p:spPr>
      </p:pic>
      <p:sp>
        <p:nvSpPr>
          <p:cNvPr id="5" name="Text 2"/>
          <p:cNvSpPr/>
          <p:nvPr/>
        </p:nvSpPr>
        <p:spPr>
          <a:xfrm>
            <a:off x="661475" y="2862560"/>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Metric-Driven Optimization</a:t>
            </a:r>
            <a:endParaRPr lang="en-US" sz="1750" dirty="0"/>
          </a:p>
        </p:txBody>
      </p:sp>
      <p:sp>
        <p:nvSpPr>
          <p:cNvPr id="6" name="Text 3"/>
          <p:cNvSpPr/>
          <p:nvPr/>
        </p:nvSpPr>
        <p:spPr>
          <a:xfrm>
            <a:off x="661475" y="3245346"/>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Real-time dashboards and custom alerts track key performance indicators (KPIs) and service level objectives (SLOs) to identify bottlenecks and opportunities for improvement.</a:t>
            </a:r>
            <a:endParaRPr lang="en-US" sz="14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2406" y="2290266"/>
            <a:ext cx="359064" cy="359073"/>
          </a:xfrm>
          <a:prstGeom prst="rect">
            <a:avLst/>
          </a:prstGeom>
        </p:spPr>
      </p:pic>
      <p:sp>
        <p:nvSpPr>
          <p:cNvPr id="8" name="Text 4"/>
          <p:cNvSpPr/>
          <p:nvPr/>
        </p:nvSpPr>
        <p:spPr>
          <a:xfrm>
            <a:off x="6202406" y="2862560"/>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Reproducibility &amp; Auditability</a:t>
            </a:r>
            <a:endParaRPr lang="en-US" sz="1750" dirty="0"/>
          </a:p>
        </p:txBody>
      </p:sp>
      <p:sp>
        <p:nvSpPr>
          <p:cNvPr id="9" name="Text 5"/>
          <p:cNvSpPr/>
          <p:nvPr/>
        </p:nvSpPr>
        <p:spPr>
          <a:xfrm>
            <a:off x="6202406" y="3245346"/>
            <a:ext cx="5327814"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Every agent, model, prompt, and data version is pinned, allowing for full traceability and recreation of any experiment or operational outcome.</a:t>
            </a:r>
            <a:endParaRPr lang="en-US" sz="14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26744"/>
            <a:ext cx="359064" cy="359073"/>
          </a:xfrm>
          <a:prstGeom prst="rect">
            <a:avLst/>
          </a:prstGeom>
        </p:spPr>
      </p:pic>
      <p:sp>
        <p:nvSpPr>
          <p:cNvPr id="11" name="Text 6"/>
          <p:cNvSpPr/>
          <p:nvPr/>
        </p:nvSpPr>
        <p:spPr>
          <a:xfrm>
            <a:off x="661475" y="4999038"/>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Continuous Validation</a:t>
            </a:r>
            <a:endParaRPr lang="en-US" sz="1750" dirty="0"/>
          </a:p>
        </p:txBody>
      </p:sp>
      <p:sp>
        <p:nvSpPr>
          <p:cNvPr id="12" name="Text 7"/>
          <p:cNvSpPr/>
          <p:nvPr/>
        </p:nvSpPr>
        <p:spPr>
          <a:xfrm>
            <a:off x="661475" y="5381823"/>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Automated testing, A/B experimentation, and adversarial probes continuously validate system integrity, model accuracy, and policy effectiveness in dynamic environments.</a:t>
            </a:r>
            <a:endParaRPr lang="en-US" sz="14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2406" y="4426744"/>
            <a:ext cx="359064" cy="359073"/>
          </a:xfrm>
          <a:prstGeom prst="rect">
            <a:avLst/>
          </a:prstGeom>
        </p:spPr>
      </p:pic>
      <p:sp>
        <p:nvSpPr>
          <p:cNvPr id="14" name="Text 8"/>
          <p:cNvSpPr/>
          <p:nvPr/>
        </p:nvSpPr>
        <p:spPr>
          <a:xfrm>
            <a:off x="6202406" y="4999038"/>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Impact Measurement</a:t>
            </a:r>
            <a:endParaRPr lang="en-US" sz="1750" dirty="0"/>
          </a:p>
        </p:txBody>
      </p:sp>
      <p:sp>
        <p:nvSpPr>
          <p:cNvPr id="15" name="Text 9"/>
          <p:cNvSpPr/>
          <p:nvPr/>
        </p:nvSpPr>
        <p:spPr>
          <a:xfrm>
            <a:off x="6202406" y="5381823"/>
            <a:ext cx="5327814"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Quantifiable business value is measured through defined metrics, demonstrating the tangible return on investment and strategic impact of ShiVi's capabilities.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1890216"/>
          </a:xfrm>
          <a:prstGeom prst="rect">
            <a:avLst/>
          </a:prstGeom>
        </p:spPr>
      </p:pic>
      <p:sp>
        <p:nvSpPr>
          <p:cNvPr id="3" name="Text 0"/>
          <p:cNvSpPr/>
          <p:nvPr/>
        </p:nvSpPr>
        <p:spPr>
          <a:xfrm>
            <a:off x="661475" y="2641699"/>
            <a:ext cx="10868745"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The Problem: Disconnected Intelligence</a:t>
            </a:r>
            <a:endParaRPr lang="en-US" sz="2950" dirty="0"/>
          </a:p>
        </p:txBody>
      </p:sp>
      <p:sp>
        <p:nvSpPr>
          <p:cNvPr id="4" name="Text 1"/>
          <p:cNvSpPr/>
          <p:nvPr/>
        </p:nvSpPr>
        <p:spPr>
          <a:xfrm>
            <a:off x="661475" y="3295551"/>
            <a:ext cx="10868745" cy="435372"/>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Modern enterprises are grappling with a rapidly expanding landscape of data, applications, and AI models, leading to critical challenges that ShiVi is uniquely designed to solve.</a:t>
            </a:r>
            <a:endParaRPr lang="en-US" sz="1150" dirty="0"/>
          </a:p>
        </p:txBody>
      </p:sp>
      <p:sp>
        <p:nvSpPr>
          <p:cNvPr id="5" name="Shape 2"/>
          <p:cNvSpPr/>
          <p:nvPr/>
        </p:nvSpPr>
        <p:spPr>
          <a:xfrm>
            <a:off x="661475" y="3866952"/>
            <a:ext cx="5373851" cy="1059259"/>
          </a:xfrm>
          <a:prstGeom prst="roundRect">
            <a:avLst>
              <a:gd name="adj" fmla="val 5996"/>
            </a:avLst>
          </a:prstGeom>
          <a:solidFill>
            <a:srgbClr val="DADBF1"/>
          </a:solidFill>
          <a:ln w="6350">
            <a:solidFill>
              <a:srgbClr val="C0C1D7"/>
            </a:solidFill>
            <a:prstDash val="solid"/>
          </a:ln>
        </p:spPr>
      </p:sp>
      <p:sp>
        <p:nvSpPr>
          <p:cNvPr id="6" name="Text 3"/>
          <p:cNvSpPr/>
          <p:nvPr/>
        </p:nvSpPr>
        <p:spPr>
          <a:xfrm>
            <a:off x="819030" y="4024511"/>
            <a:ext cx="5058740"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Data Silos &amp; Fragmentation</a:t>
            </a:r>
            <a:endParaRPr lang="en-US" sz="1450" dirty="0"/>
          </a:p>
        </p:txBody>
      </p:sp>
      <p:sp>
        <p:nvSpPr>
          <p:cNvPr id="7" name="Text 4"/>
          <p:cNvSpPr/>
          <p:nvPr/>
        </p:nvSpPr>
        <p:spPr>
          <a:xfrm>
            <a:off x="819030" y="4333280"/>
            <a:ext cx="5058740" cy="435372"/>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Information is scattered across disparate systems, preventing a unified view and hindering intelligent decision-making at scale.</a:t>
            </a:r>
            <a:endParaRPr lang="en-US" sz="1150" dirty="0"/>
          </a:p>
        </p:txBody>
      </p:sp>
      <p:sp>
        <p:nvSpPr>
          <p:cNvPr id="8" name="Shape 5"/>
          <p:cNvSpPr/>
          <p:nvPr/>
        </p:nvSpPr>
        <p:spPr>
          <a:xfrm>
            <a:off x="6156270" y="3866952"/>
            <a:ext cx="5373950" cy="1059259"/>
          </a:xfrm>
          <a:prstGeom prst="roundRect">
            <a:avLst>
              <a:gd name="adj" fmla="val 5996"/>
            </a:avLst>
          </a:prstGeom>
          <a:solidFill>
            <a:srgbClr val="DADBF1"/>
          </a:solidFill>
          <a:ln w="6350">
            <a:solidFill>
              <a:srgbClr val="C0C1D7"/>
            </a:solidFill>
            <a:prstDash val="solid"/>
          </a:ln>
        </p:spPr>
      </p:sp>
      <p:sp>
        <p:nvSpPr>
          <p:cNvPr id="9" name="Text 6"/>
          <p:cNvSpPr/>
          <p:nvPr/>
        </p:nvSpPr>
        <p:spPr>
          <a:xfrm>
            <a:off x="6313826" y="4024511"/>
            <a:ext cx="5058839"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AI Disconnect &amp; Governance Gap</a:t>
            </a:r>
            <a:endParaRPr lang="en-US" sz="1450" dirty="0"/>
          </a:p>
        </p:txBody>
      </p:sp>
      <p:sp>
        <p:nvSpPr>
          <p:cNvPr id="10" name="Text 7"/>
          <p:cNvSpPr/>
          <p:nvPr/>
        </p:nvSpPr>
        <p:spPr>
          <a:xfrm>
            <a:off x="6313826" y="4333280"/>
            <a:ext cx="5058839" cy="435372"/>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AI/ML models often operate in isolation, lacking consistent governance, lifecycle management, and integration into core business processes.</a:t>
            </a:r>
            <a:endParaRPr lang="en-US" sz="1150" dirty="0"/>
          </a:p>
        </p:txBody>
      </p:sp>
      <p:sp>
        <p:nvSpPr>
          <p:cNvPr id="11" name="Shape 8"/>
          <p:cNvSpPr/>
          <p:nvPr/>
        </p:nvSpPr>
        <p:spPr>
          <a:xfrm>
            <a:off x="661475" y="5047159"/>
            <a:ext cx="5373851" cy="1059259"/>
          </a:xfrm>
          <a:prstGeom prst="roundRect">
            <a:avLst>
              <a:gd name="adj" fmla="val 5996"/>
            </a:avLst>
          </a:prstGeom>
          <a:solidFill>
            <a:srgbClr val="DADBF1"/>
          </a:solidFill>
          <a:ln w="6350">
            <a:solidFill>
              <a:srgbClr val="C0C1D7"/>
            </a:solidFill>
            <a:prstDash val="solid"/>
          </a:ln>
        </p:spPr>
      </p:sp>
      <p:sp>
        <p:nvSpPr>
          <p:cNvPr id="12" name="Text 9"/>
          <p:cNvSpPr/>
          <p:nvPr/>
        </p:nvSpPr>
        <p:spPr>
          <a:xfrm>
            <a:off x="819030" y="5204718"/>
            <a:ext cx="5058740"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Security Vulnerabilities &amp; Trust Deficit</a:t>
            </a:r>
            <a:endParaRPr lang="en-US" sz="1450" dirty="0"/>
          </a:p>
        </p:txBody>
      </p:sp>
      <p:sp>
        <p:nvSpPr>
          <p:cNvPr id="13" name="Text 10"/>
          <p:cNvSpPr/>
          <p:nvPr/>
        </p:nvSpPr>
        <p:spPr>
          <a:xfrm>
            <a:off x="819030" y="5513487"/>
            <a:ext cx="5058740" cy="435372"/>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Fragmented security policies and opaque AI processes create exploitable loopholes and erode trust in automated systems.</a:t>
            </a:r>
            <a:endParaRPr lang="en-US" sz="1150" dirty="0"/>
          </a:p>
        </p:txBody>
      </p:sp>
      <p:sp>
        <p:nvSpPr>
          <p:cNvPr id="14" name="Shape 11"/>
          <p:cNvSpPr/>
          <p:nvPr/>
        </p:nvSpPr>
        <p:spPr>
          <a:xfrm>
            <a:off x="6156270" y="5047159"/>
            <a:ext cx="5373950" cy="1059259"/>
          </a:xfrm>
          <a:prstGeom prst="roundRect">
            <a:avLst>
              <a:gd name="adj" fmla="val 5996"/>
            </a:avLst>
          </a:prstGeom>
          <a:solidFill>
            <a:srgbClr val="DADBF1"/>
          </a:solidFill>
          <a:ln w="6350">
            <a:solidFill>
              <a:srgbClr val="C0C1D7"/>
            </a:solidFill>
            <a:prstDash val="solid"/>
          </a:ln>
        </p:spPr>
      </p:sp>
      <p:sp>
        <p:nvSpPr>
          <p:cNvPr id="15" name="Text 12"/>
          <p:cNvSpPr/>
          <p:nvPr/>
        </p:nvSpPr>
        <p:spPr>
          <a:xfrm>
            <a:off x="6313826" y="5204718"/>
            <a:ext cx="5058839"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272525"/>
                </a:solidFill>
                <a:latin typeface="Inter Bold" pitchFamily="34" charset="0"/>
                <a:ea typeface="Inter Bold" pitchFamily="34" charset="-122"/>
                <a:cs typeface="Inter Bold" pitchFamily="34" charset="-120"/>
              </a:rPr>
              <a:t>Slow Innovation &amp; Operational Friction</a:t>
            </a:r>
            <a:endParaRPr lang="en-US" sz="1450" dirty="0"/>
          </a:p>
        </p:txBody>
      </p:sp>
      <p:sp>
        <p:nvSpPr>
          <p:cNvPr id="16" name="Text 13"/>
          <p:cNvSpPr/>
          <p:nvPr/>
        </p:nvSpPr>
        <p:spPr>
          <a:xfrm>
            <a:off x="6313826" y="5513487"/>
            <a:ext cx="5058839" cy="435372"/>
          </a:xfrm>
          <a:prstGeom prst="rect">
            <a:avLst/>
          </a:prstGeom>
          <a:noFill/>
          <a:ln/>
        </p:spPr>
        <p:txBody>
          <a:bodyPr wrap="square" lIns="0" tIns="0" rIns="0" bIns="0" rtlCol="0" anchor="t">
            <a:normAutofit/>
          </a:bodyPr>
          <a:lstStyle/>
          <a:p>
            <a:pPr algn="l" indent="0" marL="0">
              <a:lnSpc>
                <a:spcPct val="120000"/>
              </a:lnSpc>
              <a:buNone/>
            </a:pPr>
            <a:r>
              <a:rPr lang="en-US" sz="1150" spc="-24" kern="0" dirty="0">
                <a:solidFill>
                  <a:srgbClr val="272525"/>
                </a:solidFill>
                <a:latin typeface="Inter" pitchFamily="34" charset="0"/>
                <a:ea typeface="Inter" pitchFamily="34" charset="-122"/>
                <a:cs typeface="Inter" pitchFamily="34" charset="-120"/>
              </a:rPr>
              <a:t>Manual processes, complex deployment pipelines, and a lack of reproducibility stifle rapid experimentation and efficient operations.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635893"/>
            <a:ext cx="10868745" cy="561181"/>
          </a:xfrm>
          <a:prstGeom prst="rect">
            <a:avLst/>
          </a:prstGeom>
          <a:noFill/>
          <a:ln/>
        </p:spPr>
        <p:txBody>
          <a:bodyPr wrap="none" lIns="0" tIns="0" rIns="0" bIns="0" rtlCol="0" anchor="t"/>
          <a:lstStyle/>
          <a:p>
            <a:pPr algn="l" indent="0" marL="0">
              <a:lnSpc>
                <a:spcPct val="104000"/>
              </a:lnSpc>
              <a:buNone/>
            </a:pPr>
            <a:r>
              <a:rPr lang="en-US" sz="3500" b="1" spc="-106" kern="0" dirty="0">
                <a:solidFill>
                  <a:srgbClr val="000000"/>
                </a:solidFill>
                <a:latin typeface="Inter Bold" pitchFamily="34" charset="0"/>
                <a:ea typeface="Inter Bold" pitchFamily="34" charset="-122"/>
                <a:cs typeface="Inter Bold" pitchFamily="34" charset="-120"/>
              </a:rPr>
              <a:t>ShiVi Across Industries &amp; Business Functions</a:t>
            </a:r>
            <a:endParaRPr lang="en-US" sz="3500" dirty="0"/>
          </a:p>
        </p:txBody>
      </p:sp>
      <p:sp>
        <p:nvSpPr>
          <p:cNvPr id="3" name="Text 1"/>
          <p:cNvSpPr/>
          <p:nvPr/>
        </p:nvSpPr>
        <p:spPr>
          <a:xfrm>
            <a:off x="661475" y="1538188"/>
            <a:ext cx="10868745" cy="560189"/>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ShiVi's intelligent kernel and unified platform empower enterprises to transform operations and unlock new opportunities across diverse sectors and critical business functions.</a:t>
            </a:r>
            <a:endParaRPr lang="en-US" sz="14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0266"/>
            <a:ext cx="359064" cy="359073"/>
          </a:xfrm>
          <a:prstGeom prst="rect">
            <a:avLst/>
          </a:prstGeom>
        </p:spPr>
      </p:pic>
      <p:sp>
        <p:nvSpPr>
          <p:cNvPr id="5" name="Text 2"/>
          <p:cNvSpPr/>
          <p:nvPr/>
        </p:nvSpPr>
        <p:spPr>
          <a:xfrm>
            <a:off x="661475" y="2862560"/>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Financial Services</a:t>
            </a:r>
            <a:endParaRPr lang="en-US" sz="1750" dirty="0"/>
          </a:p>
        </p:txBody>
      </p:sp>
      <p:sp>
        <p:nvSpPr>
          <p:cNvPr id="6" name="Text 3"/>
          <p:cNvSpPr/>
          <p:nvPr/>
        </p:nvSpPr>
        <p:spPr>
          <a:xfrm>
            <a:off x="661475" y="3245346"/>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Enhance fraud detection, optimize algorithmic trading, and personalize customer experiences while ensuring regulatory compliance.</a:t>
            </a:r>
            <a:endParaRPr lang="en-US" sz="14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2406" y="2290266"/>
            <a:ext cx="359064" cy="359073"/>
          </a:xfrm>
          <a:prstGeom prst="rect">
            <a:avLst/>
          </a:prstGeom>
        </p:spPr>
      </p:pic>
      <p:sp>
        <p:nvSpPr>
          <p:cNvPr id="8" name="Text 4"/>
          <p:cNvSpPr/>
          <p:nvPr/>
        </p:nvSpPr>
        <p:spPr>
          <a:xfrm>
            <a:off x="6202406" y="2862560"/>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Healthcare &amp; Life Sciences</a:t>
            </a:r>
            <a:endParaRPr lang="en-US" sz="1750" dirty="0"/>
          </a:p>
        </p:txBody>
      </p:sp>
      <p:sp>
        <p:nvSpPr>
          <p:cNvPr id="9" name="Text 5"/>
          <p:cNvSpPr/>
          <p:nvPr/>
        </p:nvSpPr>
        <p:spPr>
          <a:xfrm>
            <a:off x="6202406" y="3245346"/>
            <a:ext cx="5327814" cy="560189"/>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Accelerate drug discovery, improve diagnostic accuracy, and manage patient data securely for personalized treatment plans.</a:t>
            </a:r>
            <a:endParaRPr lang="en-US" sz="14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26744"/>
            <a:ext cx="359064" cy="359073"/>
          </a:xfrm>
          <a:prstGeom prst="rect">
            <a:avLst/>
          </a:prstGeom>
        </p:spPr>
      </p:pic>
      <p:sp>
        <p:nvSpPr>
          <p:cNvPr id="11" name="Text 6"/>
          <p:cNvSpPr/>
          <p:nvPr/>
        </p:nvSpPr>
        <p:spPr>
          <a:xfrm>
            <a:off x="661475" y="4999038"/>
            <a:ext cx="532771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Manufacturing &amp; Supply Chain</a:t>
            </a:r>
            <a:endParaRPr lang="en-US" sz="1750" dirty="0"/>
          </a:p>
        </p:txBody>
      </p:sp>
      <p:sp>
        <p:nvSpPr>
          <p:cNvPr id="12" name="Text 7"/>
          <p:cNvSpPr/>
          <p:nvPr/>
        </p:nvSpPr>
        <p:spPr>
          <a:xfrm>
            <a:off x="661475" y="5381823"/>
            <a:ext cx="5327715"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Enable predictive maintenance, optimize inventory, and create resilient supply chains through intelligent automation and forecasting.</a:t>
            </a:r>
            <a:endParaRPr lang="en-US" sz="14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2406" y="4426744"/>
            <a:ext cx="359064" cy="359073"/>
          </a:xfrm>
          <a:prstGeom prst="rect">
            <a:avLst/>
          </a:prstGeom>
        </p:spPr>
      </p:pic>
      <p:sp>
        <p:nvSpPr>
          <p:cNvPr id="14" name="Text 8"/>
          <p:cNvSpPr/>
          <p:nvPr/>
        </p:nvSpPr>
        <p:spPr>
          <a:xfrm>
            <a:off x="6202406" y="4999038"/>
            <a:ext cx="5327814"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Retail &amp; E-commerce</a:t>
            </a:r>
            <a:endParaRPr lang="en-US" sz="1750" dirty="0"/>
          </a:p>
        </p:txBody>
      </p:sp>
      <p:sp>
        <p:nvSpPr>
          <p:cNvPr id="15" name="Text 9"/>
          <p:cNvSpPr/>
          <p:nvPr/>
        </p:nvSpPr>
        <p:spPr>
          <a:xfrm>
            <a:off x="6202406" y="5381823"/>
            <a:ext cx="5327814" cy="840284"/>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Drive hyper-personalization, manage dynamic pricing, and streamline omnichannel operations for superior customer engagement.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527943"/>
            <a:ext cx="10868745" cy="1144389"/>
          </a:xfrm>
          <a:prstGeom prst="rect">
            <a:avLst/>
          </a:prstGeom>
          <a:noFill/>
          <a:ln/>
        </p:spPr>
        <p:txBody>
          <a:bodyPr wrap="square" lIns="0" tIns="0" rIns="0" bIns="0" rtlCol="0" anchor="t">
            <a:normAutofit/>
          </a:bodyPr>
          <a:lstStyle/>
          <a:p>
            <a:pPr algn="l" indent="0" marL="0">
              <a:lnSpc>
                <a:spcPct val="104000"/>
              </a:lnSpc>
              <a:buNone/>
            </a:pPr>
            <a:r>
              <a:rPr lang="en-US" sz="3600" b="1" spc="-108" kern="0" dirty="0">
                <a:solidFill>
                  <a:srgbClr val="000000"/>
                </a:solidFill>
                <a:latin typeface="Inter Bold" pitchFamily="34" charset="0"/>
                <a:ea typeface="Inter Bold" pitchFamily="34" charset="-122"/>
                <a:cs typeface="Inter Bold" pitchFamily="34" charset="-120"/>
              </a:rPr>
              <a:t>Uncompromising Security: Zero-Trust AI Governance</a:t>
            </a:r>
            <a:endParaRPr lang="en-US" sz="3600" dirty="0"/>
          </a:p>
        </p:txBody>
      </p:sp>
      <p:sp>
        <p:nvSpPr>
          <p:cNvPr id="3" name="Text 1"/>
          <p:cNvSpPr/>
          <p:nvPr/>
        </p:nvSpPr>
        <p:spPr>
          <a:xfrm>
            <a:off x="661475" y="2027039"/>
            <a:ext cx="10868745" cy="576858"/>
          </a:xfrm>
          <a:prstGeom prst="rect">
            <a:avLst/>
          </a:prstGeom>
          <a:noFill/>
          <a:ln/>
        </p:spPr>
        <p:txBody>
          <a:bodyPr wrap="square" lIns="0" tIns="0" rIns="0" bIns="0" rtlCol="0" anchor="t">
            <a:normAutofit/>
          </a:bodyPr>
          <a:lstStyle/>
          <a:p>
            <a:pPr algn="l" indent="0" marL="0">
              <a:lnSpc>
                <a:spcPct val="131000"/>
              </a:lnSpc>
              <a:buNone/>
            </a:pPr>
            <a:r>
              <a:rPr lang="en-US" sz="1400" spc="-29" kern="0" dirty="0">
                <a:solidFill>
                  <a:srgbClr val="272525"/>
                </a:solidFill>
                <a:latin typeface="Inter" pitchFamily="34" charset="0"/>
                <a:ea typeface="Inter" pitchFamily="34" charset="-122"/>
                <a:cs typeface="Inter" pitchFamily="34" charset="-120"/>
              </a:rPr>
              <a:t>ShiVi embeds security at its core, creating a resilient defense against evolving threats and ensuring trustworthy AI operations across the enterprise.</a:t>
            </a:r>
            <a:endParaRPr lang="en-US" sz="14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03426"/>
            <a:ext cx="5345673" cy="1674614"/>
          </a:xfrm>
          <a:prstGeom prst="rect">
            <a:avLst/>
          </a:prstGeom>
        </p:spPr>
      </p:pic>
      <p:sp>
        <p:nvSpPr>
          <p:cNvPr id="5" name="Text 2"/>
          <p:cNvSpPr/>
          <p:nvPr/>
        </p:nvSpPr>
        <p:spPr>
          <a:xfrm>
            <a:off x="971526" y="3011884"/>
            <a:ext cx="4827169" cy="286048"/>
          </a:xfrm>
          <a:prstGeom prst="rect">
            <a:avLst/>
          </a:prstGeom>
          <a:noFill/>
          <a:ln/>
        </p:spPr>
        <p:txBody>
          <a:bodyPr wrap="none" lIns="0" tIns="0" rIns="0" bIns="0" rtlCol="0" anchor="t"/>
          <a:lstStyle/>
          <a:p>
            <a:pPr algn="l" indent="0" marL="0">
              <a:lnSpc>
                <a:spcPct val="104000"/>
              </a:lnSpc>
              <a:buNone/>
            </a:pPr>
            <a:r>
              <a:rPr lang="en-US" sz="1800" b="1" spc="-54" kern="0" dirty="0">
                <a:solidFill>
                  <a:srgbClr val="272525"/>
                </a:solidFill>
                <a:latin typeface="Inter Bold" pitchFamily="34" charset="0"/>
                <a:ea typeface="Inter Bold" pitchFamily="34" charset="-122"/>
                <a:cs typeface="Inter Bold" pitchFamily="34" charset="-120"/>
              </a:rPr>
              <a:t>Zero-Trust Architecture</a:t>
            </a:r>
            <a:endParaRPr lang="en-US" sz="1800" dirty="0"/>
          </a:p>
        </p:txBody>
      </p:sp>
      <p:sp>
        <p:nvSpPr>
          <p:cNvPr id="6" name="Text 3"/>
          <p:cNvSpPr/>
          <p:nvPr/>
        </p:nvSpPr>
        <p:spPr>
          <a:xfrm>
            <a:off x="971526" y="3404295"/>
            <a:ext cx="4827169" cy="576858"/>
          </a:xfrm>
          <a:prstGeom prst="rect">
            <a:avLst/>
          </a:prstGeom>
          <a:noFill/>
          <a:ln/>
        </p:spPr>
        <p:txBody>
          <a:bodyPr wrap="square" lIns="0" tIns="0" rIns="0" bIns="0" rtlCol="0" anchor="t">
            <a:normAutofit/>
          </a:bodyPr>
          <a:lstStyle/>
          <a:p>
            <a:pPr algn="l" indent="0" marL="0">
              <a:lnSpc>
                <a:spcPct val="131000"/>
              </a:lnSpc>
              <a:buNone/>
            </a:pPr>
            <a:r>
              <a:rPr lang="en-US" sz="1400" spc="-29" kern="0" dirty="0">
                <a:solidFill>
                  <a:srgbClr val="272525"/>
                </a:solidFill>
                <a:latin typeface="Inter" pitchFamily="34" charset="0"/>
                <a:ea typeface="Inter" pitchFamily="34" charset="-122"/>
                <a:cs typeface="Inter" pitchFamily="34" charset="-120"/>
              </a:rPr>
              <a:t>Default deny, least privilege, and continuous verification enforce granular access to all resources and agents.</a:t>
            </a:r>
            <a:endParaRPr lang="en-US" sz="14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4448" y="2803426"/>
            <a:ext cx="5345773" cy="1674614"/>
          </a:xfrm>
          <a:prstGeom prst="rect">
            <a:avLst/>
          </a:prstGeom>
        </p:spPr>
      </p:pic>
      <p:sp>
        <p:nvSpPr>
          <p:cNvPr id="8" name="Text 4"/>
          <p:cNvSpPr/>
          <p:nvPr/>
        </p:nvSpPr>
        <p:spPr>
          <a:xfrm>
            <a:off x="6494498" y="3011884"/>
            <a:ext cx="4827268" cy="286048"/>
          </a:xfrm>
          <a:prstGeom prst="rect">
            <a:avLst/>
          </a:prstGeom>
          <a:noFill/>
          <a:ln/>
        </p:spPr>
        <p:txBody>
          <a:bodyPr wrap="none" lIns="0" tIns="0" rIns="0" bIns="0" rtlCol="0" anchor="t"/>
          <a:lstStyle/>
          <a:p>
            <a:pPr algn="l" indent="0" marL="0">
              <a:lnSpc>
                <a:spcPct val="104000"/>
              </a:lnSpc>
              <a:buNone/>
            </a:pPr>
            <a:r>
              <a:rPr lang="en-US" sz="1800" b="1" spc="-54" kern="0" dirty="0">
                <a:solidFill>
                  <a:srgbClr val="272525"/>
                </a:solidFill>
                <a:latin typeface="Inter Bold" pitchFamily="34" charset="0"/>
                <a:ea typeface="Inter Bold" pitchFamily="34" charset="-122"/>
                <a:cs typeface="Inter Bold" pitchFamily="34" charset="-120"/>
              </a:rPr>
              <a:t>AI &amp; Data Governance</a:t>
            </a:r>
            <a:endParaRPr lang="en-US" sz="1800" dirty="0"/>
          </a:p>
        </p:txBody>
      </p:sp>
      <p:sp>
        <p:nvSpPr>
          <p:cNvPr id="9" name="Text 5"/>
          <p:cNvSpPr/>
          <p:nvPr/>
        </p:nvSpPr>
        <p:spPr>
          <a:xfrm>
            <a:off x="6494498" y="3404295"/>
            <a:ext cx="4827268" cy="865287"/>
          </a:xfrm>
          <a:prstGeom prst="rect">
            <a:avLst/>
          </a:prstGeom>
          <a:noFill/>
          <a:ln/>
        </p:spPr>
        <p:txBody>
          <a:bodyPr wrap="square" lIns="0" tIns="0" rIns="0" bIns="0" rtlCol="0" anchor="t">
            <a:normAutofit/>
          </a:bodyPr>
          <a:lstStyle/>
          <a:p>
            <a:pPr algn="l" indent="0" marL="0">
              <a:lnSpc>
                <a:spcPct val="131000"/>
              </a:lnSpc>
              <a:buNone/>
            </a:pPr>
            <a:r>
              <a:rPr lang="en-US" sz="1400" spc="-29" kern="0" dirty="0">
                <a:solidFill>
                  <a:srgbClr val="272525"/>
                </a:solidFill>
                <a:latin typeface="Inter" pitchFamily="34" charset="0"/>
                <a:ea typeface="Inter" pitchFamily="34" charset="-122"/>
                <a:cs typeface="Inter" pitchFamily="34" charset="-120"/>
              </a:rPr>
              <a:t>Robust policies, model integrity checks, and data privacy controls ensure responsible and compliant AI deployments.</a:t>
            </a:r>
            <a:endParaRPr lang="en-US" sz="14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655344"/>
            <a:ext cx="5345673" cy="1674614"/>
          </a:xfrm>
          <a:prstGeom prst="rect">
            <a:avLst/>
          </a:prstGeom>
        </p:spPr>
      </p:pic>
      <p:sp>
        <p:nvSpPr>
          <p:cNvPr id="11" name="Text 6"/>
          <p:cNvSpPr/>
          <p:nvPr/>
        </p:nvSpPr>
        <p:spPr>
          <a:xfrm>
            <a:off x="971526" y="4863802"/>
            <a:ext cx="4827169" cy="286048"/>
          </a:xfrm>
          <a:prstGeom prst="rect">
            <a:avLst/>
          </a:prstGeom>
          <a:noFill/>
          <a:ln/>
        </p:spPr>
        <p:txBody>
          <a:bodyPr wrap="none" lIns="0" tIns="0" rIns="0" bIns="0" rtlCol="0" anchor="t"/>
          <a:lstStyle/>
          <a:p>
            <a:pPr algn="l" indent="0" marL="0">
              <a:lnSpc>
                <a:spcPct val="104000"/>
              </a:lnSpc>
              <a:buNone/>
            </a:pPr>
            <a:r>
              <a:rPr lang="en-US" sz="1800" b="1" spc="-54" kern="0" dirty="0">
                <a:solidFill>
                  <a:srgbClr val="272525"/>
                </a:solidFill>
                <a:latin typeface="Inter Bold" pitchFamily="34" charset="0"/>
                <a:ea typeface="Inter Bold" pitchFamily="34" charset="-122"/>
                <a:cs typeface="Inter Bold" pitchFamily="34" charset="-120"/>
              </a:rPr>
              <a:t>Threat Intelligence &amp; Response</a:t>
            </a:r>
            <a:endParaRPr lang="en-US" sz="1800" dirty="0"/>
          </a:p>
        </p:txBody>
      </p:sp>
      <p:sp>
        <p:nvSpPr>
          <p:cNvPr id="12" name="Text 7"/>
          <p:cNvSpPr/>
          <p:nvPr/>
        </p:nvSpPr>
        <p:spPr>
          <a:xfrm>
            <a:off x="971526" y="5256213"/>
            <a:ext cx="4827169" cy="865287"/>
          </a:xfrm>
          <a:prstGeom prst="rect">
            <a:avLst/>
          </a:prstGeom>
          <a:noFill/>
          <a:ln/>
        </p:spPr>
        <p:txBody>
          <a:bodyPr wrap="square" lIns="0" tIns="0" rIns="0" bIns="0" rtlCol="0" anchor="t">
            <a:normAutofit/>
          </a:bodyPr>
          <a:lstStyle/>
          <a:p>
            <a:pPr algn="l" indent="0" marL="0">
              <a:lnSpc>
                <a:spcPct val="131000"/>
              </a:lnSpc>
              <a:buNone/>
            </a:pPr>
            <a:r>
              <a:rPr lang="en-US" sz="1400" spc="-29" kern="0" dirty="0">
                <a:solidFill>
                  <a:srgbClr val="272525"/>
                </a:solidFill>
                <a:latin typeface="Inter" pitchFamily="34" charset="0"/>
                <a:ea typeface="Inter" pitchFamily="34" charset="-122"/>
                <a:cs typeface="Inter" pitchFamily="34" charset="-120"/>
              </a:rPr>
              <a:t>Proactive monitoring, anomaly detection, and automated incident response minimize exposure and mitigate risks in real-time.</a:t>
            </a:r>
            <a:endParaRPr lang="en-US" sz="14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84448" y="4655344"/>
            <a:ext cx="5345773" cy="1674614"/>
          </a:xfrm>
          <a:prstGeom prst="rect">
            <a:avLst/>
          </a:prstGeom>
        </p:spPr>
      </p:pic>
      <p:sp>
        <p:nvSpPr>
          <p:cNvPr id="14" name="Text 8"/>
          <p:cNvSpPr/>
          <p:nvPr/>
        </p:nvSpPr>
        <p:spPr>
          <a:xfrm>
            <a:off x="6494498" y="4863802"/>
            <a:ext cx="4827268" cy="286048"/>
          </a:xfrm>
          <a:prstGeom prst="rect">
            <a:avLst/>
          </a:prstGeom>
          <a:noFill/>
          <a:ln/>
        </p:spPr>
        <p:txBody>
          <a:bodyPr wrap="none" lIns="0" tIns="0" rIns="0" bIns="0" rtlCol="0" anchor="t"/>
          <a:lstStyle/>
          <a:p>
            <a:pPr algn="l" indent="0" marL="0">
              <a:lnSpc>
                <a:spcPct val="104000"/>
              </a:lnSpc>
              <a:buNone/>
            </a:pPr>
            <a:r>
              <a:rPr lang="en-US" sz="1800" b="1" spc="-54" kern="0" dirty="0">
                <a:solidFill>
                  <a:srgbClr val="272525"/>
                </a:solidFill>
                <a:latin typeface="Inter Bold" pitchFamily="34" charset="0"/>
                <a:ea typeface="Inter Bold" pitchFamily="34" charset="-122"/>
                <a:cs typeface="Inter Bold" pitchFamily="34" charset="-120"/>
              </a:rPr>
              <a:t>Secure by Design</a:t>
            </a:r>
            <a:endParaRPr lang="en-US" sz="1800" dirty="0"/>
          </a:p>
        </p:txBody>
      </p:sp>
      <p:sp>
        <p:nvSpPr>
          <p:cNvPr id="15" name="Text 9"/>
          <p:cNvSpPr/>
          <p:nvPr/>
        </p:nvSpPr>
        <p:spPr>
          <a:xfrm>
            <a:off x="6494498" y="5256213"/>
            <a:ext cx="4827268" cy="576858"/>
          </a:xfrm>
          <a:prstGeom prst="rect">
            <a:avLst/>
          </a:prstGeom>
          <a:noFill/>
          <a:ln/>
        </p:spPr>
        <p:txBody>
          <a:bodyPr wrap="square" lIns="0" tIns="0" rIns="0" bIns="0" rtlCol="0" anchor="t">
            <a:normAutofit/>
          </a:bodyPr>
          <a:lstStyle/>
          <a:p>
            <a:pPr algn="l" indent="0" marL="0">
              <a:lnSpc>
                <a:spcPct val="131000"/>
              </a:lnSpc>
              <a:buNone/>
            </a:pPr>
            <a:r>
              <a:rPr lang="en-US" sz="1400" spc="-29" kern="0" dirty="0">
                <a:solidFill>
                  <a:srgbClr val="272525"/>
                </a:solidFill>
                <a:latin typeface="Inter" pitchFamily="34" charset="0"/>
                <a:ea typeface="Inter" pitchFamily="34" charset="-122"/>
                <a:cs typeface="Inter" pitchFamily="34" charset="-120"/>
              </a:rPr>
              <a:t>Security is integrated throughout the entire development lifecycle, from kernel primitives to agent deployment.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747514"/>
            <a:ext cx="10868745" cy="383977"/>
          </a:xfrm>
          <a:prstGeom prst="rect">
            <a:avLst/>
          </a:prstGeom>
          <a:noFill/>
          <a:ln/>
        </p:spPr>
        <p:txBody>
          <a:bodyPr wrap="none" lIns="0" tIns="0" rIns="0" bIns="0" rtlCol="0" anchor="t"/>
          <a:lstStyle/>
          <a:p>
            <a:pPr algn="l" indent="0" marL="0">
              <a:lnSpc>
                <a:spcPct val="104000"/>
              </a:lnSpc>
              <a:buNone/>
            </a:pPr>
            <a:r>
              <a:rPr lang="en-US" sz="2400" b="1" spc="-73" kern="0" dirty="0">
                <a:solidFill>
                  <a:srgbClr val="000000"/>
                </a:solidFill>
                <a:latin typeface="Inter Bold" pitchFamily="34" charset="0"/>
                <a:ea typeface="Inter Bold" pitchFamily="34" charset="-122"/>
                <a:cs typeface="Inter Bold" pitchFamily="34" charset="-120"/>
              </a:rPr>
              <a:t>Seamless AI Pipelines &amp; Data Flow</a:t>
            </a:r>
            <a:endParaRPr lang="en-US" sz="2400" dirty="0"/>
          </a:p>
        </p:txBody>
      </p:sp>
      <p:sp>
        <p:nvSpPr>
          <p:cNvPr id="3" name="Text 1"/>
          <p:cNvSpPr/>
          <p:nvPr/>
        </p:nvSpPr>
        <p:spPr>
          <a:xfrm>
            <a:off x="661475" y="1291134"/>
            <a:ext cx="11478330" cy="162123"/>
          </a:xfrm>
          <a:prstGeom prst="rect">
            <a:avLst/>
          </a:prstGeom>
          <a:noFill/>
          <a:ln/>
        </p:spPr>
        <p:txBody>
          <a:bodyPr wrap="none" lIns="0" tIns="0" rIns="0" bIns="0" rtlCol="0" anchor="t"/>
          <a:lstStyle/>
          <a:p>
            <a:pPr algn="l" indent="0" marL="0">
              <a:lnSpc>
                <a:spcPct val="110000"/>
              </a:lnSpc>
              <a:buNone/>
            </a:pPr>
            <a:r>
              <a:rPr lang="en-US" sz="950" spc="-19" kern="0" dirty="0">
                <a:solidFill>
                  <a:srgbClr val="272525"/>
                </a:solidFill>
                <a:latin typeface="Inter" pitchFamily="34" charset="0"/>
                <a:ea typeface="Inter" pitchFamily="34" charset="-122"/>
                <a:cs typeface="Inter" pitchFamily="34" charset="-120"/>
              </a:rPr>
              <a:t>ShiVi unifies and automates the entire data and AI pipeline, ensuring fluid information exchange and efficient model lifecycle management from ingestion to deployment across the enterprise.</a:t>
            </a:r>
            <a:endParaRPr lang="en-US" sz="950" dirty="0"/>
          </a:p>
        </p:txBody>
      </p:sp>
      <p:pic>
        <p:nvPicPr>
          <p:cNvPr id="4" name="Image 0" descr="preencoded.png">    </p:cNvPr>
          <p:cNvPicPr>
            <a:picLocks noChangeAspect="1"/>
          </p:cNvPicPr>
          <p:nvPr/>
        </p:nvPicPr>
        <p:blipFill>
          <a:blip r:embed="rId1"/>
          <a:stretch>
            <a:fillRect/>
          </a:stretch>
        </p:blipFill>
        <p:spPr>
          <a:xfrm>
            <a:off x="661475" y="1543050"/>
            <a:ext cx="1539936" cy="1539974"/>
          </a:xfrm>
          <a:prstGeom prst="rect">
            <a:avLst/>
          </a:prstGeom>
        </p:spPr>
      </p:pic>
      <p:sp>
        <p:nvSpPr>
          <p:cNvPr id="5" name="Text 2"/>
          <p:cNvSpPr/>
          <p:nvPr/>
        </p:nvSpPr>
        <p:spPr>
          <a:xfrm>
            <a:off x="661475" y="3182838"/>
            <a:ext cx="5384467" cy="191988"/>
          </a:xfrm>
          <a:prstGeom prst="rect">
            <a:avLst/>
          </a:prstGeom>
          <a:noFill/>
          <a:ln/>
        </p:spPr>
        <p:txBody>
          <a:bodyPr wrap="none" lIns="0" tIns="0" rIns="0" bIns="0" rtlCol="0" anchor="t"/>
          <a:lstStyle/>
          <a:p>
            <a:pPr algn="l" indent="0" marL="0">
              <a:lnSpc>
                <a:spcPct val="104000"/>
              </a:lnSpc>
              <a:buNone/>
            </a:pPr>
            <a:r>
              <a:rPr lang="en-US" sz="1200" b="1" spc="-36" kern="0" dirty="0">
                <a:solidFill>
                  <a:srgbClr val="272525"/>
                </a:solidFill>
                <a:latin typeface="Inter Bold" pitchFamily="34" charset="0"/>
                <a:ea typeface="Inter Bold" pitchFamily="34" charset="-122"/>
                <a:cs typeface="Inter Bold" pitchFamily="34" charset="-120"/>
              </a:rPr>
              <a:t>Unified Data Integration</a:t>
            </a:r>
            <a:endParaRPr lang="en-US" sz="1200" dirty="0"/>
          </a:p>
        </p:txBody>
      </p:sp>
      <p:sp>
        <p:nvSpPr>
          <p:cNvPr id="6" name="Text 3"/>
          <p:cNvSpPr/>
          <p:nvPr/>
        </p:nvSpPr>
        <p:spPr>
          <a:xfrm>
            <a:off x="661475" y="3422650"/>
            <a:ext cx="5384467" cy="324247"/>
          </a:xfrm>
          <a:prstGeom prst="rect">
            <a:avLst/>
          </a:prstGeom>
          <a:noFill/>
          <a:ln/>
        </p:spPr>
        <p:txBody>
          <a:bodyPr wrap="square" lIns="0" tIns="0" rIns="0" bIns="0" rtlCol="0" anchor="t">
            <a:normAutofit/>
          </a:bodyPr>
          <a:lstStyle/>
          <a:p>
            <a:pPr algn="l" indent="0" marL="0">
              <a:lnSpc>
                <a:spcPct val="110000"/>
              </a:lnSpc>
              <a:buNone/>
            </a:pPr>
            <a:r>
              <a:rPr lang="en-US" sz="950" spc="-19" kern="0" dirty="0">
                <a:solidFill>
                  <a:srgbClr val="272525"/>
                </a:solidFill>
                <a:latin typeface="Inter" pitchFamily="34" charset="0"/>
                <a:ea typeface="Inter" pitchFamily="34" charset="-122"/>
                <a:cs typeface="Inter" pitchFamily="34" charset="-120"/>
              </a:rPr>
              <a:t>Connects and harmonizes disparate data sources across the enterprise, creating a single, trustworthy data foundation for AI.</a:t>
            </a:r>
            <a:endParaRPr lang="en-US" sz="950" dirty="0"/>
          </a:p>
        </p:txBody>
      </p:sp>
      <p:pic>
        <p:nvPicPr>
          <p:cNvPr id="7" name="Image 1" descr="preencoded.png">    </p:cNvPr>
          <p:cNvPicPr>
            <a:picLocks noChangeAspect="1"/>
          </p:cNvPicPr>
          <p:nvPr/>
        </p:nvPicPr>
        <p:blipFill>
          <a:blip r:embed="rId2"/>
          <a:stretch>
            <a:fillRect/>
          </a:stretch>
        </p:blipFill>
        <p:spPr>
          <a:xfrm>
            <a:off x="6145753" y="1543050"/>
            <a:ext cx="1539936" cy="1539974"/>
          </a:xfrm>
          <a:prstGeom prst="rect">
            <a:avLst/>
          </a:prstGeom>
        </p:spPr>
      </p:pic>
      <p:sp>
        <p:nvSpPr>
          <p:cNvPr id="8" name="Text 4"/>
          <p:cNvSpPr/>
          <p:nvPr/>
        </p:nvSpPr>
        <p:spPr>
          <a:xfrm>
            <a:off x="6145753" y="3182838"/>
            <a:ext cx="5384467" cy="191988"/>
          </a:xfrm>
          <a:prstGeom prst="rect">
            <a:avLst/>
          </a:prstGeom>
          <a:noFill/>
          <a:ln/>
        </p:spPr>
        <p:txBody>
          <a:bodyPr wrap="none" lIns="0" tIns="0" rIns="0" bIns="0" rtlCol="0" anchor="t"/>
          <a:lstStyle/>
          <a:p>
            <a:pPr algn="l" indent="0" marL="0">
              <a:lnSpc>
                <a:spcPct val="104000"/>
              </a:lnSpc>
              <a:buNone/>
            </a:pPr>
            <a:r>
              <a:rPr lang="en-US" sz="1200" b="1" spc="-36" kern="0" dirty="0">
                <a:solidFill>
                  <a:srgbClr val="272525"/>
                </a:solidFill>
                <a:latin typeface="Inter Bold" pitchFamily="34" charset="0"/>
                <a:ea typeface="Inter Bold" pitchFamily="34" charset="-122"/>
                <a:cs typeface="Inter Bold" pitchFamily="34" charset="-120"/>
              </a:rPr>
              <a:t>Automated Workflow Orchestration</a:t>
            </a:r>
            <a:endParaRPr lang="en-US" sz="1200" dirty="0"/>
          </a:p>
        </p:txBody>
      </p:sp>
      <p:sp>
        <p:nvSpPr>
          <p:cNvPr id="9" name="Text 5"/>
          <p:cNvSpPr/>
          <p:nvPr/>
        </p:nvSpPr>
        <p:spPr>
          <a:xfrm>
            <a:off x="6145753" y="3422650"/>
            <a:ext cx="5384467" cy="324247"/>
          </a:xfrm>
          <a:prstGeom prst="rect">
            <a:avLst/>
          </a:prstGeom>
          <a:noFill/>
          <a:ln/>
        </p:spPr>
        <p:txBody>
          <a:bodyPr wrap="square" lIns="0" tIns="0" rIns="0" bIns="0" rtlCol="0" anchor="t">
            <a:normAutofit/>
          </a:bodyPr>
          <a:lstStyle/>
          <a:p>
            <a:pPr algn="l" indent="0" marL="0">
              <a:lnSpc>
                <a:spcPct val="110000"/>
              </a:lnSpc>
              <a:buNone/>
            </a:pPr>
            <a:r>
              <a:rPr lang="en-US" sz="950" spc="-19" kern="0" dirty="0">
                <a:solidFill>
                  <a:srgbClr val="272525"/>
                </a:solidFill>
                <a:latin typeface="Inter" pitchFamily="34" charset="0"/>
                <a:ea typeface="Inter" pitchFamily="34" charset="-122"/>
                <a:cs typeface="Inter" pitchFamily="34" charset="-120"/>
              </a:rPr>
              <a:t>Orchestrates complex AI/ML pipelines, automating training, validation, and deployment with robust versioning and reproducibility.</a:t>
            </a:r>
            <a:endParaRPr lang="en-US" sz="950" dirty="0"/>
          </a:p>
        </p:txBody>
      </p:sp>
      <p:pic>
        <p:nvPicPr>
          <p:cNvPr id="10" name="Image 2" descr="preencoded.png">    </p:cNvPr>
          <p:cNvPicPr>
            <a:picLocks noChangeAspect="1"/>
          </p:cNvPicPr>
          <p:nvPr/>
        </p:nvPicPr>
        <p:blipFill>
          <a:blip r:embed="rId3"/>
          <a:stretch>
            <a:fillRect/>
          </a:stretch>
        </p:blipFill>
        <p:spPr>
          <a:xfrm>
            <a:off x="661475" y="3906540"/>
            <a:ext cx="1539936" cy="1539974"/>
          </a:xfrm>
          <a:prstGeom prst="rect">
            <a:avLst/>
          </a:prstGeom>
        </p:spPr>
      </p:pic>
      <p:sp>
        <p:nvSpPr>
          <p:cNvPr id="11" name="Text 6"/>
          <p:cNvSpPr/>
          <p:nvPr/>
        </p:nvSpPr>
        <p:spPr>
          <a:xfrm>
            <a:off x="661475" y="5546328"/>
            <a:ext cx="5384467" cy="191988"/>
          </a:xfrm>
          <a:prstGeom prst="rect">
            <a:avLst/>
          </a:prstGeom>
          <a:noFill/>
          <a:ln/>
        </p:spPr>
        <p:txBody>
          <a:bodyPr wrap="none" lIns="0" tIns="0" rIns="0" bIns="0" rtlCol="0" anchor="t"/>
          <a:lstStyle/>
          <a:p>
            <a:pPr algn="l" indent="0" marL="0">
              <a:lnSpc>
                <a:spcPct val="104000"/>
              </a:lnSpc>
              <a:buNone/>
            </a:pPr>
            <a:r>
              <a:rPr lang="en-US" sz="1200" b="1" spc="-36" kern="0" dirty="0">
                <a:solidFill>
                  <a:srgbClr val="272525"/>
                </a:solidFill>
                <a:latin typeface="Inter Bold" pitchFamily="34" charset="0"/>
                <a:ea typeface="Inter Bold" pitchFamily="34" charset="-122"/>
                <a:cs typeface="Inter Bold" pitchFamily="34" charset="-120"/>
              </a:rPr>
              <a:t>Real-time Processing &amp; Delivery</a:t>
            </a:r>
            <a:endParaRPr lang="en-US" sz="1200" dirty="0"/>
          </a:p>
        </p:txBody>
      </p:sp>
      <p:sp>
        <p:nvSpPr>
          <p:cNvPr id="12" name="Text 7"/>
          <p:cNvSpPr/>
          <p:nvPr/>
        </p:nvSpPr>
        <p:spPr>
          <a:xfrm>
            <a:off x="661475" y="5786140"/>
            <a:ext cx="5384467" cy="324247"/>
          </a:xfrm>
          <a:prstGeom prst="rect">
            <a:avLst/>
          </a:prstGeom>
          <a:noFill/>
          <a:ln/>
        </p:spPr>
        <p:txBody>
          <a:bodyPr wrap="square" lIns="0" tIns="0" rIns="0" bIns="0" rtlCol="0" anchor="t">
            <a:normAutofit/>
          </a:bodyPr>
          <a:lstStyle/>
          <a:p>
            <a:pPr algn="l" indent="0" marL="0">
              <a:lnSpc>
                <a:spcPct val="110000"/>
              </a:lnSpc>
              <a:buNone/>
            </a:pPr>
            <a:r>
              <a:rPr lang="en-US" sz="950" spc="-19" kern="0" dirty="0">
                <a:solidFill>
                  <a:srgbClr val="272525"/>
                </a:solidFill>
                <a:latin typeface="Inter" pitchFamily="34" charset="0"/>
                <a:ea typeface="Inter" pitchFamily="34" charset="-122"/>
                <a:cs typeface="Inter" pitchFamily="34" charset="-120"/>
              </a:rPr>
              <a:t>Enables high-throughput, low-latency processing for immediate insights, feeding intelligence directly into operational systems.</a:t>
            </a:r>
            <a:endParaRPr lang="en-US" sz="950" dirty="0"/>
          </a:p>
        </p:txBody>
      </p:sp>
      <p:pic>
        <p:nvPicPr>
          <p:cNvPr id="13" name="Image 3" descr="preencoded.png">    </p:cNvPr>
          <p:cNvPicPr>
            <a:picLocks noChangeAspect="1"/>
          </p:cNvPicPr>
          <p:nvPr/>
        </p:nvPicPr>
        <p:blipFill>
          <a:blip r:embed="rId4"/>
          <a:stretch>
            <a:fillRect/>
          </a:stretch>
        </p:blipFill>
        <p:spPr>
          <a:xfrm>
            <a:off x="6145753" y="3906540"/>
            <a:ext cx="1539936" cy="1539974"/>
          </a:xfrm>
          <a:prstGeom prst="rect">
            <a:avLst/>
          </a:prstGeom>
        </p:spPr>
      </p:pic>
      <p:sp>
        <p:nvSpPr>
          <p:cNvPr id="14" name="Text 8"/>
          <p:cNvSpPr/>
          <p:nvPr/>
        </p:nvSpPr>
        <p:spPr>
          <a:xfrm>
            <a:off x="6145753" y="5546328"/>
            <a:ext cx="5384467" cy="191988"/>
          </a:xfrm>
          <a:prstGeom prst="rect">
            <a:avLst/>
          </a:prstGeom>
          <a:noFill/>
          <a:ln/>
        </p:spPr>
        <p:txBody>
          <a:bodyPr wrap="none" lIns="0" tIns="0" rIns="0" bIns="0" rtlCol="0" anchor="t"/>
          <a:lstStyle/>
          <a:p>
            <a:pPr algn="l" indent="0" marL="0">
              <a:lnSpc>
                <a:spcPct val="104000"/>
              </a:lnSpc>
              <a:buNone/>
            </a:pPr>
            <a:r>
              <a:rPr lang="en-US" sz="1200" b="1" spc="-36" kern="0" dirty="0">
                <a:solidFill>
                  <a:srgbClr val="272525"/>
                </a:solidFill>
                <a:latin typeface="Inter Bold" pitchFamily="34" charset="0"/>
                <a:ea typeface="Inter Bold" pitchFamily="34" charset="-122"/>
                <a:cs typeface="Inter Bold" pitchFamily="34" charset="-120"/>
              </a:rPr>
              <a:t>End-to-End Observability</a:t>
            </a:r>
            <a:endParaRPr lang="en-US" sz="1200" dirty="0"/>
          </a:p>
        </p:txBody>
      </p:sp>
      <p:sp>
        <p:nvSpPr>
          <p:cNvPr id="15" name="Text 9"/>
          <p:cNvSpPr/>
          <p:nvPr/>
        </p:nvSpPr>
        <p:spPr>
          <a:xfrm>
            <a:off x="6145753" y="5786140"/>
            <a:ext cx="5384467" cy="324247"/>
          </a:xfrm>
          <a:prstGeom prst="rect">
            <a:avLst/>
          </a:prstGeom>
          <a:noFill/>
          <a:ln/>
        </p:spPr>
        <p:txBody>
          <a:bodyPr wrap="square" lIns="0" tIns="0" rIns="0" bIns="0" rtlCol="0" anchor="t">
            <a:normAutofit/>
          </a:bodyPr>
          <a:lstStyle/>
          <a:p>
            <a:pPr algn="l" indent="0" marL="0">
              <a:lnSpc>
                <a:spcPct val="110000"/>
              </a:lnSpc>
              <a:buNone/>
            </a:pPr>
            <a:r>
              <a:rPr lang="en-US" sz="950" spc="-19" kern="0" dirty="0">
                <a:solidFill>
                  <a:srgbClr val="272525"/>
                </a:solidFill>
                <a:latin typeface="Inter" pitchFamily="34" charset="0"/>
                <a:ea typeface="Inter" pitchFamily="34" charset="-122"/>
                <a:cs typeface="Inter" pitchFamily="34" charset="-120"/>
              </a:rPr>
              <a:t>Provides comprehensive monitoring and logging across all pipeline stages for transparency, debugging, and continuous optimization.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Optimizing the AI Workflow</a:t>
            </a:r>
            <a:endParaRPr lang="en-US" sz="1850" dirty="0"/>
          </a:p>
        </p:txBody>
      </p:sp>
      <p:sp>
        <p:nvSpPr>
          <p:cNvPr id="3" name="Text 1"/>
          <p:cNvSpPr/>
          <p:nvPr/>
        </p:nvSpPr>
        <p:spPr>
          <a:xfrm>
            <a:off x="661475" y="909538"/>
            <a:ext cx="11478330" cy="113407"/>
          </a:xfrm>
          <a:prstGeom prst="rect">
            <a:avLst/>
          </a:prstGeom>
          <a:noFill/>
          <a:ln/>
        </p:spPr>
        <p:txBody>
          <a:bodyPr wrap="none" lIns="0" tIns="0" rIns="0" bIns="0" rtlCol="0" anchor="t"/>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ShiVi integrates every phase of AI development and deployment, turning complex processes into a seamless, intelligent continuum.</a:t>
            </a:r>
            <a:endParaRPr lang="en-US" sz="700" dirty="0"/>
          </a:p>
        </p:txBody>
      </p:sp>
      <p:sp>
        <p:nvSpPr>
          <p:cNvPr id="4" name="Text 2"/>
          <p:cNvSpPr/>
          <p:nvPr/>
        </p:nvSpPr>
        <p:spPr>
          <a:xfrm>
            <a:off x="661475" y="1123255"/>
            <a:ext cx="5319083"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000000"/>
                </a:solidFill>
                <a:latin typeface="Inter Bold" pitchFamily="34" charset="0"/>
                <a:ea typeface="Inter Bold" pitchFamily="34" charset="-122"/>
                <a:cs typeface="Inter Bold" pitchFamily="34" charset="-120"/>
              </a:rPr>
              <a:t>From Data to Decision</a:t>
            </a:r>
            <a:endParaRPr lang="en-US" sz="900" dirty="0"/>
          </a:p>
        </p:txBody>
      </p:sp>
      <p:sp>
        <p:nvSpPr>
          <p:cNvPr id="5" name="Text 3"/>
          <p:cNvSpPr/>
          <p:nvPr/>
        </p:nvSpPr>
        <p:spPr>
          <a:xfrm>
            <a:off x="661475" y="1318121"/>
            <a:ext cx="5319083" cy="340221"/>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ShiVi's unified platform streamlines the entire AI workflow, ensuring data integrity, efficient model training, and rapid, governed deployment. This accelerates the journey from raw insights to actionable intelligence, reducing friction and maximizing impact.</a:t>
            </a:r>
            <a:endParaRPr lang="en-US" sz="700" dirty="0"/>
          </a:p>
        </p:txBody>
      </p:sp>
      <p:sp>
        <p:nvSpPr>
          <p:cNvPr id="6" name="Text 4"/>
          <p:cNvSpPr/>
          <p:nvPr/>
        </p:nvSpPr>
        <p:spPr>
          <a:xfrm>
            <a:off x="661475" y="1700808"/>
            <a:ext cx="5319083" cy="503039"/>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Automated data preparation and feature engineering</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Scalable model training and validation</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One-click deployment with built-in governance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Continuous monitoring and performance feedback</a:t>
            </a:r>
            <a:endParaRPr lang="en-US" sz="700" dirty="0"/>
          </a:p>
        </p:txBody>
      </p:sp>
      <p:sp>
        <p:nvSpPr>
          <p:cNvPr id="7" name="Shape 5"/>
          <p:cNvSpPr/>
          <p:nvPr/>
        </p:nvSpPr>
        <p:spPr>
          <a:xfrm>
            <a:off x="6149424" y="1076027"/>
            <a:ext cx="5455208" cy="5372596"/>
          </a:xfrm>
          <a:prstGeom prst="roundRect">
            <a:avLst>
              <a:gd name="adj" fmla="val 1267"/>
            </a:avLst>
          </a:prstGeom>
          <a:solidFill>
            <a:srgbClr val="0A84FF"/>
          </a:solidFill>
          <a:ln/>
        </p:spPr>
      </p:sp>
      <p:pic>
        <p:nvPicPr>
          <p:cNvPr id="8" name="Image 0" descr="preencoded.png">    </p:cNvPr>
          <p:cNvPicPr>
            <a:picLocks noChangeAspect="1"/>
          </p:cNvPicPr>
          <p:nvPr/>
        </p:nvPicPr>
        <p:blipFill>
          <a:blip r:embed="rId1"/>
          <a:stretch>
            <a:fillRect/>
          </a:stretch>
        </p:blipFill>
        <p:spPr>
          <a:xfrm>
            <a:off x="6243878" y="1129109"/>
            <a:ext cx="5266300" cy="52664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1653877"/>
          </a:xfrm>
          <a:prstGeom prst="rect">
            <a:avLst/>
          </a:prstGeom>
        </p:spPr>
      </p:pic>
      <p:sp>
        <p:nvSpPr>
          <p:cNvPr id="3" name="Text 0"/>
          <p:cNvSpPr/>
          <p:nvPr/>
        </p:nvSpPr>
        <p:spPr>
          <a:xfrm>
            <a:off x="661475" y="2418655"/>
            <a:ext cx="10868745" cy="413445"/>
          </a:xfrm>
          <a:prstGeom prst="rect">
            <a:avLst/>
          </a:prstGeom>
          <a:noFill/>
          <a:ln/>
        </p:spPr>
        <p:txBody>
          <a:bodyPr wrap="none" lIns="0" tIns="0" rIns="0" bIns="0" rtlCol="0" anchor="t"/>
          <a:lstStyle/>
          <a:p>
            <a:pPr algn="l" indent="0" marL="0">
              <a:lnSpc>
                <a:spcPct val="104000"/>
              </a:lnSpc>
              <a:buNone/>
            </a:pPr>
            <a:r>
              <a:rPr lang="en-US" sz="2600" b="1" spc="-78" kern="0" dirty="0">
                <a:solidFill>
                  <a:srgbClr val="000000"/>
                </a:solidFill>
                <a:latin typeface="Inter Bold" pitchFamily="34" charset="0"/>
                <a:ea typeface="Inter Bold" pitchFamily="34" charset="-122"/>
                <a:cs typeface="Inter Bold" pitchFamily="34" charset="-120"/>
              </a:rPr>
              <a:t>High-Performance AI Infrastructure</a:t>
            </a:r>
            <a:endParaRPr lang="en-US" sz="2600" dirty="0"/>
          </a:p>
        </p:txBody>
      </p:sp>
      <p:sp>
        <p:nvSpPr>
          <p:cNvPr id="4" name="Text 1"/>
          <p:cNvSpPr/>
          <p:nvPr/>
        </p:nvSpPr>
        <p:spPr>
          <a:xfrm>
            <a:off x="661475" y="2971006"/>
            <a:ext cx="11478330" cy="179983"/>
          </a:xfrm>
          <a:prstGeom prst="rect">
            <a:avLst/>
          </a:prstGeom>
          <a:noFill/>
          <a:ln/>
        </p:spPr>
        <p:txBody>
          <a:bodyPr wrap="none" lIns="0" tIns="0" rIns="0" bIns="0" rtlCol="0" anchor="t"/>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ShiVi is built upon a robust, scalable infrastructure, leveraging cutting-edge hardware and network capabilities to deliver unparalleled performance and reliability for enterprise AI.</a:t>
            </a:r>
            <a:endParaRPr lang="en-US" sz="10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3255169"/>
            <a:ext cx="264610" cy="264616"/>
          </a:xfrm>
          <a:prstGeom prst="rect">
            <a:avLst/>
          </a:prstGeom>
        </p:spPr>
      </p:pic>
      <p:sp>
        <p:nvSpPr>
          <p:cNvPr id="6" name="Text 2"/>
          <p:cNvSpPr/>
          <p:nvPr/>
        </p:nvSpPr>
        <p:spPr>
          <a:xfrm>
            <a:off x="661475" y="3635474"/>
            <a:ext cx="10868745"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Distributed Data Centers</a:t>
            </a:r>
            <a:endParaRPr lang="en-US" sz="1300" dirty="0"/>
          </a:p>
        </p:txBody>
      </p:sp>
      <p:sp>
        <p:nvSpPr>
          <p:cNvPr id="7" name="Text 3"/>
          <p:cNvSpPr/>
          <p:nvPr/>
        </p:nvSpPr>
        <p:spPr>
          <a:xfrm>
            <a:off x="661475" y="3897709"/>
            <a:ext cx="10868745" cy="179983"/>
          </a:xfrm>
          <a:prstGeom prst="rect">
            <a:avLst/>
          </a:prstGeom>
          <a:noFill/>
          <a:ln/>
        </p:spPr>
        <p:txBody>
          <a:bodyPr wrap="none" lIns="0" tIns="0" rIns="0" bIns="0" rtlCol="0" anchor="t"/>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Globally dispersed, secure data centers provide the foundation for massive data processing and low-latency access.</a:t>
            </a:r>
            <a:endParaRPr lang="en-US" sz="10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4262934"/>
            <a:ext cx="264610" cy="264616"/>
          </a:xfrm>
          <a:prstGeom prst="rect">
            <a:avLst/>
          </a:prstGeom>
        </p:spPr>
      </p:pic>
      <p:sp>
        <p:nvSpPr>
          <p:cNvPr id="9" name="Text 4"/>
          <p:cNvSpPr/>
          <p:nvPr/>
        </p:nvSpPr>
        <p:spPr>
          <a:xfrm>
            <a:off x="661475" y="4643239"/>
            <a:ext cx="10868745"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Accelerated GPU Compute</a:t>
            </a:r>
            <a:endParaRPr lang="en-US" sz="1300" dirty="0"/>
          </a:p>
        </p:txBody>
      </p:sp>
      <p:sp>
        <p:nvSpPr>
          <p:cNvPr id="10" name="Text 5"/>
          <p:cNvSpPr/>
          <p:nvPr/>
        </p:nvSpPr>
        <p:spPr>
          <a:xfrm>
            <a:off x="661475" y="4905474"/>
            <a:ext cx="10868745" cy="179983"/>
          </a:xfrm>
          <a:prstGeom prst="rect">
            <a:avLst/>
          </a:prstGeom>
          <a:noFill/>
          <a:ln/>
        </p:spPr>
        <p:txBody>
          <a:bodyPr wrap="none" lIns="0" tIns="0" rIns="0" bIns="0" rtlCol="0" anchor="t"/>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Dedicated GPU clusters power complex AI/ML models, enabling rapid training, inference, and real-time analytics.</a:t>
            </a:r>
            <a:endParaRPr lang="en-US" sz="10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5270698"/>
            <a:ext cx="264610" cy="264616"/>
          </a:xfrm>
          <a:prstGeom prst="rect">
            <a:avLst/>
          </a:prstGeom>
        </p:spPr>
      </p:pic>
      <p:sp>
        <p:nvSpPr>
          <p:cNvPr id="12" name="Text 6"/>
          <p:cNvSpPr/>
          <p:nvPr/>
        </p:nvSpPr>
        <p:spPr>
          <a:xfrm>
            <a:off x="661475" y="5651004"/>
            <a:ext cx="10868745" cy="206673"/>
          </a:xfrm>
          <a:prstGeom prst="rect">
            <a:avLst/>
          </a:prstGeom>
          <a:noFill/>
          <a:ln/>
        </p:spPr>
        <p:txBody>
          <a:bodyPr wrap="none" lIns="0" tIns="0" rIns="0" bIns="0" rtlCol="0" anchor="t"/>
          <a:lstStyle/>
          <a:p>
            <a:pPr algn="l" indent="0" marL="0">
              <a:lnSpc>
                <a:spcPct val="104000"/>
              </a:lnSpc>
              <a:buNone/>
            </a:pPr>
            <a:r>
              <a:rPr lang="en-US" sz="1300" b="1" spc="-39" kern="0" dirty="0">
                <a:solidFill>
                  <a:srgbClr val="272525"/>
                </a:solidFill>
                <a:latin typeface="Inter Bold" pitchFamily="34" charset="0"/>
                <a:ea typeface="Inter Bold" pitchFamily="34" charset="-122"/>
                <a:cs typeface="Inter Bold" pitchFamily="34" charset="-120"/>
              </a:rPr>
              <a:t>High-Speed Interconnects</a:t>
            </a:r>
            <a:endParaRPr lang="en-US" sz="1300" dirty="0"/>
          </a:p>
        </p:txBody>
      </p:sp>
      <p:sp>
        <p:nvSpPr>
          <p:cNvPr id="13" name="Text 7"/>
          <p:cNvSpPr/>
          <p:nvPr/>
        </p:nvSpPr>
        <p:spPr>
          <a:xfrm>
            <a:off x="661475" y="5913239"/>
            <a:ext cx="10868745" cy="179983"/>
          </a:xfrm>
          <a:prstGeom prst="rect">
            <a:avLst/>
          </a:prstGeom>
          <a:noFill/>
          <a:ln/>
        </p:spPr>
        <p:txBody>
          <a:bodyPr wrap="none" lIns="0" tIns="0" rIns="0" bIns="0" rtlCol="0" anchor="t"/>
          <a:lstStyle/>
          <a:p>
            <a:pPr algn="l" indent="0" marL="0">
              <a:lnSpc>
                <a:spcPct val="113000"/>
              </a:lnSpc>
              <a:buNone/>
            </a:pPr>
            <a:r>
              <a:rPr lang="en-US" sz="1000" spc="-21" kern="0" dirty="0">
                <a:solidFill>
                  <a:srgbClr val="272525"/>
                </a:solidFill>
                <a:latin typeface="Inter" pitchFamily="34" charset="0"/>
                <a:ea typeface="Inter" pitchFamily="34" charset="-122"/>
                <a:cs typeface="Inter" pitchFamily="34" charset="-120"/>
              </a:rPr>
              <a:t>Ultra-fast network fabrics ensure seamless data flow and communication between all components of the ShiVi ecosystem.</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575270"/>
            <a:ext cx="10868745" cy="563066"/>
          </a:xfrm>
          <a:prstGeom prst="rect">
            <a:avLst/>
          </a:prstGeom>
          <a:noFill/>
          <a:ln/>
        </p:spPr>
        <p:txBody>
          <a:bodyPr wrap="none" lIns="0" tIns="0" rIns="0" bIns="0" rtlCol="0" anchor="t"/>
          <a:lstStyle/>
          <a:p>
            <a:pPr algn="l" indent="0" marL="0">
              <a:lnSpc>
                <a:spcPct val="104000"/>
              </a:lnSpc>
              <a:buNone/>
            </a:pPr>
            <a:r>
              <a:rPr lang="en-US" sz="3500" b="1" spc="-106" kern="0" dirty="0">
                <a:solidFill>
                  <a:srgbClr val="000000"/>
                </a:solidFill>
                <a:latin typeface="Inter Bold" pitchFamily="34" charset="0"/>
                <a:ea typeface="Inter Bold" pitchFamily="34" charset="-122"/>
                <a:cs typeface="Inter Bold" pitchFamily="34" charset="-120"/>
              </a:rPr>
              <a:t>Cost Optimization &amp; Value Realization</a:t>
            </a:r>
            <a:endParaRPr lang="en-US" sz="3500" dirty="0"/>
          </a:p>
        </p:txBody>
      </p:sp>
      <p:sp>
        <p:nvSpPr>
          <p:cNvPr id="3" name="Text 1"/>
          <p:cNvSpPr/>
          <p:nvPr/>
        </p:nvSpPr>
        <p:spPr>
          <a:xfrm>
            <a:off x="661475" y="1481733"/>
            <a:ext cx="10868745" cy="562967"/>
          </a:xfrm>
          <a:prstGeom prst="rect">
            <a:avLst/>
          </a:prstGeom>
          <a:noFill/>
          <a:ln/>
        </p:spPr>
        <p:txBody>
          <a:bodyPr wrap="square" lIns="0" tIns="0" rIns="0" bIns="0" rtlCol="0" anchor="t">
            <a:normAutofit/>
          </a:bodyPr>
          <a:lstStyle/>
          <a:p>
            <a:pPr algn="l"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ShiVi is engineered to deliver significant cost efficiencies and accelerate time-to-value, transforming AI from a capital expenditure into a strategic investment with measurable returns.</a:t>
            </a:r>
            <a:endParaRPr lang="en-US" sz="1400" dirty="0"/>
          </a:p>
        </p:txBody>
      </p:sp>
      <p:sp>
        <p:nvSpPr>
          <p:cNvPr id="4" name="Text 2"/>
          <p:cNvSpPr/>
          <p:nvPr/>
        </p:nvSpPr>
        <p:spPr>
          <a:xfrm>
            <a:off x="661475" y="2327870"/>
            <a:ext cx="5327021" cy="594519"/>
          </a:xfrm>
          <a:prstGeom prst="rect">
            <a:avLst/>
          </a:prstGeom>
          <a:noFill/>
          <a:ln/>
        </p:spPr>
        <p:txBody>
          <a:bodyPr wrap="none" lIns="0" tIns="0" rIns="0" bIns="0" rtlCol="0" anchor="t"/>
          <a:lstStyle/>
          <a:p>
            <a:pPr algn="ctr" indent="0" marL="0">
              <a:lnSpc>
                <a:spcPct val="83000"/>
              </a:lnSpc>
              <a:buNone/>
            </a:pPr>
            <a:r>
              <a:rPr lang="en-US" sz="4650" b="1" spc="-140" kern="0" dirty="0">
                <a:solidFill>
                  <a:srgbClr val="272525"/>
                </a:solidFill>
                <a:latin typeface="Inter Bold" pitchFamily="34" charset="0"/>
                <a:ea typeface="Inter Bold" pitchFamily="34" charset="-122"/>
                <a:cs typeface="Inter Bold" pitchFamily="34" charset="-120"/>
              </a:rPr>
              <a:t>30%</a:t>
            </a:r>
            <a:endParaRPr lang="en-US" sz="4650" dirty="0"/>
          </a:p>
        </p:txBody>
      </p:sp>
      <p:sp>
        <p:nvSpPr>
          <p:cNvPr id="5" name="Text 3"/>
          <p:cNvSpPr/>
          <p:nvPr/>
        </p:nvSpPr>
        <p:spPr>
          <a:xfrm>
            <a:off x="661475" y="3141166"/>
            <a:ext cx="5327021" cy="281484"/>
          </a:xfrm>
          <a:prstGeom prst="rect">
            <a:avLst/>
          </a:prstGeom>
          <a:noFill/>
          <a:ln/>
        </p:spPr>
        <p:txBody>
          <a:bodyPr wrap="none" lIns="0" tIns="0" rIns="0" bIns="0" rtlCol="0" anchor="t"/>
          <a:lstStyle/>
          <a:p>
            <a:pPr algn="ctr"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Operational Cost Reduction</a:t>
            </a:r>
            <a:endParaRPr lang="en-US" sz="1750" dirty="0"/>
          </a:p>
        </p:txBody>
      </p:sp>
      <p:sp>
        <p:nvSpPr>
          <p:cNvPr id="6" name="Text 4"/>
          <p:cNvSpPr/>
          <p:nvPr/>
        </p:nvSpPr>
        <p:spPr>
          <a:xfrm>
            <a:off x="661475" y="3525639"/>
            <a:ext cx="5327021" cy="562967"/>
          </a:xfrm>
          <a:prstGeom prst="rect">
            <a:avLst/>
          </a:prstGeom>
          <a:noFill/>
          <a:ln/>
        </p:spPr>
        <p:txBody>
          <a:bodyPr wrap="square" lIns="0" tIns="0" rIns="0" bIns="0" rtlCol="0" anchor="t">
            <a:normAutofit/>
          </a:bodyPr>
          <a:lstStyle/>
          <a:p>
            <a:pPr algn="ctr"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Streamlined processes and automated governance lead to a substantial decrease in AI operational expenses.</a:t>
            </a:r>
            <a:endParaRPr lang="en-US" sz="1400" dirty="0"/>
          </a:p>
        </p:txBody>
      </p:sp>
      <p:sp>
        <p:nvSpPr>
          <p:cNvPr id="7" name="Text 5"/>
          <p:cNvSpPr/>
          <p:nvPr/>
        </p:nvSpPr>
        <p:spPr>
          <a:xfrm>
            <a:off x="6203100" y="2327870"/>
            <a:ext cx="5327120" cy="594519"/>
          </a:xfrm>
          <a:prstGeom prst="rect">
            <a:avLst/>
          </a:prstGeom>
          <a:noFill/>
          <a:ln/>
        </p:spPr>
        <p:txBody>
          <a:bodyPr wrap="none" lIns="0" tIns="0" rIns="0" bIns="0" rtlCol="0" anchor="t"/>
          <a:lstStyle/>
          <a:p>
            <a:pPr algn="ctr" indent="0" marL="0">
              <a:lnSpc>
                <a:spcPct val="83000"/>
              </a:lnSpc>
              <a:buNone/>
            </a:pPr>
            <a:r>
              <a:rPr lang="en-US" sz="4650" b="1" spc="-140" kern="0" dirty="0">
                <a:solidFill>
                  <a:srgbClr val="272525"/>
                </a:solidFill>
                <a:latin typeface="Inter Bold" pitchFamily="34" charset="0"/>
                <a:ea typeface="Inter Bold" pitchFamily="34" charset="-122"/>
                <a:cs typeface="Inter Bold" pitchFamily="34" charset="-120"/>
              </a:rPr>
              <a:t>50%</a:t>
            </a:r>
            <a:endParaRPr lang="en-US" sz="4650" dirty="0"/>
          </a:p>
        </p:txBody>
      </p:sp>
      <p:sp>
        <p:nvSpPr>
          <p:cNvPr id="8" name="Text 6"/>
          <p:cNvSpPr/>
          <p:nvPr/>
        </p:nvSpPr>
        <p:spPr>
          <a:xfrm>
            <a:off x="6203100" y="3141166"/>
            <a:ext cx="5327120" cy="281484"/>
          </a:xfrm>
          <a:prstGeom prst="rect">
            <a:avLst/>
          </a:prstGeom>
          <a:noFill/>
          <a:ln/>
        </p:spPr>
        <p:txBody>
          <a:bodyPr wrap="none" lIns="0" tIns="0" rIns="0" bIns="0" rtlCol="0" anchor="t"/>
          <a:lstStyle/>
          <a:p>
            <a:pPr algn="ctr"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Faster Time-to-Value</a:t>
            </a:r>
            <a:endParaRPr lang="en-US" sz="1750" dirty="0"/>
          </a:p>
        </p:txBody>
      </p:sp>
      <p:sp>
        <p:nvSpPr>
          <p:cNvPr id="9" name="Text 7"/>
          <p:cNvSpPr/>
          <p:nvPr/>
        </p:nvSpPr>
        <p:spPr>
          <a:xfrm>
            <a:off x="6203100" y="3525639"/>
            <a:ext cx="5327120" cy="562967"/>
          </a:xfrm>
          <a:prstGeom prst="rect">
            <a:avLst/>
          </a:prstGeom>
          <a:noFill/>
          <a:ln/>
        </p:spPr>
        <p:txBody>
          <a:bodyPr wrap="square" lIns="0" tIns="0" rIns="0" bIns="0" rtlCol="0" anchor="t">
            <a:normAutofit/>
          </a:bodyPr>
          <a:lstStyle/>
          <a:p>
            <a:pPr algn="ctr"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Rapid development, deployment, and integration capabilities enable quicker realization of AI benefits and ROI.</a:t>
            </a:r>
            <a:endParaRPr lang="en-US" sz="1400" dirty="0"/>
          </a:p>
        </p:txBody>
      </p:sp>
      <p:sp>
        <p:nvSpPr>
          <p:cNvPr id="10" name="Text 8"/>
          <p:cNvSpPr/>
          <p:nvPr/>
        </p:nvSpPr>
        <p:spPr>
          <a:xfrm>
            <a:off x="661475" y="4521994"/>
            <a:ext cx="5327021" cy="594519"/>
          </a:xfrm>
          <a:prstGeom prst="rect">
            <a:avLst/>
          </a:prstGeom>
          <a:noFill/>
          <a:ln/>
        </p:spPr>
        <p:txBody>
          <a:bodyPr wrap="none" lIns="0" tIns="0" rIns="0" bIns="0" rtlCol="0" anchor="t"/>
          <a:lstStyle/>
          <a:p>
            <a:pPr algn="ctr" indent="0" marL="0">
              <a:lnSpc>
                <a:spcPct val="83000"/>
              </a:lnSpc>
              <a:buNone/>
            </a:pPr>
            <a:r>
              <a:rPr lang="en-US" sz="4650" b="1" spc="-140" kern="0" dirty="0">
                <a:solidFill>
                  <a:srgbClr val="272525"/>
                </a:solidFill>
                <a:latin typeface="Inter Bold" pitchFamily="34" charset="0"/>
                <a:ea typeface="Inter Bold" pitchFamily="34" charset="-122"/>
                <a:cs typeface="Inter Bold" pitchFamily="34" charset="-120"/>
              </a:rPr>
              <a:t>25%</a:t>
            </a:r>
            <a:endParaRPr lang="en-US" sz="4650" dirty="0"/>
          </a:p>
        </p:txBody>
      </p:sp>
      <p:sp>
        <p:nvSpPr>
          <p:cNvPr id="11" name="Text 9"/>
          <p:cNvSpPr/>
          <p:nvPr/>
        </p:nvSpPr>
        <p:spPr>
          <a:xfrm>
            <a:off x="661475" y="5335290"/>
            <a:ext cx="5327021" cy="281484"/>
          </a:xfrm>
          <a:prstGeom prst="rect">
            <a:avLst/>
          </a:prstGeom>
          <a:noFill/>
          <a:ln/>
        </p:spPr>
        <p:txBody>
          <a:bodyPr wrap="none" lIns="0" tIns="0" rIns="0" bIns="0" rtlCol="0" anchor="t"/>
          <a:lstStyle/>
          <a:p>
            <a:pPr algn="ctr"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Resource Utilization Efficiency</a:t>
            </a:r>
            <a:endParaRPr lang="en-US" sz="1750" dirty="0"/>
          </a:p>
        </p:txBody>
      </p:sp>
      <p:sp>
        <p:nvSpPr>
          <p:cNvPr id="12" name="Text 10"/>
          <p:cNvSpPr/>
          <p:nvPr/>
        </p:nvSpPr>
        <p:spPr>
          <a:xfrm>
            <a:off x="661475" y="5719762"/>
            <a:ext cx="5327021" cy="562967"/>
          </a:xfrm>
          <a:prstGeom prst="rect">
            <a:avLst/>
          </a:prstGeom>
          <a:noFill/>
          <a:ln/>
        </p:spPr>
        <p:txBody>
          <a:bodyPr wrap="square" lIns="0" tIns="0" rIns="0" bIns="0" rtlCol="0" anchor="t">
            <a:normAutofit/>
          </a:bodyPr>
          <a:lstStyle/>
          <a:p>
            <a:pPr algn="ctr"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Intelligent resource allocation and optimized infrastructure maximize computational efficiency and minimize waste.</a:t>
            </a:r>
            <a:endParaRPr lang="en-US" sz="1400" dirty="0"/>
          </a:p>
        </p:txBody>
      </p:sp>
      <p:sp>
        <p:nvSpPr>
          <p:cNvPr id="13" name="Text 11"/>
          <p:cNvSpPr/>
          <p:nvPr/>
        </p:nvSpPr>
        <p:spPr>
          <a:xfrm>
            <a:off x="6203100" y="4521994"/>
            <a:ext cx="5327120" cy="594519"/>
          </a:xfrm>
          <a:prstGeom prst="rect">
            <a:avLst/>
          </a:prstGeom>
          <a:noFill/>
          <a:ln/>
        </p:spPr>
        <p:txBody>
          <a:bodyPr wrap="none" lIns="0" tIns="0" rIns="0" bIns="0" rtlCol="0" anchor="t"/>
          <a:lstStyle/>
          <a:p>
            <a:pPr algn="ctr" indent="0" marL="0">
              <a:lnSpc>
                <a:spcPct val="83000"/>
              </a:lnSpc>
              <a:buNone/>
            </a:pPr>
            <a:r>
              <a:rPr lang="en-US" sz="4650" b="1" spc="-140" kern="0" dirty="0">
                <a:solidFill>
                  <a:srgbClr val="272525"/>
                </a:solidFill>
                <a:latin typeface="Inter Bold" pitchFamily="34" charset="0"/>
                <a:ea typeface="Inter Bold" pitchFamily="34" charset="-122"/>
                <a:cs typeface="Inter Bold" pitchFamily="34" charset="-120"/>
              </a:rPr>
              <a:t>—</a:t>
            </a:r>
            <a:endParaRPr lang="en-US" sz="4650" dirty="0"/>
          </a:p>
        </p:txBody>
      </p:sp>
      <p:sp>
        <p:nvSpPr>
          <p:cNvPr id="14" name="Text 12"/>
          <p:cNvSpPr/>
          <p:nvPr/>
        </p:nvSpPr>
        <p:spPr>
          <a:xfrm>
            <a:off x="6203100" y="5335290"/>
            <a:ext cx="5327120" cy="281484"/>
          </a:xfrm>
          <a:prstGeom prst="rect">
            <a:avLst/>
          </a:prstGeom>
          <a:noFill/>
          <a:ln/>
        </p:spPr>
        <p:txBody>
          <a:bodyPr wrap="none" lIns="0" tIns="0" rIns="0" bIns="0" rtlCol="0" anchor="t"/>
          <a:lstStyle/>
          <a:p>
            <a:pPr algn="ctr" indent="0" marL="0">
              <a:lnSpc>
                <a:spcPct val="104000"/>
              </a:lnSpc>
              <a:buNone/>
            </a:pPr>
            <a:r>
              <a:rPr lang="en-US" sz="1750" b="1" spc="-53" kern="0" dirty="0">
                <a:solidFill>
                  <a:srgbClr val="272525"/>
                </a:solidFill>
                <a:latin typeface="Inter Bold" pitchFamily="34" charset="0"/>
                <a:ea typeface="Inter Bold" pitchFamily="34" charset="-122"/>
                <a:cs typeface="Inter Bold" pitchFamily="34" charset="-120"/>
              </a:rPr>
              <a:t>Predictable Spending</a:t>
            </a:r>
            <a:endParaRPr lang="en-US" sz="1750" dirty="0"/>
          </a:p>
        </p:txBody>
      </p:sp>
      <p:sp>
        <p:nvSpPr>
          <p:cNvPr id="15" name="Text 13"/>
          <p:cNvSpPr/>
          <p:nvPr/>
        </p:nvSpPr>
        <p:spPr>
          <a:xfrm>
            <a:off x="6203100" y="5719762"/>
            <a:ext cx="5327120" cy="562967"/>
          </a:xfrm>
          <a:prstGeom prst="rect">
            <a:avLst/>
          </a:prstGeom>
          <a:noFill/>
          <a:ln/>
        </p:spPr>
        <p:txBody>
          <a:bodyPr wrap="square" lIns="0" tIns="0" rIns="0" bIns="0" rtlCol="0" anchor="t">
            <a:normAutofit/>
          </a:bodyPr>
          <a:lstStyle/>
          <a:p>
            <a:pPr algn="ctr" indent="0" marL="0">
              <a:lnSpc>
                <a:spcPct val="130000"/>
              </a:lnSpc>
              <a:buNone/>
            </a:pPr>
            <a:r>
              <a:rPr lang="en-US" sz="1400" spc="-28" kern="0" dirty="0">
                <a:solidFill>
                  <a:srgbClr val="272525"/>
                </a:solidFill>
                <a:latin typeface="Inter" pitchFamily="34" charset="0"/>
                <a:ea typeface="Inter" pitchFamily="34" charset="-122"/>
                <a:cs typeface="Inter" pitchFamily="34" charset="-120"/>
              </a:rPr>
              <a:t>Transparent cost models and granular control provide clear visibility and predictability for AI investments.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712986"/>
            <a:ext cx="10868745" cy="552351"/>
          </a:xfrm>
          <a:prstGeom prst="rect">
            <a:avLst/>
          </a:prstGeom>
          <a:noFill/>
          <a:ln/>
        </p:spPr>
        <p:txBody>
          <a:bodyPr wrap="none" lIns="0" tIns="0" rIns="0" bIns="0" rtlCol="0" anchor="t"/>
          <a:lstStyle/>
          <a:p>
            <a:pPr algn="l" indent="0" marL="0">
              <a:lnSpc>
                <a:spcPct val="104000"/>
              </a:lnSpc>
              <a:buNone/>
            </a:pPr>
            <a:r>
              <a:rPr lang="en-US" sz="3450" b="1" spc="-104" kern="0" dirty="0">
                <a:solidFill>
                  <a:srgbClr val="000000"/>
                </a:solidFill>
                <a:latin typeface="Inter Bold" pitchFamily="34" charset="0"/>
                <a:ea typeface="Inter Bold" pitchFamily="34" charset="-122"/>
                <a:cs typeface="Inter Bold" pitchFamily="34" charset="-120"/>
              </a:rPr>
              <a:t>Intuitive UI/UX &amp; Intelligent Interaction</a:t>
            </a:r>
            <a:endParaRPr lang="en-US" sz="3450" dirty="0"/>
          </a:p>
        </p:txBody>
      </p:sp>
      <p:sp>
        <p:nvSpPr>
          <p:cNvPr id="3" name="Text 1"/>
          <p:cNvSpPr/>
          <p:nvPr/>
        </p:nvSpPr>
        <p:spPr>
          <a:xfrm>
            <a:off x="661475" y="1595934"/>
            <a:ext cx="10868745" cy="547291"/>
          </a:xfrm>
          <a:prstGeom prst="rect">
            <a:avLst/>
          </a:prstGeom>
          <a:noFill/>
          <a:ln/>
        </p:spPr>
        <p:txBody>
          <a:bodyPr wrap="square" lIns="0" tIns="0" rIns="0" bIns="0" rtlCol="0" anchor="t">
            <a:normAutofit/>
          </a:bodyPr>
          <a:lstStyle/>
          <a:p>
            <a:pPr algn="l" indent="0" marL="0">
              <a:lnSpc>
                <a:spcPct val="129000"/>
              </a:lnSpc>
              <a:buNone/>
            </a:pPr>
            <a:r>
              <a:rPr lang="en-US" sz="1350" spc="-28" kern="0" dirty="0">
                <a:solidFill>
                  <a:srgbClr val="272525"/>
                </a:solidFill>
                <a:latin typeface="Inter" pitchFamily="34" charset="0"/>
                <a:ea typeface="Inter" pitchFamily="34" charset="-122"/>
                <a:cs typeface="Inter" pitchFamily="34" charset="-120"/>
              </a:rPr>
              <a:t>ShiVi is designed for seamless human-AI collaboration, transforming complex AI functionalities into intuitive, user-centric experiences for both developers and end-users.</a:t>
            </a:r>
            <a:endParaRPr lang="en-US" sz="13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29160"/>
            <a:ext cx="5351725" cy="1825228"/>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31275" y="2488208"/>
            <a:ext cx="212025" cy="212030"/>
          </a:xfrm>
          <a:prstGeom prst="rect">
            <a:avLst/>
          </a:prstGeom>
        </p:spPr>
      </p:pic>
      <p:sp>
        <p:nvSpPr>
          <p:cNvPr id="6" name="Text 2"/>
          <p:cNvSpPr/>
          <p:nvPr/>
        </p:nvSpPr>
        <p:spPr>
          <a:xfrm>
            <a:off x="857229" y="3036094"/>
            <a:ext cx="4960218" cy="276126"/>
          </a:xfrm>
          <a:prstGeom prst="rect">
            <a:avLst/>
          </a:prstGeom>
          <a:noFill/>
          <a:ln/>
        </p:spPr>
        <p:txBody>
          <a:bodyPr wrap="none" lIns="0" tIns="0" rIns="0" bIns="0" rtlCol="0" anchor="t"/>
          <a:lstStyle/>
          <a:p>
            <a:pPr algn="l" indent="0" marL="0">
              <a:lnSpc>
                <a:spcPct val="104000"/>
              </a:lnSpc>
              <a:buNone/>
            </a:pPr>
            <a:r>
              <a:rPr lang="en-US" sz="1700" b="1" spc="-52" kern="0" dirty="0">
                <a:solidFill>
                  <a:srgbClr val="272525"/>
                </a:solidFill>
                <a:latin typeface="Inter Bold" pitchFamily="34" charset="0"/>
                <a:ea typeface="Inter Bold" pitchFamily="34" charset="-122"/>
                <a:cs typeface="Inter Bold" pitchFamily="34" charset="-120"/>
              </a:rPr>
              <a:t>Natural Language Interfaces</a:t>
            </a:r>
            <a:endParaRPr lang="en-US" sz="1700" dirty="0"/>
          </a:p>
        </p:txBody>
      </p:sp>
      <p:sp>
        <p:nvSpPr>
          <p:cNvPr id="7" name="Text 3"/>
          <p:cNvSpPr/>
          <p:nvPr/>
        </p:nvSpPr>
        <p:spPr>
          <a:xfrm>
            <a:off x="857229" y="3411339"/>
            <a:ext cx="4960218" cy="547291"/>
          </a:xfrm>
          <a:prstGeom prst="rect">
            <a:avLst/>
          </a:prstGeom>
          <a:noFill/>
          <a:ln/>
        </p:spPr>
        <p:txBody>
          <a:bodyPr wrap="square" lIns="0" tIns="0" rIns="0" bIns="0" rtlCol="0" anchor="t">
            <a:normAutofit/>
          </a:bodyPr>
          <a:lstStyle/>
          <a:p>
            <a:pPr algn="l" indent="0" marL="0">
              <a:lnSpc>
                <a:spcPct val="129000"/>
              </a:lnSpc>
              <a:buNone/>
            </a:pPr>
            <a:r>
              <a:rPr lang="en-US" sz="1350" spc="-28" kern="0" dirty="0">
                <a:solidFill>
                  <a:srgbClr val="272525"/>
                </a:solidFill>
                <a:latin typeface="Inter" pitchFamily="34" charset="0"/>
                <a:ea typeface="Inter" pitchFamily="34" charset="-122"/>
                <a:cs typeface="Inter" pitchFamily="34" charset="-120"/>
              </a:rPr>
              <a:t>Empower users to interact with AI through conversational UIs, making advanced capabilities accessible and user-friendly.</a:t>
            </a:r>
            <a:endParaRPr lang="en-US" sz="13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8495" y="2329160"/>
            <a:ext cx="5351725" cy="1825228"/>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8295" y="2488208"/>
            <a:ext cx="212025" cy="212030"/>
          </a:xfrm>
          <a:prstGeom prst="rect">
            <a:avLst/>
          </a:prstGeom>
        </p:spPr>
      </p:pic>
      <p:sp>
        <p:nvSpPr>
          <p:cNvPr id="10" name="Text 4"/>
          <p:cNvSpPr/>
          <p:nvPr/>
        </p:nvSpPr>
        <p:spPr>
          <a:xfrm>
            <a:off x="6374248" y="3036094"/>
            <a:ext cx="4960218" cy="276126"/>
          </a:xfrm>
          <a:prstGeom prst="rect">
            <a:avLst/>
          </a:prstGeom>
          <a:noFill/>
          <a:ln/>
        </p:spPr>
        <p:txBody>
          <a:bodyPr wrap="none" lIns="0" tIns="0" rIns="0" bIns="0" rtlCol="0" anchor="t"/>
          <a:lstStyle/>
          <a:p>
            <a:pPr algn="l" indent="0" marL="0">
              <a:lnSpc>
                <a:spcPct val="104000"/>
              </a:lnSpc>
              <a:buNone/>
            </a:pPr>
            <a:r>
              <a:rPr lang="en-US" sz="1700" b="1" spc="-52" kern="0" dirty="0">
                <a:solidFill>
                  <a:srgbClr val="272525"/>
                </a:solidFill>
                <a:latin typeface="Inter Bold" pitchFamily="34" charset="0"/>
                <a:ea typeface="Inter Bold" pitchFamily="34" charset="-122"/>
                <a:cs typeface="Inter Bold" pitchFamily="34" charset="-120"/>
              </a:rPr>
              <a:t>Visualizing AI Insights</a:t>
            </a:r>
            <a:endParaRPr lang="en-US" sz="1700" dirty="0"/>
          </a:p>
        </p:txBody>
      </p:sp>
      <p:sp>
        <p:nvSpPr>
          <p:cNvPr id="11" name="Text 5"/>
          <p:cNvSpPr/>
          <p:nvPr/>
        </p:nvSpPr>
        <p:spPr>
          <a:xfrm>
            <a:off x="6374248" y="3411339"/>
            <a:ext cx="4960218" cy="547291"/>
          </a:xfrm>
          <a:prstGeom prst="rect">
            <a:avLst/>
          </a:prstGeom>
          <a:noFill/>
          <a:ln/>
        </p:spPr>
        <p:txBody>
          <a:bodyPr wrap="square" lIns="0" tIns="0" rIns="0" bIns="0" rtlCol="0" anchor="t">
            <a:normAutofit/>
          </a:bodyPr>
          <a:lstStyle/>
          <a:p>
            <a:pPr algn="l" indent="0" marL="0">
              <a:lnSpc>
                <a:spcPct val="129000"/>
              </a:lnSpc>
              <a:buNone/>
            </a:pPr>
            <a:r>
              <a:rPr lang="en-US" sz="1350" spc="-28" kern="0" dirty="0">
                <a:solidFill>
                  <a:srgbClr val="272525"/>
                </a:solidFill>
                <a:latin typeface="Inter" pitchFamily="34" charset="0"/>
                <a:ea typeface="Inter" pitchFamily="34" charset="-122"/>
                <a:cs typeface="Inter" pitchFamily="34" charset="-120"/>
              </a:rPr>
              <a:t>Translate complex AI outputs into clear, interactive dashboards that provide actionable intelligence at a glance.</a:t>
            </a:r>
            <a:endParaRPr lang="en-US" sz="135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319687"/>
            <a:ext cx="5351725" cy="1825228"/>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31275" y="4478734"/>
            <a:ext cx="212025" cy="212030"/>
          </a:xfrm>
          <a:prstGeom prst="rect">
            <a:avLst/>
          </a:prstGeom>
        </p:spPr>
      </p:pic>
      <p:sp>
        <p:nvSpPr>
          <p:cNvPr id="14" name="Text 6"/>
          <p:cNvSpPr/>
          <p:nvPr/>
        </p:nvSpPr>
        <p:spPr>
          <a:xfrm>
            <a:off x="857229" y="5026620"/>
            <a:ext cx="4960218" cy="276126"/>
          </a:xfrm>
          <a:prstGeom prst="rect">
            <a:avLst/>
          </a:prstGeom>
          <a:noFill/>
          <a:ln/>
        </p:spPr>
        <p:txBody>
          <a:bodyPr wrap="none" lIns="0" tIns="0" rIns="0" bIns="0" rtlCol="0" anchor="t"/>
          <a:lstStyle/>
          <a:p>
            <a:pPr algn="l" indent="0" marL="0">
              <a:lnSpc>
                <a:spcPct val="104000"/>
              </a:lnSpc>
              <a:buNone/>
            </a:pPr>
            <a:r>
              <a:rPr lang="en-US" sz="1700" b="1" spc="-52" kern="0" dirty="0">
                <a:solidFill>
                  <a:srgbClr val="272525"/>
                </a:solidFill>
                <a:latin typeface="Inter Bold" pitchFamily="34" charset="0"/>
                <a:ea typeface="Inter Bold" pitchFamily="34" charset="-122"/>
                <a:cs typeface="Inter Bold" pitchFamily="34" charset="-120"/>
              </a:rPr>
              <a:t>Streamlined Developer Experience</a:t>
            </a:r>
            <a:endParaRPr lang="en-US" sz="1700" dirty="0"/>
          </a:p>
        </p:txBody>
      </p:sp>
      <p:sp>
        <p:nvSpPr>
          <p:cNvPr id="15" name="Text 7"/>
          <p:cNvSpPr/>
          <p:nvPr/>
        </p:nvSpPr>
        <p:spPr>
          <a:xfrm>
            <a:off x="857229" y="5401866"/>
            <a:ext cx="4960218" cy="547291"/>
          </a:xfrm>
          <a:prstGeom prst="rect">
            <a:avLst/>
          </a:prstGeom>
          <a:noFill/>
          <a:ln/>
        </p:spPr>
        <p:txBody>
          <a:bodyPr wrap="square" lIns="0" tIns="0" rIns="0" bIns="0" rtlCol="0" anchor="t">
            <a:normAutofit/>
          </a:bodyPr>
          <a:lstStyle/>
          <a:p>
            <a:pPr algn="l" indent="0" marL="0">
              <a:lnSpc>
                <a:spcPct val="129000"/>
              </a:lnSpc>
              <a:buNone/>
            </a:pPr>
            <a:r>
              <a:rPr lang="en-US" sz="1350" spc="-28" kern="0" dirty="0">
                <a:solidFill>
                  <a:srgbClr val="272525"/>
                </a:solidFill>
                <a:latin typeface="Inter" pitchFamily="34" charset="0"/>
                <a:ea typeface="Inter" pitchFamily="34" charset="-122"/>
                <a:cs typeface="Inter" pitchFamily="34" charset="-120"/>
              </a:rPr>
              <a:t>Offer intuitive tools and APIs that simplify the building, integration, and deployment of AI-powered applications.</a:t>
            </a:r>
            <a:endParaRPr lang="en-US" sz="135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78495" y="4319687"/>
            <a:ext cx="5351725" cy="1825228"/>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748295" y="4478734"/>
            <a:ext cx="212025" cy="212030"/>
          </a:xfrm>
          <a:prstGeom prst="rect">
            <a:avLst/>
          </a:prstGeom>
        </p:spPr>
      </p:pic>
      <p:sp>
        <p:nvSpPr>
          <p:cNvPr id="18" name="Text 8"/>
          <p:cNvSpPr/>
          <p:nvPr/>
        </p:nvSpPr>
        <p:spPr>
          <a:xfrm>
            <a:off x="6374248" y="5026620"/>
            <a:ext cx="4960218" cy="276126"/>
          </a:xfrm>
          <a:prstGeom prst="rect">
            <a:avLst/>
          </a:prstGeom>
          <a:noFill/>
          <a:ln/>
        </p:spPr>
        <p:txBody>
          <a:bodyPr wrap="none" lIns="0" tIns="0" rIns="0" bIns="0" rtlCol="0" anchor="t"/>
          <a:lstStyle/>
          <a:p>
            <a:pPr algn="l" indent="0" marL="0">
              <a:lnSpc>
                <a:spcPct val="104000"/>
              </a:lnSpc>
              <a:buNone/>
            </a:pPr>
            <a:r>
              <a:rPr lang="en-US" sz="1700" b="1" spc="-52" kern="0" dirty="0">
                <a:solidFill>
                  <a:srgbClr val="272525"/>
                </a:solidFill>
                <a:latin typeface="Inter Bold" pitchFamily="34" charset="0"/>
                <a:ea typeface="Inter Bold" pitchFamily="34" charset="-122"/>
                <a:cs typeface="Inter Bold" pitchFamily="34" charset="-120"/>
              </a:rPr>
              <a:t>Adaptive &amp; Contextual UX</a:t>
            </a:r>
            <a:endParaRPr lang="en-US" sz="1700" dirty="0"/>
          </a:p>
        </p:txBody>
      </p:sp>
      <p:sp>
        <p:nvSpPr>
          <p:cNvPr id="19" name="Text 9"/>
          <p:cNvSpPr/>
          <p:nvPr/>
        </p:nvSpPr>
        <p:spPr>
          <a:xfrm>
            <a:off x="6374248" y="5401866"/>
            <a:ext cx="4960218" cy="547291"/>
          </a:xfrm>
          <a:prstGeom prst="rect">
            <a:avLst/>
          </a:prstGeom>
          <a:noFill/>
          <a:ln/>
        </p:spPr>
        <p:txBody>
          <a:bodyPr wrap="square" lIns="0" tIns="0" rIns="0" bIns="0" rtlCol="0" anchor="t">
            <a:normAutofit/>
          </a:bodyPr>
          <a:lstStyle/>
          <a:p>
            <a:pPr algn="l" indent="0" marL="0">
              <a:lnSpc>
                <a:spcPct val="129000"/>
              </a:lnSpc>
              <a:buNone/>
            </a:pPr>
            <a:r>
              <a:rPr lang="en-US" sz="1350" spc="-28" kern="0" dirty="0">
                <a:solidFill>
                  <a:srgbClr val="272525"/>
                </a:solidFill>
                <a:latin typeface="Inter" pitchFamily="34" charset="0"/>
                <a:ea typeface="Inter" pitchFamily="34" charset="-122"/>
                <a:cs typeface="Inter" pitchFamily="34" charset="-120"/>
              </a:rPr>
              <a:t>Deliver interfaces that learn user preferences and adapt dynamically to provide relevant, personalized interactions.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2026-08-12T20:07:40Z</dcterms:created>
  <dcterms:modified xsi:type="dcterms:W3CDTF">2026-08-12T20:07:40Z</dcterms:modified>
</cp:coreProperties>
</file>